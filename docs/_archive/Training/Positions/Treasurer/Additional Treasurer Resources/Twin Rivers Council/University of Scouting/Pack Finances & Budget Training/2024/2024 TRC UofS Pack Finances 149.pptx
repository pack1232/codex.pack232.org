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172a1a7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172a1a7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c172a1a74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c172a1a74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8" name="Google Shape;18;p2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9" name="Google Shape;19;p2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2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4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 sz="1800"/>
            </a:lvl9pPr>
          </a:lstStyle>
          <a:p/>
        </p:txBody>
      </p:sp>
      <p:sp>
        <p:nvSpPr>
          <p:cNvPr id="35" name="Google Shape;35;p4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 sz="1800"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" name="Google Shape;45;p5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6" name="Google Shape;46;p5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Char char="▪"/>
              <a:defRPr sz="2000"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" name="Google Shape;74;p9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5" name="Google Shape;75;p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83" name="Google Shape;83;p1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10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5" name="Google Shape;85;p1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b="0" i="0" sz="54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0" name="Google Shape;10;p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Google Shape;11;p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 sz="8000"/>
              <a:t>PACK FINANCES &amp; BUDGET</a:t>
            </a:r>
            <a:br>
              <a:rPr lang="en-US" sz="8000"/>
            </a:br>
            <a:r>
              <a:rPr lang="en-US" sz="8000"/>
              <a:t>COURSE #149</a:t>
            </a:r>
            <a:endParaRPr/>
          </a:p>
        </p:txBody>
      </p:sp>
      <p:sp>
        <p:nvSpPr>
          <p:cNvPr id="105" name="Google Shape;105;p13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/>
              <a:t>Twin Rivers Council University of Scouting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/>
              <a:t>March 16, 2024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/>
              <a:t>Period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DISCLAIMER</a:t>
            </a:r>
            <a:endParaRPr/>
          </a:p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views expressed in these slides are solely those of myself and do not represent or reflect the opinions of the Twin Rivers council, the BSA, affiliates or employees.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My Background</a:t>
            </a:r>
            <a:endParaRPr/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 am an Eagle Scout.</a:t>
            </a:r>
            <a:endParaRPr/>
          </a:p>
          <a:p>
            <a:pPr indent="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 am father of 3 current scouts w/ our 4th child soon to be a Lion.</a:t>
            </a:r>
            <a:endParaRPr/>
          </a:p>
          <a:p>
            <a:pPr indent="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5th year serving as the Treasurer and Charter Organization Representative for Pack 1232 in Glenmont, NY.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 have a BS in Economics and am a serial entrepreneur having founded and managed several businesses, managing the books for each of them.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 am the Chair of the Finance Committee for two other non-profit boards.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type="title"/>
          </p:nvPr>
        </p:nvSpPr>
        <p:spPr>
          <a:xfrm>
            <a:off x="525000" y="484625"/>
            <a:ext cx="10603200" cy="16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Importance of Pack Finances</a:t>
            </a:r>
            <a:endParaRPr/>
          </a:p>
        </p:txBody>
      </p:sp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&gt;$5k can easily flow through a Pack’s account in one year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Pack and its assets are owned by the Charter Organization and you are the steward of those resources.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Allows the Committee Chair and the Cubmaster to properly manage and operate the Pack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“A scout is thrifty” does not mean “A scout is stingy”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Not everyone follows the first tenant of the Scout Law…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825" y="3022600"/>
            <a:ext cx="10458800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426" y="4555711"/>
            <a:ext cx="107061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>
            <p:ph idx="4294967295" type="title"/>
          </p:nvPr>
        </p:nvSpPr>
        <p:spPr>
          <a:xfrm>
            <a:off x="525000" y="484625"/>
            <a:ext cx="10603200" cy="16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Theft Won’t Happen to Us??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73425" y="2080325"/>
            <a:ext cx="977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Till it does. Past headlines….</a:t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Treasurer Selection &amp; Training</a:t>
            </a:r>
            <a:endParaRPr/>
          </a:p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Finance education/career is important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Know them…can you trust them?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Recruit them…do not necessarily take the first person to volunteer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Ensure that there is a period of time for the current treasurer to train their successor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Having a Pack Treasurer “How To” Manual speeds up onboarding and helps recruit successors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Pack Treasurer Goals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What is the Cubmaster/Den Leaders trying to achieve in the Scout Year?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Big trip(s)?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Big purchase?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Send scouts to summer camp?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Subsidize Pack/Den activities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Help families in need?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Train the leaders?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Cashflow positive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Rainy Day fund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Setting realistic revenue projections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Identifying </a:t>
            </a:r>
            <a:r>
              <a:rPr b="1" lang="en-US" u="sng"/>
              <a:t>necessary</a:t>
            </a:r>
            <a:r>
              <a:rPr lang="en-US"/>
              <a:t> recurring and nonrecurring expenses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PACK FUNDS – BEST PRACTICES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Have a Pack bank account: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Checking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Online payments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Debit card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Rainy day fund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Special purchase account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Two unrelated people on the bank account (Committee Chair &amp; Treasurer)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Not the Cubmaster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Annually audit the account by an independent/financially savvy Pack parent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You are also recruiting a future Pack Treasurer at the same time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Two adults sign off on cash deposits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 not sign checks reimbursing yourself or your spouse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Control on expense reimbursements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Adults send receipts to Pack Treasurer and Committee Chair to reimburse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Acknowledgement is sent by Pack Treasurer to adult with a cc to Committee Chair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 not net – for example, a family pays for full cost for event and then receives reimbursement for any Pack subsidy rather than the net of the two.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Challenges You May Face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Getting people to pay fees/dues in a reasonable amount of time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large cash flow variations due to erratic timing of income and expenses (especially popcorn sales and rechartering fees)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keeping complete and up to date records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keep records to help with future budgeting and transitioning to future Pack Treasurer(s).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keep records and receipts digitally for easy access by all, including transparency for current members and reference for future.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dealing with unforeseen circumstances (e.g., who is responsible for a bounced check fee?, do you reimburse someone who paid for but couldn’t come to an event?, how do you handle a budget mistake?)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Ownership of Square, Paypal, other online payment system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Challenge you won’t face </a:t>
            </a:r>
            <a:r>
              <a:rPr lang="en-US"/>
              <a:t>– you don’t have to file tax returns for the Pack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PACK REVENUES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Dues: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Discount for new members to offset $25 one-time joining fee?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Collection timing versus recharter (by 12/31)?</a:t>
            </a:r>
            <a:endParaRPr/>
          </a:p>
          <a:p>
            <a:pPr indent="-182880" lvl="2" marL="7315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Per scout = $15 for Scout Life magazine annual subscription, $78 for registration, and $30 for TRC program/insurance</a:t>
            </a:r>
            <a:endParaRPr/>
          </a:p>
          <a:p>
            <a:pPr indent="-182880" lvl="2" marL="7315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Per unit = $100 for unit liability insurance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When setting dues, keep in mind that other organized activities have high registration fees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Fundraising: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Popcorn and/or Camp Cards: show&amp;sells, door-to-door, and online</a:t>
            </a:r>
            <a:endParaRPr/>
          </a:p>
          <a:p>
            <a:pPr indent="-182880" lvl="2" marL="7315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Consider accepting a donation (i.e. extra dues) in lieu of a family selling popcorn or participating in fundraisers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Other (see unit money earning application)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Activity Fees (e.g. camping, camporee, trip, etc.):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Don’t give away anything for free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Enforce collection on last minute drop outs if no replacement can be found for them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Grants (e.g. Stewarts Holiday Match)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Free money! You get dollar for dollar versus a % of popcorn or camp cards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Donations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Note that you cannot ask for donations during fundraiser show-and-sells but you can accept them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Collection Options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Cash – two adult confirmation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Checks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Paypal or Venmo – see if Pack website allows Paypal or Venmo features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Consider passing on the usage charge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Square – helps with popcorn sales and other fundraising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Pack Expenses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Recharter (by 12/31)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Badges, belt loops, and pins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Recurring versus nonrecurring (e.g. software license) expenses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Setasides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Future pinewood derby track purchase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Subsidy to send scouts to summer camp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Seek to minimize Pack Expenses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Sales tax exemption (ST-119.1)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Minimize gear purchases (borrow from a Scouts BSA troop)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Reuse uniforms, neckerchiefs, caps, belts, and leader materials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Budget Composition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Membership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Recharter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Class B Shirts?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Scout Life magazine annual subscriptions?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Name Tags?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Scout Manuals?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Uniforms?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Recruitment event(s)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Fundraising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Popcorn Samples?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Signs?</a:t>
            </a:r>
            <a:endParaRPr/>
          </a:p>
        </p:txBody>
      </p:sp>
      <p:sp>
        <p:nvSpPr>
          <p:cNvPr id="180" name="Google Shape;180;p25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Equipment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Pack meeting game items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Leader manuals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Treasurer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Stamps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Supplies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Activities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Each outing/activity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Pack meeting supplies/snacks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Meeting space rental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Support for den meetings/outings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Budget Composition (continued)</a:t>
            </a:r>
            <a:endParaRPr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Advancement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Badges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Belt loops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Webelos / AOL pins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AOL crossover gift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Summer Camp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Subsidy?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Extra adult leader fees for resident camp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Internet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Pack website fee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Facebook boosts</a:t>
            </a:r>
            <a:endParaRPr/>
          </a:p>
        </p:txBody>
      </p:sp>
      <p:sp>
        <p:nvSpPr>
          <p:cNvPr id="187" name="Google Shape;187;p26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Training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BALOO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Wood Badge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Miscellaneous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Committee Meeting expenses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Budget Reporting</a:t>
            </a:r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1069848" y="2963917"/>
            <a:ext cx="4754880" cy="3208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Budget Category (compare actual expenses versus budget)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Membership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Fundraising Expenses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Equipment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Treasurer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Activities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Advancement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Summer Camp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Internet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Training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Miscellaneous</a:t>
            </a:r>
            <a:endParaRPr/>
          </a:p>
          <a:p>
            <a:pPr indent="-100298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  <p:sp>
        <p:nvSpPr>
          <p:cNvPr id="194" name="Google Shape;194;p27"/>
          <p:cNvSpPr txBox="1"/>
          <p:nvPr>
            <p:ph idx="2" type="body"/>
          </p:nvPr>
        </p:nvSpPr>
        <p:spPr>
          <a:xfrm>
            <a:off x="6364224" y="2963916"/>
            <a:ext cx="4754880" cy="3208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Balance Sheet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Checking Account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Rainy Day Fund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Special Fund(s)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Revenues (compare actual revenues versus budget)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Dues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Scout Life magazine annual subscription fees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Activity Fees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Fundraising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Grants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Donations</a:t>
            </a: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1069848" y="2249214"/>
            <a:ext cx="1005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Set and approve the Budget before the Scout Year starts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Total Expenses need to equal Total Revenues!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Useful Forms &amp; References</a:t>
            </a:r>
            <a:endParaRPr/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Planning Your Annual Budget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Unit Money Earning Application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NY ST-119.1 Form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Tax Donation Form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Quickbooks</a:t>
            </a:r>
            <a:endParaRPr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1069848" y="2121408"/>
            <a:ext cx="10058400" cy="83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Software can make financial work easier, but there is a learning curve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~$75/year for quickbooks online</a:t>
            </a:r>
            <a:endParaRPr/>
          </a:p>
          <a:p>
            <a:pPr indent="-85725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1063752" y="3093616"/>
            <a:ext cx="5136511" cy="3279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Pros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Up to 5 users, with permission settings (read only, admin, etc.)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Easy to generate reports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Easy to catch mistakes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Bank account linking/monitoring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Online invoicing options with credit card payments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Online check writing or wire transfers for reimbursements</a:t>
            </a:r>
            <a:endParaRPr/>
          </a:p>
          <a:p>
            <a:pPr indent="-85725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85725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85725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85725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6234842" y="3093615"/>
            <a:ext cx="5136511" cy="2876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Cons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Some learning curve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Effort to transfer legacy system to quickbooks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8288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Annual expense</a:t>
            </a:r>
            <a:endParaRPr/>
          </a:p>
          <a:p>
            <a:pPr indent="-18288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Overkill (many functions are not needed for BSA troops)</a:t>
            </a:r>
            <a:endParaRPr/>
          </a:p>
          <a:p>
            <a:pPr indent="-85725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85725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85725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What’s New in 2024</a:t>
            </a:r>
            <a:endParaRPr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ts val="1530"/>
              <a:buChar char="●"/>
            </a:pPr>
            <a:r>
              <a:rPr lang="en-US"/>
              <a:t>Council Dues Auto Billing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ts val="1530"/>
              <a:buChar char="●"/>
            </a:pPr>
            <a:r>
              <a:rPr lang="en-US"/>
              <a:t>New Tax Rules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