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9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70" r:id="rId10"/>
    <p:sldId id="263" r:id="rId11"/>
    <p:sldId id="264" r:id="rId12"/>
    <p:sldId id="265" r:id="rId13"/>
    <p:sldId id="267" r:id="rId14"/>
    <p:sldId id="268" r:id="rId15"/>
    <p:sldId id="269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8"/>
  </p:normalViewPr>
  <p:slideViewPr>
    <p:cSldViewPr snapToGrid="0" snapToObjects="1">
      <p:cViewPr varScale="1">
        <p:scale>
          <a:sx n="142" d="100"/>
          <a:sy n="142" d="100"/>
        </p:scale>
        <p:origin x="-128" y="-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2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2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6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0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2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371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4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0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0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6DF682E-6C26-CB44-AB08-21559BA90446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E794871-A1AB-7F4A-916F-7F9C9929B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E975DC-C110-4A4B-8EBC-8EDD11D46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/>
              <a:t>Pack finances &amp; budget</a:t>
            </a:r>
            <a:br>
              <a:rPr lang="en-US" sz="8000" dirty="0"/>
            </a:br>
            <a:r>
              <a:rPr lang="en-US" sz="8000" dirty="0"/>
              <a:t>Course #149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FD9DB1-3159-824A-A3D4-FCBA44C87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Twin Rivers Council University of Scouting</a:t>
            </a:r>
          </a:p>
          <a:p>
            <a:r>
              <a:rPr lang="en-US" dirty="0"/>
              <a:t>March </a:t>
            </a:r>
            <a:r>
              <a:rPr lang="en-US" dirty="0" smtClean="0"/>
              <a:t>20, 2021</a:t>
            </a:r>
            <a:endParaRPr lang="en-US" dirty="0"/>
          </a:p>
          <a:p>
            <a:r>
              <a:rPr lang="en-US" dirty="0"/>
              <a:t>Period </a:t>
            </a:r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8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DDDD76-586F-AA40-B7B2-98CA199C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6FE2BF-BAE9-8641-ADDB-7396F04E2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they have on the screen before you watch most movies on DVDs and Blu-Rays…“The views expressed in these slides are solely those of the </a:t>
            </a:r>
            <a:r>
              <a:rPr lang="en-US" dirty="0" smtClean="0"/>
              <a:t>individuals </a:t>
            </a:r>
            <a:r>
              <a:rPr lang="en-US" dirty="0"/>
              <a:t>(i.e. </a:t>
            </a:r>
            <a:r>
              <a:rPr lang="en-US" dirty="0" smtClean="0"/>
              <a:t>Josh and I) </a:t>
            </a:r>
            <a:r>
              <a:rPr lang="en-US" dirty="0"/>
              <a:t>providing them and do not represent or reflect the opinions of TRC, BSA, affiliates or employees”</a:t>
            </a:r>
          </a:p>
        </p:txBody>
      </p:sp>
    </p:spTree>
    <p:extLst>
      <p:ext uri="{BB962C8B-B14F-4D97-AF65-F5344CB8AC3E}">
        <p14:creationId xmlns:p14="http://schemas.microsoft.com/office/powerpoint/2010/main" val="387630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F627AB-2916-F740-9269-4F480F3A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Rob’s </a:t>
            </a:r>
            <a:r>
              <a:rPr lang="en-US" dirty="0"/>
              <a:t>finance and scouting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FEF8BB4-34F4-2F45-9EB3-57764C00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am an Eagle Scout and a father of one</a:t>
            </a:r>
          </a:p>
          <a:p>
            <a:r>
              <a:rPr lang="en-US" dirty="0" smtClean="0"/>
              <a:t>I completed Wood </a:t>
            </a:r>
            <a:r>
              <a:rPr lang="en-US" dirty="0"/>
              <a:t>Badge </a:t>
            </a:r>
            <a:r>
              <a:rPr lang="en-US" dirty="0" smtClean="0"/>
              <a:t>training (I also visited </a:t>
            </a:r>
            <a:r>
              <a:rPr lang="en-US" dirty="0" err="1" smtClean="0"/>
              <a:t>Gilwell</a:t>
            </a:r>
            <a:r>
              <a:rPr lang="en-US" dirty="0" smtClean="0"/>
              <a:t> Park when </a:t>
            </a:r>
            <a:r>
              <a:rPr lang="en-US" dirty="0"/>
              <a:t>I was a scout)</a:t>
            </a:r>
          </a:p>
          <a:p>
            <a:r>
              <a:rPr lang="en-US" dirty="0" smtClean="0"/>
              <a:t>I am the Committee </a:t>
            </a:r>
            <a:r>
              <a:rPr lang="en-US" dirty="0"/>
              <a:t>Chair of </a:t>
            </a:r>
            <a:r>
              <a:rPr lang="en-US" dirty="0" smtClean="0"/>
              <a:t>Troops </a:t>
            </a:r>
            <a:r>
              <a:rPr lang="en-US" dirty="0"/>
              <a:t>1075 </a:t>
            </a:r>
            <a:r>
              <a:rPr lang="en-US" dirty="0" smtClean="0"/>
              <a:t>B&amp;G in </a:t>
            </a:r>
            <a:r>
              <a:rPr lang="en-US" dirty="0"/>
              <a:t>Delmar</a:t>
            </a:r>
          </a:p>
          <a:p>
            <a:r>
              <a:rPr lang="en-US" dirty="0" smtClean="0"/>
              <a:t>I am the </a:t>
            </a:r>
            <a:r>
              <a:rPr lang="en-US" dirty="0" err="1" smtClean="0"/>
              <a:t>Cubmaster</a:t>
            </a:r>
            <a:r>
              <a:rPr lang="en-US" dirty="0" smtClean="0"/>
              <a:t> </a:t>
            </a:r>
            <a:r>
              <a:rPr lang="en-US" dirty="0"/>
              <a:t>/ </a:t>
            </a:r>
            <a:r>
              <a:rPr lang="en-US" dirty="0" err="1" smtClean="0"/>
              <a:t>Webelos</a:t>
            </a:r>
            <a:r>
              <a:rPr lang="en-US" dirty="0" smtClean="0"/>
              <a:t> </a:t>
            </a:r>
            <a:r>
              <a:rPr lang="en-US" dirty="0"/>
              <a:t>Den Leader of Pack </a:t>
            </a:r>
            <a:r>
              <a:rPr lang="en-US" dirty="0" smtClean="0"/>
              <a:t>1232 in Glenmont</a:t>
            </a:r>
          </a:p>
          <a:p>
            <a:r>
              <a:rPr lang="en-US" dirty="0" smtClean="0"/>
              <a:t>I am the VP of Finance for Twin Rivers Council</a:t>
            </a:r>
            <a:endParaRPr lang="en-US" dirty="0"/>
          </a:p>
          <a:p>
            <a:r>
              <a:rPr lang="mr-IN" dirty="0" smtClean="0"/>
              <a:t>…</a:t>
            </a:r>
            <a:r>
              <a:rPr lang="en-US" dirty="0" smtClean="0"/>
              <a:t>but I have never </a:t>
            </a:r>
            <a:r>
              <a:rPr lang="en-US" dirty="0"/>
              <a:t>a </a:t>
            </a:r>
            <a:r>
              <a:rPr lang="en-US" dirty="0" smtClean="0"/>
              <a:t>unit treasurer (but we’ve got that covered / see next slide)…</a:t>
            </a:r>
            <a:endParaRPr lang="en-US" dirty="0"/>
          </a:p>
          <a:p>
            <a:r>
              <a:rPr lang="en-US" dirty="0"/>
              <a:t>H</a:t>
            </a:r>
            <a:r>
              <a:rPr lang="en-US" dirty="0" smtClean="0"/>
              <a:t>owever</a:t>
            </a:r>
            <a:r>
              <a:rPr lang="en-US" dirty="0"/>
              <a:t>, I do have a MBA and I am an Executive Director at Morgan Stanley and their head of Public Finance Northeast Infrastructure</a:t>
            </a:r>
          </a:p>
          <a:p>
            <a:pPr lvl="1"/>
            <a:r>
              <a:rPr lang="en-US" dirty="0" smtClean="0"/>
              <a:t>I am FINRA </a:t>
            </a:r>
            <a:r>
              <a:rPr lang="en-US" dirty="0"/>
              <a:t>registered with Series 7, 53, 63 and 79 licenses</a:t>
            </a:r>
          </a:p>
          <a:p>
            <a:pPr lvl="1"/>
            <a:r>
              <a:rPr lang="en-US" dirty="0" smtClean="0"/>
              <a:t>I have led </a:t>
            </a:r>
            <a:r>
              <a:rPr lang="en-US" dirty="0"/>
              <a:t>over $</a:t>
            </a:r>
            <a:r>
              <a:rPr lang="en-US" dirty="0" smtClean="0"/>
              <a:t>25 </a:t>
            </a:r>
            <a:r>
              <a:rPr lang="en-US" dirty="0"/>
              <a:t>billion of municipal </a:t>
            </a:r>
            <a:r>
              <a:rPr lang="en-US" dirty="0" smtClean="0"/>
              <a:t>securities bond issuances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55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F627AB-2916-F740-9269-4F480F3A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Josh’s </a:t>
            </a:r>
            <a:r>
              <a:rPr lang="en-US" dirty="0"/>
              <a:t>finance and scouting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FEF8BB4-34F4-2F45-9EB3-57764C00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</a:t>
            </a:r>
            <a:r>
              <a:rPr lang="en-US" dirty="0"/>
              <a:t>am an </a:t>
            </a:r>
            <a:r>
              <a:rPr lang="en-US" dirty="0" smtClean="0"/>
              <a:t>Eagle Scout </a:t>
            </a:r>
            <a:r>
              <a:rPr lang="en-US" dirty="0"/>
              <a:t>and father of </a:t>
            </a:r>
            <a:r>
              <a:rPr lang="en-US" dirty="0" smtClean="0"/>
              <a:t>four with </a:t>
            </a:r>
            <a:r>
              <a:rPr lang="en-US" dirty="0"/>
              <a:t>3 boys currently in </a:t>
            </a:r>
            <a:r>
              <a:rPr lang="en-US" dirty="0" smtClean="0"/>
              <a:t>Cub Scouts</a:t>
            </a:r>
            <a:endParaRPr lang="en-US" dirty="0"/>
          </a:p>
          <a:p>
            <a:r>
              <a:rPr lang="en-US" dirty="0" smtClean="0"/>
              <a:t>I am the Treasurer </a:t>
            </a:r>
            <a:r>
              <a:rPr lang="en-US" dirty="0"/>
              <a:t>and Charter Organization Representative for Pack 1232</a:t>
            </a:r>
          </a:p>
          <a:p>
            <a:r>
              <a:rPr lang="en-US" dirty="0" smtClean="0"/>
              <a:t>I have a </a:t>
            </a:r>
            <a:r>
              <a:rPr lang="en-US" dirty="0"/>
              <a:t>BS in Economics and </a:t>
            </a:r>
            <a:r>
              <a:rPr lang="en-US" dirty="0" smtClean="0"/>
              <a:t>am a serial entrepreneur </a:t>
            </a:r>
            <a:r>
              <a:rPr lang="en-US" dirty="0"/>
              <a:t>having founded and managed many online businesses.</a:t>
            </a:r>
          </a:p>
          <a:p>
            <a:r>
              <a:rPr lang="en-US" dirty="0" smtClean="0"/>
              <a:t>I am the Chair </a:t>
            </a:r>
            <a:r>
              <a:rPr lang="en-US" dirty="0"/>
              <a:t>of </a:t>
            </a:r>
            <a:r>
              <a:rPr lang="en-US" dirty="0" smtClean="0"/>
              <a:t>the Finance </a:t>
            </a:r>
            <a:r>
              <a:rPr lang="en-US" dirty="0"/>
              <a:t>Committee for </a:t>
            </a:r>
            <a:r>
              <a:rPr lang="en-US" dirty="0" smtClean="0"/>
              <a:t>two </a:t>
            </a:r>
            <a:r>
              <a:rPr lang="en-US" dirty="0"/>
              <a:t>other non-profit boards.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93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FC0AE6-907D-1447-87EC-95344948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are Pack Finances and Budgeting so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2964AD-F360-7747-A2C4-2809C0E95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&gt;$5k can easily flow through a Pack’s account in one year</a:t>
            </a:r>
          </a:p>
          <a:p>
            <a:r>
              <a:rPr lang="en-US" dirty="0"/>
              <a:t>Be cognizant that the Pack and its assets are owned by the Charter Organization</a:t>
            </a:r>
          </a:p>
          <a:p>
            <a:r>
              <a:rPr lang="en-US" dirty="0"/>
              <a:t>Allows the Committee Chair and the Cubmaster to properly manage and operate the Pack</a:t>
            </a:r>
          </a:p>
          <a:p>
            <a:r>
              <a:rPr lang="en-US" dirty="0"/>
              <a:t>“A scout is thrifty” does not mean “A scout is stingy”</a:t>
            </a:r>
          </a:p>
          <a:p>
            <a:r>
              <a:rPr lang="en-US" dirty="0"/>
              <a:t>Not everyone follows the first tenant of the Scout Law…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61981FF-4C69-E94F-A837-E255EC5AD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6" y="4527379"/>
            <a:ext cx="11188700" cy="101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5526E98-46F9-C648-AB2C-36B9572BC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26" y="5534111"/>
            <a:ext cx="107061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0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E94F6C-40F9-D845-B101-0260F8CC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and Training a pack treasurer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FDCAC65-ADE8-854D-B3E0-A11C5EE2F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Finance education/career is important</a:t>
            </a:r>
          </a:p>
          <a:p>
            <a:r>
              <a:rPr lang="en-US" dirty="0"/>
              <a:t>Know them…can you trust them?</a:t>
            </a:r>
          </a:p>
          <a:p>
            <a:r>
              <a:rPr lang="en-US" dirty="0"/>
              <a:t>Recruit them…do not necessarily take the first person to volunteer</a:t>
            </a:r>
          </a:p>
          <a:p>
            <a:r>
              <a:rPr lang="en-US" dirty="0"/>
              <a:t>The ideal candidate may not be the best candidate on paper</a:t>
            </a:r>
          </a:p>
          <a:p>
            <a:r>
              <a:rPr lang="en-US" dirty="0"/>
              <a:t>Ensure that there is a period of time for the current treasurer to train their successor</a:t>
            </a:r>
          </a:p>
          <a:p>
            <a:pPr lvl="1"/>
            <a:r>
              <a:rPr lang="en-US" dirty="0"/>
              <a:t>Having a Pack Treasurer “How To” Manual speeds up onboarding and helps recruit successors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2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549CEA-B3EE-8B46-9967-62EAE42F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a Pack Treasurer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6A39FA7-8570-FC4B-B306-F24EA7B4D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Cubmaster/Den Leaders trying to achieve in the Scout Year?</a:t>
            </a:r>
          </a:p>
          <a:p>
            <a:pPr lvl="1"/>
            <a:r>
              <a:rPr lang="en-US" dirty="0"/>
              <a:t>Big trip(s)?</a:t>
            </a:r>
          </a:p>
          <a:p>
            <a:pPr lvl="1"/>
            <a:r>
              <a:rPr lang="en-US" dirty="0"/>
              <a:t>Big purchase?</a:t>
            </a:r>
          </a:p>
          <a:p>
            <a:pPr lvl="1"/>
            <a:r>
              <a:rPr lang="en-US" dirty="0"/>
              <a:t>Send scouts to summer camp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Subsidize Pack/Den activities</a:t>
            </a:r>
            <a:endParaRPr lang="en-US" dirty="0"/>
          </a:p>
          <a:p>
            <a:pPr lvl="1"/>
            <a:r>
              <a:rPr lang="en-US" dirty="0"/>
              <a:t>Help families in need?</a:t>
            </a:r>
          </a:p>
          <a:p>
            <a:pPr lvl="1"/>
            <a:r>
              <a:rPr lang="en-US" dirty="0"/>
              <a:t>Train the leaders?</a:t>
            </a:r>
          </a:p>
          <a:p>
            <a:r>
              <a:rPr lang="en-US" dirty="0"/>
              <a:t>Cashflow positive</a:t>
            </a:r>
          </a:p>
          <a:p>
            <a:r>
              <a:rPr lang="en-US" dirty="0"/>
              <a:t>Rainy Day fund</a:t>
            </a:r>
          </a:p>
          <a:p>
            <a:r>
              <a:rPr lang="en-US" dirty="0"/>
              <a:t>Setting realistic revenue projections</a:t>
            </a:r>
          </a:p>
          <a:p>
            <a:r>
              <a:rPr lang="en-US" dirty="0"/>
              <a:t>Identifying </a:t>
            </a:r>
            <a:r>
              <a:rPr lang="en-US" b="1" u="sng" dirty="0"/>
              <a:t>necessary</a:t>
            </a:r>
            <a:r>
              <a:rPr lang="en-US" dirty="0"/>
              <a:t> recurring and nonrecurring expenses</a:t>
            </a:r>
          </a:p>
        </p:txBody>
      </p:sp>
    </p:spTree>
    <p:extLst>
      <p:ext uri="{BB962C8B-B14F-4D97-AF65-F5344CB8AC3E}">
        <p14:creationId xmlns:p14="http://schemas.microsoft.com/office/powerpoint/2010/main" val="247526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820D91-8D1D-9041-BA07-0534E2B7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 Funds –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4E0A63A-3993-A346-9AE3-0C2327FDD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Have a Pack bank account:</a:t>
            </a:r>
          </a:p>
          <a:p>
            <a:pPr lvl="1"/>
            <a:r>
              <a:rPr lang="en-US" dirty="0"/>
              <a:t>Checking</a:t>
            </a:r>
          </a:p>
          <a:p>
            <a:pPr lvl="1"/>
            <a:r>
              <a:rPr lang="en-US" dirty="0"/>
              <a:t>Online payments</a:t>
            </a:r>
          </a:p>
          <a:p>
            <a:pPr lvl="1"/>
            <a:r>
              <a:rPr lang="en-US" dirty="0"/>
              <a:t>Debit card</a:t>
            </a:r>
          </a:p>
          <a:p>
            <a:pPr lvl="1"/>
            <a:r>
              <a:rPr lang="en-US" dirty="0"/>
              <a:t>Rainy day fund</a:t>
            </a:r>
          </a:p>
          <a:p>
            <a:pPr lvl="1"/>
            <a:r>
              <a:rPr lang="en-US" dirty="0"/>
              <a:t>Special purchase account</a:t>
            </a:r>
          </a:p>
          <a:p>
            <a:r>
              <a:rPr lang="en-US" dirty="0"/>
              <a:t>Two unrelated people on the bank account (Committee Chair &amp; Treasurer)</a:t>
            </a:r>
          </a:p>
          <a:p>
            <a:pPr lvl="1"/>
            <a:r>
              <a:rPr lang="en-US" dirty="0"/>
              <a:t>Not the Cubmaster</a:t>
            </a:r>
          </a:p>
          <a:p>
            <a:r>
              <a:rPr lang="en-US" dirty="0"/>
              <a:t>Annually audit the account by an independent/financially savvy Pack parent</a:t>
            </a:r>
          </a:p>
          <a:p>
            <a:pPr lvl="1"/>
            <a:r>
              <a:rPr lang="en-US" dirty="0"/>
              <a:t>You are also recruiting a future Pack Treasurer at the same time</a:t>
            </a:r>
          </a:p>
          <a:p>
            <a:r>
              <a:rPr lang="en-US" dirty="0"/>
              <a:t>Two adult sign off on cash deposits</a:t>
            </a:r>
          </a:p>
          <a:p>
            <a:r>
              <a:rPr lang="en-US" dirty="0"/>
              <a:t>Do not sign checks reimbursing yourself or your spouse</a:t>
            </a:r>
          </a:p>
          <a:p>
            <a:r>
              <a:rPr lang="en-US" dirty="0"/>
              <a:t>Control on expense reimbursements</a:t>
            </a:r>
          </a:p>
          <a:p>
            <a:pPr lvl="1"/>
            <a:r>
              <a:rPr lang="en-US" dirty="0"/>
              <a:t>Adults send receipts to Pack Treasurer and Committee Chair to reimburse</a:t>
            </a:r>
          </a:p>
          <a:p>
            <a:pPr lvl="1"/>
            <a:r>
              <a:rPr lang="en-US" dirty="0"/>
              <a:t>Acknowledgement is sent by </a:t>
            </a:r>
            <a:r>
              <a:rPr lang="en-US" dirty="0" smtClean="0"/>
              <a:t>Pack Treasurer </a:t>
            </a:r>
            <a:r>
              <a:rPr lang="en-US" dirty="0"/>
              <a:t>to adult with a cc to </a:t>
            </a:r>
            <a:r>
              <a:rPr lang="en-US" dirty="0" smtClean="0"/>
              <a:t>Committee </a:t>
            </a:r>
            <a:r>
              <a:rPr lang="en-US" dirty="0"/>
              <a:t>C</a:t>
            </a:r>
            <a:r>
              <a:rPr lang="en-US" dirty="0" smtClean="0"/>
              <a:t>hair</a:t>
            </a:r>
            <a:endParaRPr lang="en-US" dirty="0"/>
          </a:p>
          <a:p>
            <a:pPr lvl="1"/>
            <a:r>
              <a:rPr lang="en-US" dirty="0"/>
              <a:t>Do not </a:t>
            </a:r>
            <a:r>
              <a:rPr lang="en-US" dirty="0" smtClean="0"/>
              <a:t>net </a:t>
            </a:r>
            <a:r>
              <a:rPr lang="mr-IN" dirty="0" smtClean="0"/>
              <a:t>–</a:t>
            </a:r>
            <a:r>
              <a:rPr lang="en-US" dirty="0" smtClean="0"/>
              <a:t> for example, a family pays for full cost for event and then receives reimbursement for any Pack subsidy rather than the net of the two.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9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F999E7-6560-1348-9EF5-E640D79E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you may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60189C-4374-FB4E-ACF7-0C991492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getting people to pay fees/dues in a reasonable amount of time</a:t>
            </a:r>
          </a:p>
          <a:p>
            <a:r>
              <a:rPr lang="en-US" dirty="0"/>
              <a:t>large cash flow variations due to erratic timing of income and expenses (especially popcorn sales and </a:t>
            </a:r>
            <a:r>
              <a:rPr lang="en-US" dirty="0" err="1"/>
              <a:t>rechartering</a:t>
            </a:r>
            <a:r>
              <a:rPr lang="en-US" dirty="0"/>
              <a:t> fees)</a:t>
            </a:r>
          </a:p>
          <a:p>
            <a:r>
              <a:rPr lang="en-US" dirty="0"/>
              <a:t>keeping complete and up to date </a:t>
            </a:r>
            <a:r>
              <a:rPr lang="en-US" dirty="0" smtClean="0"/>
              <a:t>records</a:t>
            </a:r>
          </a:p>
          <a:p>
            <a:pPr lvl="1"/>
            <a:r>
              <a:rPr lang="en-US" dirty="0" smtClean="0"/>
              <a:t>keep </a:t>
            </a:r>
            <a:r>
              <a:rPr lang="en-US" dirty="0"/>
              <a:t>records to help with future budgeting and </a:t>
            </a:r>
            <a:r>
              <a:rPr lang="en-US" dirty="0" smtClean="0"/>
              <a:t>transitioning to future Pack Treasurer(s).</a:t>
            </a:r>
          </a:p>
          <a:p>
            <a:pPr lvl="1"/>
            <a:r>
              <a:rPr lang="en-US" dirty="0" smtClean="0"/>
              <a:t>keep records and receipts digitally for easy access by all, including transparency for current members and reference for future. </a:t>
            </a:r>
            <a:endParaRPr lang="en-US" dirty="0" smtClean="0"/>
          </a:p>
          <a:p>
            <a:r>
              <a:rPr lang="en-US" dirty="0" smtClean="0"/>
              <a:t>dealing </a:t>
            </a:r>
            <a:r>
              <a:rPr lang="en-US" dirty="0"/>
              <a:t>with unforeseen circumstances (e.g. who is responsible for a bounced check fee?, do you reimburse someone who paid for but couldn’t come to an event?, how do you handle a budget mistake?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b="1" dirty="0" smtClean="0"/>
              <a:t>Challenge you won’t face </a:t>
            </a:r>
            <a:r>
              <a:rPr lang="mr-IN" dirty="0" smtClean="0"/>
              <a:t>–</a:t>
            </a:r>
            <a:r>
              <a:rPr lang="en-US" dirty="0" smtClean="0"/>
              <a:t> you don’t have to file tax returns for the Pack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5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44AD6B-B3C1-0140-BF03-034728B6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 revenues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EC6579-602D-AD45-91AA-CC160A7B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Dues:</a:t>
            </a:r>
          </a:p>
          <a:p>
            <a:pPr lvl="1"/>
            <a:r>
              <a:rPr lang="en-US" dirty="0"/>
              <a:t>Discount for new </a:t>
            </a:r>
            <a:r>
              <a:rPr lang="en-US" dirty="0" smtClean="0"/>
              <a:t>members to offset $25 one-time joining fee?</a:t>
            </a:r>
            <a:endParaRPr lang="en-US" dirty="0"/>
          </a:p>
          <a:p>
            <a:pPr lvl="1"/>
            <a:r>
              <a:rPr lang="en-US" dirty="0"/>
              <a:t>Collection timing versus </a:t>
            </a:r>
            <a:r>
              <a:rPr lang="en-US" dirty="0" err="1"/>
              <a:t>recharter</a:t>
            </a:r>
            <a:r>
              <a:rPr lang="en-US" dirty="0"/>
              <a:t> (by </a:t>
            </a:r>
            <a:r>
              <a:rPr lang="en-US" dirty="0" smtClean="0"/>
              <a:t>12/</a:t>
            </a:r>
            <a:r>
              <a:rPr lang="en-US" dirty="0"/>
              <a:t>31)?</a:t>
            </a:r>
          </a:p>
          <a:p>
            <a:pPr lvl="2"/>
            <a:r>
              <a:rPr lang="en-US" dirty="0"/>
              <a:t>Per scout = $12 for </a:t>
            </a:r>
            <a:r>
              <a:rPr lang="en-US" dirty="0" smtClean="0"/>
              <a:t>Scout Life magazine annual subscription, $66 </a:t>
            </a:r>
            <a:r>
              <a:rPr lang="en-US" dirty="0"/>
              <a:t>for registration, and $27 for </a:t>
            </a:r>
            <a:r>
              <a:rPr lang="en-US" dirty="0" smtClean="0"/>
              <a:t>TRC program</a:t>
            </a:r>
            <a:r>
              <a:rPr lang="en-US" dirty="0"/>
              <a:t>/insurance</a:t>
            </a:r>
          </a:p>
          <a:p>
            <a:pPr lvl="2"/>
            <a:r>
              <a:rPr lang="en-US" dirty="0"/>
              <a:t>Per unit = </a:t>
            </a:r>
            <a:r>
              <a:rPr lang="en-US" dirty="0" smtClean="0"/>
              <a:t>$75 </a:t>
            </a:r>
            <a:r>
              <a:rPr lang="en-US" dirty="0"/>
              <a:t>for unit liability insurance</a:t>
            </a:r>
          </a:p>
          <a:p>
            <a:pPr lvl="1"/>
            <a:r>
              <a:rPr lang="en-US" dirty="0"/>
              <a:t>When setting </a:t>
            </a:r>
            <a:r>
              <a:rPr lang="en-US" dirty="0" smtClean="0"/>
              <a:t>dues, </a:t>
            </a:r>
            <a:r>
              <a:rPr lang="en-US" dirty="0"/>
              <a:t>keep in mind that other organized activities have high registration fees</a:t>
            </a:r>
          </a:p>
          <a:p>
            <a:r>
              <a:rPr lang="en-US" dirty="0"/>
              <a:t>Fundraising:</a:t>
            </a:r>
          </a:p>
          <a:p>
            <a:pPr lvl="1"/>
            <a:r>
              <a:rPr lang="en-US" dirty="0"/>
              <a:t>Popcorn and/or </a:t>
            </a:r>
            <a:r>
              <a:rPr lang="en-US" dirty="0" smtClean="0"/>
              <a:t>Camp Cards: </a:t>
            </a:r>
            <a:r>
              <a:rPr lang="en-US" dirty="0" err="1"/>
              <a:t>show&amp;sells</a:t>
            </a:r>
            <a:r>
              <a:rPr lang="en-US" dirty="0"/>
              <a:t>, door-to-door, and </a:t>
            </a:r>
            <a:r>
              <a:rPr lang="en-US" dirty="0" smtClean="0"/>
              <a:t>online</a:t>
            </a:r>
          </a:p>
          <a:p>
            <a:pPr lvl="2"/>
            <a:r>
              <a:rPr lang="en-US" dirty="0" smtClean="0"/>
              <a:t>Consider accepting a donation (i.e. extra dues) in lieu of a family selling popcorn or participating in fundraisers</a:t>
            </a:r>
            <a:endParaRPr lang="en-US" dirty="0"/>
          </a:p>
          <a:p>
            <a:pPr lvl="1"/>
            <a:r>
              <a:rPr lang="en-US" dirty="0"/>
              <a:t>Other (see unit money earning application)</a:t>
            </a:r>
          </a:p>
          <a:p>
            <a:r>
              <a:rPr lang="en-US" dirty="0"/>
              <a:t>Activity Fees (e.g. camping, camporee, trip, etc.):</a:t>
            </a:r>
          </a:p>
          <a:p>
            <a:pPr lvl="1"/>
            <a:r>
              <a:rPr lang="en-US" dirty="0"/>
              <a:t>Don’t give away anything for free</a:t>
            </a:r>
          </a:p>
          <a:p>
            <a:pPr lvl="1"/>
            <a:r>
              <a:rPr lang="en-US" dirty="0"/>
              <a:t>Enforce collection on last minute drop outs if no replacement can be found for them</a:t>
            </a:r>
          </a:p>
          <a:p>
            <a:r>
              <a:rPr lang="en-US" dirty="0"/>
              <a:t>Grants</a:t>
            </a:r>
          </a:p>
          <a:p>
            <a:pPr lvl="1"/>
            <a:r>
              <a:rPr lang="en-US" dirty="0"/>
              <a:t>Free money! You get dollar for dollar versus a % of </a:t>
            </a:r>
            <a:r>
              <a:rPr lang="en-US" dirty="0" smtClean="0"/>
              <a:t>popcorn or camp cards</a:t>
            </a:r>
            <a:endParaRPr lang="en-US" dirty="0"/>
          </a:p>
          <a:p>
            <a:r>
              <a:rPr lang="en-US" dirty="0" smtClean="0"/>
              <a:t>Donations</a:t>
            </a:r>
          </a:p>
          <a:p>
            <a:pPr lvl="1"/>
            <a:r>
              <a:rPr lang="en-US" dirty="0" smtClean="0"/>
              <a:t>Note that you cannot ask for donations during fundraiser show-and-sells but you can accept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5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61C4CF-6273-2048-9F8A-A0C2C68F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A3D312-E7D6-7949-A494-59AC8328A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Cash – </a:t>
            </a:r>
            <a:r>
              <a:rPr lang="en-US" dirty="0" smtClean="0"/>
              <a:t>two</a:t>
            </a:r>
            <a:r>
              <a:rPr lang="en-US" dirty="0" smtClean="0"/>
              <a:t> </a:t>
            </a:r>
            <a:r>
              <a:rPr lang="en-US" dirty="0"/>
              <a:t>adult confirmation</a:t>
            </a:r>
          </a:p>
          <a:p>
            <a:r>
              <a:rPr lang="en-US" dirty="0"/>
              <a:t>Checks</a:t>
            </a:r>
          </a:p>
          <a:p>
            <a:r>
              <a:rPr lang="en-US" dirty="0" err="1"/>
              <a:t>Paypal</a:t>
            </a:r>
            <a:r>
              <a:rPr lang="en-US" dirty="0"/>
              <a:t> </a:t>
            </a:r>
            <a:r>
              <a:rPr lang="en-US" dirty="0" smtClean="0"/>
              <a:t>or </a:t>
            </a:r>
            <a:r>
              <a:rPr lang="en-US" dirty="0" err="1" smtClean="0"/>
              <a:t>Venmo</a:t>
            </a:r>
            <a:r>
              <a:rPr lang="en-US" dirty="0" smtClean="0"/>
              <a:t> – </a:t>
            </a:r>
            <a:r>
              <a:rPr lang="en-US" dirty="0"/>
              <a:t>see if Pack website allows </a:t>
            </a:r>
            <a:r>
              <a:rPr lang="en-US" dirty="0" err="1" smtClean="0"/>
              <a:t>Paypal</a:t>
            </a:r>
            <a:r>
              <a:rPr lang="en-US" dirty="0" smtClean="0"/>
              <a:t> or </a:t>
            </a:r>
            <a:r>
              <a:rPr lang="en-US" dirty="0" err="1" smtClean="0"/>
              <a:t>Venmo</a:t>
            </a:r>
            <a:r>
              <a:rPr lang="en-US" dirty="0" smtClean="0"/>
              <a:t> </a:t>
            </a:r>
            <a:r>
              <a:rPr lang="en-US" dirty="0"/>
              <a:t>features</a:t>
            </a:r>
          </a:p>
          <a:p>
            <a:pPr lvl="1"/>
            <a:r>
              <a:rPr lang="en-US" dirty="0"/>
              <a:t>Consider passing on the </a:t>
            </a:r>
            <a:r>
              <a:rPr lang="en-US" dirty="0" smtClean="0"/>
              <a:t>usage </a:t>
            </a:r>
            <a:r>
              <a:rPr lang="en-US" dirty="0"/>
              <a:t>charge</a:t>
            </a:r>
          </a:p>
          <a:p>
            <a:r>
              <a:rPr lang="en-US" dirty="0"/>
              <a:t>Square – helps with popcorn sales and other </a:t>
            </a:r>
            <a:r>
              <a:rPr lang="en-US" dirty="0" smtClean="0"/>
              <a:t>fundraising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73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CE26E8-9573-8746-9D3B-FF97AFAB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 expenses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266CFD-6E06-D742-B613-D6F7319B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Recharter</a:t>
            </a:r>
            <a:r>
              <a:rPr lang="en-US" dirty="0"/>
              <a:t> (by </a:t>
            </a:r>
            <a:r>
              <a:rPr lang="en-US" dirty="0" smtClean="0"/>
              <a:t>12/</a:t>
            </a:r>
            <a:r>
              <a:rPr lang="en-US" dirty="0"/>
              <a:t>31)</a:t>
            </a:r>
          </a:p>
          <a:p>
            <a:r>
              <a:rPr lang="en-US" dirty="0"/>
              <a:t>Badges, belt loops, and pins</a:t>
            </a:r>
          </a:p>
          <a:p>
            <a:r>
              <a:rPr lang="en-US" dirty="0"/>
              <a:t>Recurring versus nonrecurring (e.g. software license) expenses</a:t>
            </a:r>
          </a:p>
          <a:p>
            <a:r>
              <a:rPr lang="en-US" dirty="0" err="1"/>
              <a:t>Setasides</a:t>
            </a:r>
            <a:endParaRPr lang="en-US" dirty="0"/>
          </a:p>
          <a:p>
            <a:pPr lvl="1"/>
            <a:r>
              <a:rPr lang="en-US" dirty="0"/>
              <a:t>Future pinewood derby track purchase</a:t>
            </a:r>
          </a:p>
          <a:p>
            <a:pPr lvl="1"/>
            <a:r>
              <a:rPr lang="en-US" dirty="0"/>
              <a:t>Subsidy to send scouts to summer camp</a:t>
            </a:r>
          </a:p>
          <a:p>
            <a:endParaRPr lang="en-US" dirty="0"/>
          </a:p>
          <a:p>
            <a:r>
              <a:rPr lang="en-US" dirty="0"/>
              <a:t>Seek to minimize Pack Expenses</a:t>
            </a:r>
          </a:p>
          <a:p>
            <a:pPr lvl="1"/>
            <a:r>
              <a:rPr lang="en-US" dirty="0"/>
              <a:t>Sales tax exemption (ST-119.1)</a:t>
            </a:r>
          </a:p>
          <a:p>
            <a:pPr lvl="1"/>
            <a:r>
              <a:rPr lang="en-US" dirty="0"/>
              <a:t>Minimize gear purchases (borrow from a Scouts BSA troop)</a:t>
            </a:r>
          </a:p>
          <a:p>
            <a:pPr lvl="1"/>
            <a:r>
              <a:rPr lang="en-US" dirty="0"/>
              <a:t>Reuse uniforms, neckerchiefs, caps, belts, and leader materials</a:t>
            </a:r>
          </a:p>
        </p:txBody>
      </p:sp>
    </p:spTree>
    <p:extLst>
      <p:ext uri="{BB962C8B-B14F-4D97-AF65-F5344CB8AC3E}">
        <p14:creationId xmlns:p14="http://schemas.microsoft.com/office/powerpoint/2010/main" val="2911823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35987-691C-1D4B-953C-1A6CF096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54F868-8457-7F4C-A035-5B20F9661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Membership</a:t>
            </a:r>
          </a:p>
          <a:p>
            <a:pPr lvl="1"/>
            <a:r>
              <a:rPr lang="en-US" dirty="0" err="1"/>
              <a:t>Recharter</a:t>
            </a:r>
            <a:endParaRPr lang="en-US" dirty="0"/>
          </a:p>
          <a:p>
            <a:pPr lvl="1"/>
            <a:r>
              <a:rPr lang="en-US" dirty="0"/>
              <a:t>Class B Shirts?</a:t>
            </a:r>
          </a:p>
          <a:p>
            <a:pPr lvl="1"/>
            <a:r>
              <a:rPr lang="en-US" dirty="0" smtClean="0"/>
              <a:t>Scout Life magazine annual subscriptions?</a:t>
            </a:r>
            <a:endParaRPr lang="en-US" dirty="0"/>
          </a:p>
          <a:p>
            <a:pPr lvl="1"/>
            <a:r>
              <a:rPr lang="en-US" dirty="0"/>
              <a:t>Name Tags?</a:t>
            </a:r>
          </a:p>
          <a:p>
            <a:pPr lvl="1"/>
            <a:r>
              <a:rPr lang="en-US" dirty="0"/>
              <a:t>Scout Manuals?</a:t>
            </a:r>
          </a:p>
          <a:p>
            <a:pPr lvl="1"/>
            <a:r>
              <a:rPr lang="en-US" dirty="0" smtClean="0"/>
              <a:t>Uniforms?</a:t>
            </a:r>
            <a:endParaRPr lang="en-US" dirty="0"/>
          </a:p>
          <a:p>
            <a:pPr lvl="1"/>
            <a:r>
              <a:rPr lang="en-US" dirty="0"/>
              <a:t>Recruitment event(s)</a:t>
            </a:r>
          </a:p>
          <a:p>
            <a:r>
              <a:rPr lang="en-US" dirty="0"/>
              <a:t>Fundraising</a:t>
            </a:r>
          </a:p>
          <a:p>
            <a:pPr lvl="1"/>
            <a:r>
              <a:rPr lang="en-US" dirty="0" smtClean="0"/>
              <a:t>Popcorn Samples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Signs?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4601867-20C3-524A-9999-63DC4ABF69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Equipment</a:t>
            </a:r>
          </a:p>
          <a:p>
            <a:pPr lvl="1"/>
            <a:r>
              <a:rPr lang="en-US" dirty="0"/>
              <a:t>Pack meeting game items</a:t>
            </a:r>
          </a:p>
          <a:p>
            <a:pPr lvl="1"/>
            <a:r>
              <a:rPr lang="en-US" dirty="0"/>
              <a:t>Leader manuals</a:t>
            </a:r>
          </a:p>
          <a:p>
            <a:r>
              <a:rPr lang="en-US" dirty="0"/>
              <a:t>Treasurer</a:t>
            </a:r>
          </a:p>
          <a:p>
            <a:pPr lvl="1"/>
            <a:r>
              <a:rPr lang="en-US" dirty="0"/>
              <a:t>Stamps</a:t>
            </a:r>
          </a:p>
          <a:p>
            <a:pPr lvl="1"/>
            <a:r>
              <a:rPr lang="en-US" dirty="0"/>
              <a:t>Supplies</a:t>
            </a:r>
          </a:p>
          <a:p>
            <a:r>
              <a:rPr lang="en-US" dirty="0"/>
              <a:t>Activities</a:t>
            </a:r>
          </a:p>
          <a:p>
            <a:pPr lvl="1"/>
            <a:r>
              <a:rPr lang="en-US" dirty="0"/>
              <a:t>Each outing/activity</a:t>
            </a:r>
          </a:p>
          <a:p>
            <a:pPr lvl="1"/>
            <a:r>
              <a:rPr lang="en-US" dirty="0"/>
              <a:t>Pack meeting supplies/snacks</a:t>
            </a:r>
          </a:p>
          <a:p>
            <a:pPr lvl="1"/>
            <a:r>
              <a:rPr lang="en-US" dirty="0"/>
              <a:t>Meeting space rental</a:t>
            </a:r>
          </a:p>
          <a:p>
            <a:pPr lvl="1"/>
            <a:r>
              <a:rPr lang="en-US" dirty="0"/>
              <a:t>Support for den meetings/outings</a:t>
            </a:r>
          </a:p>
        </p:txBody>
      </p:sp>
    </p:spTree>
    <p:extLst>
      <p:ext uri="{BB962C8B-B14F-4D97-AF65-F5344CB8AC3E}">
        <p14:creationId xmlns:p14="http://schemas.microsoft.com/office/powerpoint/2010/main" val="1473771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5AD75F-76B0-A645-AE19-ED11F97F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composition,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E23188-2207-2145-9541-497DFC7511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Advancement</a:t>
            </a:r>
          </a:p>
          <a:p>
            <a:pPr lvl="1"/>
            <a:r>
              <a:rPr lang="en-US" dirty="0"/>
              <a:t>Badges</a:t>
            </a:r>
          </a:p>
          <a:p>
            <a:pPr lvl="1"/>
            <a:r>
              <a:rPr lang="en-US" dirty="0"/>
              <a:t>Belt loops</a:t>
            </a:r>
          </a:p>
          <a:p>
            <a:pPr lvl="1"/>
            <a:r>
              <a:rPr lang="en-US" dirty="0" err="1"/>
              <a:t>Webelos</a:t>
            </a:r>
            <a:r>
              <a:rPr lang="en-US" dirty="0"/>
              <a:t> / AOL pins</a:t>
            </a:r>
          </a:p>
          <a:p>
            <a:pPr lvl="1"/>
            <a:r>
              <a:rPr lang="en-US" dirty="0"/>
              <a:t>AOL crossover gift</a:t>
            </a:r>
          </a:p>
          <a:p>
            <a:r>
              <a:rPr lang="en-US" dirty="0"/>
              <a:t>Summer Camp</a:t>
            </a:r>
          </a:p>
          <a:p>
            <a:pPr lvl="1"/>
            <a:r>
              <a:rPr lang="en-US" dirty="0"/>
              <a:t>Subsidy?</a:t>
            </a:r>
          </a:p>
          <a:p>
            <a:pPr lvl="1"/>
            <a:r>
              <a:rPr lang="en-US" dirty="0"/>
              <a:t>Extra adult leader fees for resident camp</a:t>
            </a:r>
          </a:p>
          <a:p>
            <a:r>
              <a:rPr lang="en-US" dirty="0"/>
              <a:t>Internet</a:t>
            </a:r>
          </a:p>
          <a:p>
            <a:pPr lvl="1"/>
            <a:r>
              <a:rPr lang="en-US" dirty="0"/>
              <a:t>Pack website fee</a:t>
            </a:r>
          </a:p>
          <a:p>
            <a:pPr lvl="1"/>
            <a:r>
              <a:rPr lang="en-US" dirty="0" smtClean="0"/>
              <a:t>Facebook </a:t>
            </a:r>
            <a:r>
              <a:rPr lang="en-US" dirty="0"/>
              <a:t>boosts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9AD36DD-5E4F-6D41-92B7-65A94B1D9D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Training</a:t>
            </a:r>
          </a:p>
          <a:p>
            <a:pPr lvl="1"/>
            <a:r>
              <a:rPr lang="en-US" dirty="0" smtClean="0"/>
              <a:t>BALOO</a:t>
            </a:r>
            <a:endParaRPr lang="en-US" dirty="0"/>
          </a:p>
          <a:p>
            <a:pPr lvl="1"/>
            <a:r>
              <a:rPr lang="en-US" dirty="0"/>
              <a:t>Wood Badge</a:t>
            </a:r>
          </a:p>
          <a:p>
            <a:r>
              <a:rPr lang="en-US" dirty="0"/>
              <a:t>Miscellaneous</a:t>
            </a:r>
          </a:p>
          <a:p>
            <a:pPr lvl="1"/>
            <a:r>
              <a:rPr lang="en-US" dirty="0"/>
              <a:t>Committee Meeting expenses</a:t>
            </a:r>
          </a:p>
        </p:txBody>
      </p:sp>
    </p:spTree>
    <p:extLst>
      <p:ext uri="{BB962C8B-B14F-4D97-AF65-F5344CB8AC3E}">
        <p14:creationId xmlns:p14="http://schemas.microsoft.com/office/powerpoint/2010/main" val="3902051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F5F442-A89D-2044-AF5D-BC1C8935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reporting – monthly/bimonthly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F4C665-01D9-D346-8ECC-80F979FE5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2963917"/>
            <a:ext cx="4754880" cy="320828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Budget Category (compare actual expenses versus budget)</a:t>
            </a:r>
          </a:p>
          <a:p>
            <a:pPr lvl="1"/>
            <a:r>
              <a:rPr lang="en-US" dirty="0"/>
              <a:t>Membership</a:t>
            </a:r>
          </a:p>
          <a:p>
            <a:pPr lvl="1"/>
            <a:r>
              <a:rPr lang="en-US" dirty="0"/>
              <a:t>Fundraising Expenses</a:t>
            </a:r>
          </a:p>
          <a:p>
            <a:pPr lvl="1"/>
            <a:r>
              <a:rPr lang="en-US" dirty="0"/>
              <a:t>Equipment</a:t>
            </a:r>
          </a:p>
          <a:p>
            <a:pPr lvl="1"/>
            <a:r>
              <a:rPr lang="en-US" dirty="0"/>
              <a:t>Treasurer</a:t>
            </a:r>
          </a:p>
          <a:p>
            <a:pPr lvl="1"/>
            <a:r>
              <a:rPr lang="en-US" dirty="0"/>
              <a:t>Activities</a:t>
            </a:r>
          </a:p>
          <a:p>
            <a:pPr lvl="1"/>
            <a:r>
              <a:rPr lang="en-US" dirty="0"/>
              <a:t>Advancement</a:t>
            </a:r>
          </a:p>
          <a:p>
            <a:pPr lvl="1"/>
            <a:r>
              <a:rPr lang="en-US" dirty="0"/>
              <a:t>Summer Camp</a:t>
            </a:r>
          </a:p>
          <a:p>
            <a:pPr lvl="1"/>
            <a:r>
              <a:rPr lang="en-US" dirty="0"/>
              <a:t>Internet</a:t>
            </a:r>
          </a:p>
          <a:p>
            <a:pPr lvl="1"/>
            <a:r>
              <a:rPr lang="en-US" dirty="0"/>
              <a:t>Training</a:t>
            </a:r>
          </a:p>
          <a:p>
            <a:pPr lvl="1"/>
            <a:r>
              <a:rPr lang="en-US" dirty="0"/>
              <a:t>Miscellaneous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4CC5AEB-E32D-9A4A-AA3A-0453843D5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2963916"/>
            <a:ext cx="4754880" cy="320828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Balance Sheet</a:t>
            </a:r>
          </a:p>
          <a:p>
            <a:pPr lvl="1"/>
            <a:r>
              <a:rPr lang="en-US" dirty="0"/>
              <a:t>Checking Account</a:t>
            </a:r>
          </a:p>
          <a:p>
            <a:pPr lvl="1"/>
            <a:r>
              <a:rPr lang="en-US" dirty="0"/>
              <a:t>Rainy Day Fund</a:t>
            </a:r>
          </a:p>
          <a:p>
            <a:pPr lvl="1"/>
            <a:r>
              <a:rPr lang="en-US" dirty="0"/>
              <a:t>Special Fund(s)</a:t>
            </a:r>
          </a:p>
          <a:p>
            <a:r>
              <a:rPr lang="en-US" dirty="0"/>
              <a:t>Revenues (compare actual revenues versus budget)</a:t>
            </a:r>
          </a:p>
          <a:p>
            <a:pPr lvl="1"/>
            <a:r>
              <a:rPr lang="en-US" dirty="0"/>
              <a:t>Dues</a:t>
            </a:r>
          </a:p>
          <a:p>
            <a:pPr lvl="1"/>
            <a:r>
              <a:rPr lang="en-US" dirty="0" smtClean="0"/>
              <a:t>Scout </a:t>
            </a:r>
            <a:r>
              <a:rPr lang="en-US" dirty="0"/>
              <a:t>Life </a:t>
            </a:r>
            <a:r>
              <a:rPr lang="en-US" dirty="0" smtClean="0"/>
              <a:t>magazine annual subscription </a:t>
            </a:r>
            <a:r>
              <a:rPr lang="en-US" dirty="0"/>
              <a:t>fees</a:t>
            </a:r>
          </a:p>
          <a:p>
            <a:pPr lvl="1"/>
            <a:r>
              <a:rPr lang="en-US" dirty="0"/>
              <a:t>Activity Fees</a:t>
            </a:r>
          </a:p>
          <a:p>
            <a:pPr lvl="1"/>
            <a:r>
              <a:rPr lang="en-US" dirty="0"/>
              <a:t>Fundraising</a:t>
            </a:r>
          </a:p>
          <a:p>
            <a:pPr lvl="1"/>
            <a:r>
              <a:rPr lang="en-US" dirty="0"/>
              <a:t>Grants</a:t>
            </a:r>
          </a:p>
          <a:p>
            <a:pPr lvl="1"/>
            <a:r>
              <a:rPr lang="en-US" dirty="0"/>
              <a:t>Donations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33FC0-80D0-5B45-86FE-E3360E8E9E1A}"/>
              </a:ext>
            </a:extLst>
          </p:cNvPr>
          <p:cNvSpPr txBox="1"/>
          <p:nvPr/>
        </p:nvSpPr>
        <p:spPr>
          <a:xfrm>
            <a:off x="1069848" y="2249214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Set and approve the Budget before the Scout Year starts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Total Expenses need to equal Total Revenues!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35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383B1E-643C-6A4C-9CBD-E2B10207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Forms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857D37-B3C2-C842-A360-B267570A2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Your Annual Budget</a:t>
            </a:r>
          </a:p>
          <a:p>
            <a:r>
              <a:rPr lang="en-US" dirty="0" smtClean="0"/>
              <a:t>Unit </a:t>
            </a:r>
            <a:r>
              <a:rPr lang="en-US" dirty="0"/>
              <a:t>Money Earning Application</a:t>
            </a:r>
          </a:p>
          <a:p>
            <a:r>
              <a:rPr lang="en-US" dirty="0"/>
              <a:t>NY ST-119.1 Form</a:t>
            </a:r>
          </a:p>
          <a:p>
            <a:r>
              <a:rPr lang="en-US" dirty="0"/>
              <a:t>Tax Donation Form</a:t>
            </a:r>
          </a:p>
        </p:txBody>
      </p:sp>
    </p:spTree>
    <p:extLst>
      <p:ext uri="{BB962C8B-B14F-4D97-AF65-F5344CB8AC3E}">
        <p14:creationId xmlns:p14="http://schemas.microsoft.com/office/powerpoint/2010/main" val="2736026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{B46FEB0E-7231-1849-8029-BCB423BAD75E}tf10001070</Template>
  <TotalTime>605</TotalTime>
  <Words>1281</Words>
  <Application>Microsoft Macintosh PowerPoint</Application>
  <PresentationFormat>Custom</PresentationFormat>
  <Paragraphs>178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Wood Type</vt:lpstr>
      <vt:lpstr>Pack finances &amp; budget Course #149</vt:lpstr>
      <vt:lpstr>disclaimer</vt:lpstr>
      <vt:lpstr>Rob’s finance and scouting background</vt:lpstr>
      <vt:lpstr>Josh’s finance and scouting background</vt:lpstr>
      <vt:lpstr>Why are Pack Finances and Budgeting so important?</vt:lpstr>
      <vt:lpstr>Selecting and Training a pack treasurer</vt:lpstr>
      <vt:lpstr>Goals for a Pack Treasurer</vt:lpstr>
      <vt:lpstr>Pack Funds – best practices</vt:lpstr>
      <vt:lpstr>Challenges you may face</vt:lpstr>
      <vt:lpstr>Pack revenues</vt:lpstr>
      <vt:lpstr>Collection options</vt:lpstr>
      <vt:lpstr>Pack expenses</vt:lpstr>
      <vt:lpstr>Budget Composition</vt:lpstr>
      <vt:lpstr>Budget composition, continued</vt:lpstr>
      <vt:lpstr>Budget reporting – monthly/bimonthly</vt:lpstr>
      <vt:lpstr>Useful Forms and 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finances &amp; budget Course #149</dc:title>
  <dc:creator>Microsoft Office User</dc:creator>
  <cp:lastModifiedBy>Robert Pattison</cp:lastModifiedBy>
  <cp:revision>42</cp:revision>
  <dcterms:created xsi:type="dcterms:W3CDTF">2019-03-10T18:52:41Z</dcterms:created>
  <dcterms:modified xsi:type="dcterms:W3CDTF">2021-03-16T15:35:36Z</dcterms:modified>
</cp:coreProperties>
</file>