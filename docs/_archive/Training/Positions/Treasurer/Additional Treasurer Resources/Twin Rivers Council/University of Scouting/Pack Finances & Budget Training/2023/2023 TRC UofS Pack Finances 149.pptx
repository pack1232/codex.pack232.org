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79" r:id="rId1"/>
  </p:sldMasterIdLst>
  <p:sldIdLst>
    <p:sldId id="256" r:id="rId2"/>
    <p:sldId id="257" r:id="rId3"/>
    <p:sldId id="258" r:id="rId4"/>
    <p:sldId id="271" r:id="rId5"/>
    <p:sldId id="259" r:id="rId6"/>
    <p:sldId id="260" r:id="rId7"/>
    <p:sldId id="261" r:id="rId8"/>
    <p:sldId id="262" r:id="rId9"/>
    <p:sldId id="270" r:id="rId10"/>
    <p:sldId id="263" r:id="rId11"/>
    <p:sldId id="264" r:id="rId12"/>
    <p:sldId id="265" r:id="rId13"/>
    <p:sldId id="267" r:id="rId14"/>
    <p:sldId id="268" r:id="rId15"/>
    <p:sldId id="269" r:id="rId16"/>
    <p:sldId id="266"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snapToObjects="1">
      <p:cViewPr varScale="1">
        <p:scale>
          <a:sx n="121" d="100"/>
          <a:sy n="121" d="100"/>
        </p:scale>
        <p:origin x="744"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6DF682E-6C26-CB44-AB08-21559BA90446}" type="datetimeFigureOut">
              <a:rPr lang="en-US" smtClean="0"/>
              <a:t>3/10/23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0E794871-A1AB-7F4A-916F-7F9C9929B5D0}" type="slidenum">
              <a:rPr lang="en-US" smtClean="0"/>
              <a:t>‹#›</a:t>
            </a:fld>
            <a:endParaRPr lang="en-US"/>
          </a:p>
        </p:txBody>
      </p:sp>
    </p:spTree>
    <p:extLst>
      <p:ext uri="{BB962C8B-B14F-4D97-AF65-F5344CB8AC3E}">
        <p14:creationId xmlns:p14="http://schemas.microsoft.com/office/powerpoint/2010/main" val="1791723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DF682E-6C26-CB44-AB08-21559BA90446}" type="datetimeFigureOut">
              <a:rPr lang="en-US" smtClean="0"/>
              <a:t>3/10/23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794871-A1AB-7F4A-916F-7F9C9929B5D0}" type="slidenum">
              <a:rPr lang="en-US" smtClean="0"/>
              <a:t>‹#›</a:t>
            </a:fld>
            <a:endParaRPr lang="en-US"/>
          </a:p>
        </p:txBody>
      </p:sp>
    </p:spTree>
    <p:extLst>
      <p:ext uri="{BB962C8B-B14F-4D97-AF65-F5344CB8AC3E}">
        <p14:creationId xmlns:p14="http://schemas.microsoft.com/office/powerpoint/2010/main" val="1681123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A6DF682E-6C26-CB44-AB08-21559BA90446}" type="datetimeFigureOut">
              <a:rPr lang="en-US" smtClean="0"/>
              <a:t>3/10/23</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0E794871-A1AB-7F4A-916F-7F9C9929B5D0}" type="slidenum">
              <a:rPr lang="en-US" smtClean="0"/>
              <a:t>‹#›</a:t>
            </a:fld>
            <a:endParaRPr lang="en-US"/>
          </a:p>
        </p:txBody>
      </p:sp>
    </p:spTree>
    <p:extLst>
      <p:ext uri="{BB962C8B-B14F-4D97-AF65-F5344CB8AC3E}">
        <p14:creationId xmlns:p14="http://schemas.microsoft.com/office/powerpoint/2010/main" val="36151649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6DF682E-6C26-CB44-AB08-21559BA90446}" type="datetimeFigureOut">
              <a:rPr lang="en-US" smtClean="0"/>
              <a:t>3/10/23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794871-A1AB-7F4A-916F-7F9C9929B5D0}" type="slidenum">
              <a:rPr lang="en-US" smtClean="0"/>
              <a:t>‹#›</a:t>
            </a:fld>
            <a:endParaRPr lang="en-US"/>
          </a:p>
        </p:txBody>
      </p:sp>
    </p:spTree>
    <p:extLst>
      <p:ext uri="{BB962C8B-B14F-4D97-AF65-F5344CB8AC3E}">
        <p14:creationId xmlns:p14="http://schemas.microsoft.com/office/powerpoint/2010/main" val="2904903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6DF682E-6C26-CB44-AB08-21559BA90446}" type="datetimeFigureOut">
              <a:rPr lang="en-US" smtClean="0"/>
              <a:t>3/10/23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794871-A1AB-7F4A-916F-7F9C9929B5D0}"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524622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A6DF682E-6C26-CB44-AB08-21559BA90446}" type="datetimeFigureOut">
              <a:rPr lang="en-US" smtClean="0"/>
              <a:t>3/10/23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794871-A1AB-7F4A-916F-7F9C9929B5D0}"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137196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DF682E-6C26-CB44-AB08-21559BA90446}" type="datetimeFigureOut">
              <a:rPr lang="en-US" smtClean="0"/>
              <a:t>3/10/23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794871-A1AB-7F4A-916F-7F9C9929B5D0}" type="slidenum">
              <a:rPr lang="en-US" smtClean="0"/>
              <a:t>‹#›</a:t>
            </a:fld>
            <a:endParaRPr lang="en-US"/>
          </a:p>
        </p:txBody>
      </p:sp>
    </p:spTree>
    <p:extLst>
      <p:ext uri="{BB962C8B-B14F-4D97-AF65-F5344CB8AC3E}">
        <p14:creationId xmlns:p14="http://schemas.microsoft.com/office/powerpoint/2010/main" val="333289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DF682E-6C26-CB44-AB08-21559BA90446}" type="datetimeFigureOut">
              <a:rPr lang="en-US" smtClean="0"/>
              <a:t>3/10/23</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0E794871-A1AB-7F4A-916F-7F9C9929B5D0}" type="slidenum">
              <a:rPr lang="en-US" smtClean="0"/>
              <a:t>‹#›</a:t>
            </a:fld>
            <a:endParaRPr lang="en-US"/>
          </a:p>
        </p:txBody>
      </p:sp>
    </p:spTree>
    <p:extLst>
      <p:ext uri="{BB962C8B-B14F-4D97-AF65-F5344CB8AC3E}">
        <p14:creationId xmlns:p14="http://schemas.microsoft.com/office/powerpoint/2010/main" val="17521362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DF682E-6C26-CB44-AB08-21559BA90446}" type="datetimeFigureOut">
              <a:rPr lang="en-US" smtClean="0"/>
              <a:t>3/10/23</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0E794871-A1AB-7F4A-916F-7F9C9929B5D0}" type="slidenum">
              <a:rPr lang="en-US" smtClean="0"/>
              <a:t>‹#›</a:t>
            </a:fld>
            <a:endParaRPr lang="en-US"/>
          </a:p>
        </p:txBody>
      </p:sp>
    </p:spTree>
    <p:extLst>
      <p:ext uri="{BB962C8B-B14F-4D97-AF65-F5344CB8AC3E}">
        <p14:creationId xmlns:p14="http://schemas.microsoft.com/office/powerpoint/2010/main" val="2555949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6DF682E-6C26-CB44-AB08-21559BA90446}" type="datetimeFigureOut">
              <a:rPr lang="en-US" smtClean="0"/>
              <a:t>3/10/23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794871-A1AB-7F4A-916F-7F9C9929B5D0}" type="slidenum">
              <a:rPr lang="en-US" smtClean="0"/>
              <a:t>‹#›</a:t>
            </a:fld>
            <a:endParaRPr lang="en-US"/>
          </a:p>
        </p:txBody>
      </p:sp>
    </p:spTree>
    <p:extLst>
      <p:ext uri="{BB962C8B-B14F-4D97-AF65-F5344CB8AC3E}">
        <p14:creationId xmlns:p14="http://schemas.microsoft.com/office/powerpoint/2010/main" val="3822904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DF682E-6C26-CB44-AB08-21559BA90446}" type="datetimeFigureOut">
              <a:rPr lang="en-US" smtClean="0"/>
              <a:t>3/10/23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794871-A1AB-7F4A-916F-7F9C9929B5D0}" type="slidenum">
              <a:rPr lang="en-US" smtClean="0"/>
              <a:t>‹#›</a:t>
            </a:fld>
            <a:endParaRPr lang="en-US"/>
          </a:p>
        </p:txBody>
      </p:sp>
    </p:spTree>
    <p:extLst>
      <p:ext uri="{BB962C8B-B14F-4D97-AF65-F5344CB8AC3E}">
        <p14:creationId xmlns:p14="http://schemas.microsoft.com/office/powerpoint/2010/main" val="28988013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A6DF682E-6C26-CB44-AB08-21559BA90446}" type="datetimeFigureOut">
              <a:rPr lang="en-US" smtClean="0"/>
              <a:t>3/10/23</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0E794871-A1AB-7F4A-916F-7F9C9929B5D0}" type="slidenum">
              <a:rPr lang="en-US" smtClean="0"/>
              <a:t>‹#›</a:t>
            </a:fld>
            <a:endParaRPr lang="en-US"/>
          </a:p>
        </p:txBody>
      </p:sp>
    </p:spTree>
    <p:extLst>
      <p:ext uri="{BB962C8B-B14F-4D97-AF65-F5344CB8AC3E}">
        <p14:creationId xmlns:p14="http://schemas.microsoft.com/office/powerpoint/2010/main" val="354339768"/>
      </p:ext>
    </p:extLst>
  </p:cSld>
  <p:clrMap bg1="lt1" tx1="dk1" bg2="lt2" tx2="dk2" accent1="accent1" accent2="accent2" accent3="accent3" accent4="accent4" accent5="accent5" accent6="accent6" hlink="hlink" folHlink="folHlink"/>
  <p:sldLayoutIdLst>
    <p:sldLayoutId id="2147483980" r:id="rId1"/>
    <p:sldLayoutId id="2147483981" r:id="rId2"/>
    <p:sldLayoutId id="2147483982" r:id="rId3"/>
    <p:sldLayoutId id="2147483983" r:id="rId4"/>
    <p:sldLayoutId id="2147483984" r:id="rId5"/>
    <p:sldLayoutId id="2147483985" r:id="rId6"/>
    <p:sldLayoutId id="2147483986" r:id="rId7"/>
    <p:sldLayoutId id="2147483987" r:id="rId8"/>
    <p:sldLayoutId id="2147483988" r:id="rId9"/>
    <p:sldLayoutId id="2147483989" r:id="rId10"/>
    <p:sldLayoutId id="2147483990"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975DC-C110-4A4B-8EBC-8EDD11D46EF3}"/>
              </a:ext>
            </a:extLst>
          </p:cNvPr>
          <p:cNvSpPr>
            <a:spLocks noGrp="1"/>
          </p:cNvSpPr>
          <p:nvPr>
            <p:ph type="ctrTitle"/>
          </p:nvPr>
        </p:nvSpPr>
        <p:spPr/>
        <p:txBody>
          <a:bodyPr/>
          <a:lstStyle/>
          <a:p>
            <a:r>
              <a:rPr lang="en-US" sz="8000" dirty="0"/>
              <a:t>Pack finances &amp; budget</a:t>
            </a:r>
            <a:br>
              <a:rPr lang="en-US" sz="8000" dirty="0"/>
            </a:br>
            <a:r>
              <a:rPr lang="en-US" sz="8000" dirty="0"/>
              <a:t>Course #149</a:t>
            </a:r>
          </a:p>
        </p:txBody>
      </p:sp>
      <p:sp>
        <p:nvSpPr>
          <p:cNvPr id="3" name="Subtitle 2">
            <a:extLst>
              <a:ext uri="{FF2B5EF4-FFF2-40B4-BE49-F238E27FC236}">
                <a16:creationId xmlns:a16="http://schemas.microsoft.com/office/drawing/2014/main" id="{24FD9DB1-3159-824A-A3D4-FCBA44C87304}"/>
              </a:ext>
            </a:extLst>
          </p:cNvPr>
          <p:cNvSpPr>
            <a:spLocks noGrp="1"/>
          </p:cNvSpPr>
          <p:nvPr>
            <p:ph type="subTitle" idx="1"/>
          </p:nvPr>
        </p:nvSpPr>
        <p:spPr/>
        <p:txBody>
          <a:bodyPr>
            <a:normAutofit fontScale="92500" lnSpcReduction="20000"/>
          </a:bodyPr>
          <a:lstStyle/>
          <a:p>
            <a:r>
              <a:rPr lang="en-US" dirty="0"/>
              <a:t>Twin Rivers Council University of Scouting</a:t>
            </a:r>
          </a:p>
          <a:p>
            <a:r>
              <a:rPr lang="en-US" dirty="0"/>
              <a:t>March 18, 2023</a:t>
            </a:r>
          </a:p>
          <a:p>
            <a:r>
              <a:rPr lang="en-US" dirty="0"/>
              <a:t>Period 2</a:t>
            </a:r>
          </a:p>
        </p:txBody>
      </p:sp>
    </p:spTree>
    <p:extLst>
      <p:ext uri="{BB962C8B-B14F-4D97-AF65-F5344CB8AC3E}">
        <p14:creationId xmlns:p14="http://schemas.microsoft.com/office/powerpoint/2010/main" val="820080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DDD76-586F-AA40-B7B2-98CA199C15D8}"/>
              </a:ext>
            </a:extLst>
          </p:cNvPr>
          <p:cNvSpPr>
            <a:spLocks noGrp="1"/>
          </p:cNvSpPr>
          <p:nvPr>
            <p:ph type="title"/>
          </p:nvPr>
        </p:nvSpPr>
        <p:spPr/>
        <p:txBody>
          <a:bodyPr/>
          <a:lstStyle/>
          <a:p>
            <a:r>
              <a:rPr lang="en-US" dirty="0"/>
              <a:t>disclaimer</a:t>
            </a:r>
          </a:p>
        </p:txBody>
      </p:sp>
      <p:sp>
        <p:nvSpPr>
          <p:cNvPr id="3" name="Content Placeholder 2">
            <a:extLst>
              <a:ext uri="{FF2B5EF4-FFF2-40B4-BE49-F238E27FC236}">
                <a16:creationId xmlns:a16="http://schemas.microsoft.com/office/drawing/2014/main" id="{BE6FE2BF-BAE9-8641-ADDB-7396F04E2251}"/>
              </a:ext>
            </a:extLst>
          </p:cNvPr>
          <p:cNvSpPr>
            <a:spLocks noGrp="1"/>
          </p:cNvSpPr>
          <p:nvPr>
            <p:ph idx="1"/>
          </p:nvPr>
        </p:nvSpPr>
        <p:spPr/>
        <p:txBody>
          <a:bodyPr/>
          <a:lstStyle/>
          <a:p>
            <a:r>
              <a:rPr lang="en-US" dirty="0"/>
              <a:t>As they have on the screen before you watch most movies on DVDs and Blu-Rays…“The views expressed in these slides are solely those of the individuals (i.e. Josh and I) providing them and do not represent or reflect the opinions of the Twin Rivers council, the BSA, affiliates or employees”</a:t>
            </a:r>
          </a:p>
        </p:txBody>
      </p:sp>
    </p:spTree>
    <p:extLst>
      <p:ext uri="{BB962C8B-B14F-4D97-AF65-F5344CB8AC3E}">
        <p14:creationId xmlns:p14="http://schemas.microsoft.com/office/powerpoint/2010/main" val="38763026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627AB-2916-F740-9269-4F480F3A1CB7}"/>
              </a:ext>
            </a:extLst>
          </p:cNvPr>
          <p:cNvSpPr>
            <a:spLocks noGrp="1"/>
          </p:cNvSpPr>
          <p:nvPr>
            <p:ph type="title"/>
          </p:nvPr>
        </p:nvSpPr>
        <p:spPr/>
        <p:txBody>
          <a:bodyPr/>
          <a:lstStyle/>
          <a:p>
            <a:r>
              <a:rPr lang="en-US" dirty="0"/>
              <a:t>Rob’s finance and scouting background</a:t>
            </a:r>
          </a:p>
        </p:txBody>
      </p:sp>
      <p:sp>
        <p:nvSpPr>
          <p:cNvPr id="3" name="Content Placeholder 2">
            <a:extLst>
              <a:ext uri="{FF2B5EF4-FFF2-40B4-BE49-F238E27FC236}">
                <a16:creationId xmlns:a16="http://schemas.microsoft.com/office/drawing/2014/main" id="{FFEF8BB4-34F4-2F45-9EB3-57764C00ABAD}"/>
              </a:ext>
            </a:extLst>
          </p:cNvPr>
          <p:cNvSpPr>
            <a:spLocks noGrp="1"/>
          </p:cNvSpPr>
          <p:nvPr>
            <p:ph idx="1"/>
          </p:nvPr>
        </p:nvSpPr>
        <p:spPr/>
        <p:txBody>
          <a:bodyPr>
            <a:normAutofit lnSpcReduction="10000"/>
          </a:bodyPr>
          <a:lstStyle/>
          <a:p>
            <a:r>
              <a:rPr lang="en-US" dirty="0"/>
              <a:t>I am an Eagle Scout and a father of one</a:t>
            </a:r>
          </a:p>
          <a:p>
            <a:r>
              <a:rPr lang="en-US" dirty="0"/>
              <a:t>I completed Wood Badge training (2016), was on Wood Badge staff (2021) and I also visited </a:t>
            </a:r>
            <a:r>
              <a:rPr lang="en-US" dirty="0" err="1"/>
              <a:t>Gilwell</a:t>
            </a:r>
            <a:r>
              <a:rPr lang="en-US" dirty="0"/>
              <a:t> Park when I was a scout</a:t>
            </a:r>
          </a:p>
          <a:p>
            <a:r>
              <a:rPr lang="en-US" dirty="0"/>
              <a:t>I am the Committee Chair of Troops 1075 B&amp;G in Delmar</a:t>
            </a:r>
          </a:p>
          <a:p>
            <a:r>
              <a:rPr lang="en-US" dirty="0"/>
              <a:t>I am a Committee Member of Pack 1232 in Glenmont</a:t>
            </a:r>
          </a:p>
          <a:p>
            <a:r>
              <a:rPr lang="en-US" dirty="0"/>
              <a:t>I am the VP of Finance for Twin Rivers Council</a:t>
            </a:r>
          </a:p>
          <a:p>
            <a:r>
              <a:rPr lang="mr-IN" dirty="0"/>
              <a:t>…</a:t>
            </a:r>
            <a:r>
              <a:rPr lang="en-US" dirty="0"/>
              <a:t>but I have never been a pack treasurer (but we’ve got that covered / see next slide)</a:t>
            </a:r>
          </a:p>
          <a:p>
            <a:r>
              <a:rPr lang="en-US" dirty="0"/>
              <a:t>…however, I do have a MBA and I am an Executive Director at Morgan Stanley and their head of Public Finance Northeast Infrastructure</a:t>
            </a:r>
          </a:p>
          <a:p>
            <a:pPr lvl="1"/>
            <a:r>
              <a:rPr lang="en-US" dirty="0"/>
              <a:t>I am FINRA registered with Series SIE, 7, 53, 63 and 79 licenses</a:t>
            </a:r>
          </a:p>
          <a:p>
            <a:pPr lvl="1"/>
            <a:r>
              <a:rPr lang="en-US" dirty="0"/>
              <a:t>I have led over $30 billion of municipal securities bond issuances</a:t>
            </a:r>
          </a:p>
          <a:p>
            <a:endParaRPr lang="en-US" dirty="0"/>
          </a:p>
        </p:txBody>
      </p:sp>
    </p:spTree>
    <p:extLst>
      <p:ext uri="{BB962C8B-B14F-4D97-AF65-F5344CB8AC3E}">
        <p14:creationId xmlns:p14="http://schemas.microsoft.com/office/powerpoint/2010/main" val="4253550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627AB-2916-F740-9269-4F480F3A1CB7}"/>
              </a:ext>
            </a:extLst>
          </p:cNvPr>
          <p:cNvSpPr>
            <a:spLocks noGrp="1"/>
          </p:cNvSpPr>
          <p:nvPr>
            <p:ph type="title"/>
          </p:nvPr>
        </p:nvSpPr>
        <p:spPr/>
        <p:txBody>
          <a:bodyPr/>
          <a:lstStyle/>
          <a:p>
            <a:r>
              <a:rPr lang="en-US" dirty="0"/>
              <a:t>Josh’s finance and scouting background</a:t>
            </a:r>
          </a:p>
        </p:txBody>
      </p:sp>
      <p:sp>
        <p:nvSpPr>
          <p:cNvPr id="3" name="Content Placeholder 2">
            <a:extLst>
              <a:ext uri="{FF2B5EF4-FFF2-40B4-BE49-F238E27FC236}">
                <a16:creationId xmlns:a16="http://schemas.microsoft.com/office/drawing/2014/main" id="{FFEF8BB4-34F4-2F45-9EB3-57764C00ABAD}"/>
              </a:ext>
            </a:extLst>
          </p:cNvPr>
          <p:cNvSpPr>
            <a:spLocks noGrp="1"/>
          </p:cNvSpPr>
          <p:nvPr>
            <p:ph idx="1"/>
          </p:nvPr>
        </p:nvSpPr>
        <p:spPr/>
        <p:txBody>
          <a:bodyPr/>
          <a:lstStyle/>
          <a:p>
            <a:r>
              <a:rPr lang="en-US" dirty="0"/>
              <a:t>I am an Eagle Scout and father of four with 2 boys currently in Cub Scouts and 1 boy in Scouts BSA</a:t>
            </a:r>
          </a:p>
          <a:p>
            <a:r>
              <a:rPr lang="en-US" dirty="0"/>
              <a:t>I am the Treasurer and Charter Organization Representative for Pack 1232</a:t>
            </a:r>
          </a:p>
          <a:p>
            <a:r>
              <a:rPr lang="en-US" dirty="0"/>
              <a:t>I have a BS in Economics and am a serial entrepreneur having founded and managed many online businesses.</a:t>
            </a:r>
          </a:p>
          <a:p>
            <a:r>
              <a:rPr lang="en-US" dirty="0"/>
              <a:t>I am the Chair of the Finance Committee for two other non-profit boards.</a:t>
            </a:r>
          </a:p>
          <a:p>
            <a:endParaRPr lang="en-US" dirty="0"/>
          </a:p>
        </p:txBody>
      </p:sp>
    </p:spTree>
    <p:extLst>
      <p:ext uri="{BB962C8B-B14F-4D97-AF65-F5344CB8AC3E}">
        <p14:creationId xmlns:p14="http://schemas.microsoft.com/office/powerpoint/2010/main" val="2559935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C0AE6-907D-1447-87EC-9534494840A5}"/>
              </a:ext>
            </a:extLst>
          </p:cNvPr>
          <p:cNvSpPr>
            <a:spLocks noGrp="1"/>
          </p:cNvSpPr>
          <p:nvPr>
            <p:ph type="title"/>
          </p:nvPr>
        </p:nvSpPr>
        <p:spPr/>
        <p:txBody>
          <a:bodyPr>
            <a:normAutofit/>
          </a:bodyPr>
          <a:lstStyle/>
          <a:p>
            <a:r>
              <a:rPr lang="en-US" dirty="0"/>
              <a:t>Why are Pack Finances and Budgeting so important?</a:t>
            </a:r>
          </a:p>
        </p:txBody>
      </p:sp>
      <p:sp>
        <p:nvSpPr>
          <p:cNvPr id="3" name="Content Placeholder 2">
            <a:extLst>
              <a:ext uri="{FF2B5EF4-FFF2-40B4-BE49-F238E27FC236}">
                <a16:creationId xmlns:a16="http://schemas.microsoft.com/office/drawing/2014/main" id="{CB2964AD-F360-7747-A2C4-2809C0E95FCB}"/>
              </a:ext>
            </a:extLst>
          </p:cNvPr>
          <p:cNvSpPr>
            <a:spLocks noGrp="1"/>
          </p:cNvSpPr>
          <p:nvPr>
            <p:ph idx="1"/>
          </p:nvPr>
        </p:nvSpPr>
        <p:spPr/>
        <p:txBody>
          <a:bodyPr/>
          <a:lstStyle/>
          <a:p>
            <a:r>
              <a:rPr lang="en-US" dirty="0"/>
              <a:t>&gt;$5k can easily flow through a Pack’s account in one year</a:t>
            </a:r>
          </a:p>
          <a:p>
            <a:r>
              <a:rPr lang="en-US" dirty="0"/>
              <a:t>Be cognizant that the Pack and its assets are owned by the Charter Organization</a:t>
            </a:r>
          </a:p>
          <a:p>
            <a:r>
              <a:rPr lang="en-US" dirty="0"/>
              <a:t>Allows the Committee Chair and the Cubmaster to properly manage and operate the Pack</a:t>
            </a:r>
          </a:p>
          <a:p>
            <a:r>
              <a:rPr lang="en-US" dirty="0"/>
              <a:t>“A scout is thrifty” does not mean “A scout is stingy”</a:t>
            </a:r>
          </a:p>
          <a:p>
            <a:r>
              <a:rPr lang="en-US" dirty="0"/>
              <a:t>Not everyone follows the first tenant of the Scout Law…</a:t>
            </a:r>
          </a:p>
        </p:txBody>
      </p:sp>
      <p:pic>
        <p:nvPicPr>
          <p:cNvPr id="7" name="Picture 6">
            <a:extLst>
              <a:ext uri="{FF2B5EF4-FFF2-40B4-BE49-F238E27FC236}">
                <a16:creationId xmlns:a16="http://schemas.microsoft.com/office/drawing/2014/main" id="{C61981FF-4C69-E94F-A837-E255EC5AD7AF}"/>
              </a:ext>
            </a:extLst>
          </p:cNvPr>
          <p:cNvPicPr>
            <a:picLocks noChangeAspect="1"/>
          </p:cNvPicPr>
          <p:nvPr/>
        </p:nvPicPr>
        <p:blipFill>
          <a:blip r:embed="rId2"/>
          <a:stretch>
            <a:fillRect/>
          </a:stretch>
        </p:blipFill>
        <p:spPr>
          <a:xfrm>
            <a:off x="365726" y="4527379"/>
            <a:ext cx="11188700" cy="1016000"/>
          </a:xfrm>
          <a:prstGeom prst="rect">
            <a:avLst/>
          </a:prstGeom>
        </p:spPr>
      </p:pic>
      <p:pic>
        <p:nvPicPr>
          <p:cNvPr id="9" name="Picture 8">
            <a:extLst>
              <a:ext uri="{FF2B5EF4-FFF2-40B4-BE49-F238E27FC236}">
                <a16:creationId xmlns:a16="http://schemas.microsoft.com/office/drawing/2014/main" id="{05526E98-46F9-C648-AB2C-36B9572BC583}"/>
              </a:ext>
            </a:extLst>
          </p:cNvPr>
          <p:cNvPicPr>
            <a:picLocks noChangeAspect="1"/>
          </p:cNvPicPr>
          <p:nvPr/>
        </p:nvPicPr>
        <p:blipFill>
          <a:blip r:embed="rId3"/>
          <a:stretch>
            <a:fillRect/>
          </a:stretch>
        </p:blipFill>
        <p:spPr>
          <a:xfrm>
            <a:off x="607026" y="5534111"/>
            <a:ext cx="10706100" cy="952500"/>
          </a:xfrm>
          <a:prstGeom prst="rect">
            <a:avLst/>
          </a:prstGeom>
        </p:spPr>
      </p:pic>
    </p:spTree>
    <p:extLst>
      <p:ext uri="{BB962C8B-B14F-4D97-AF65-F5344CB8AC3E}">
        <p14:creationId xmlns:p14="http://schemas.microsoft.com/office/powerpoint/2010/main" val="2751009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94F6C-40F9-D845-B101-0260F8CC76A0}"/>
              </a:ext>
            </a:extLst>
          </p:cNvPr>
          <p:cNvSpPr>
            <a:spLocks noGrp="1"/>
          </p:cNvSpPr>
          <p:nvPr>
            <p:ph type="title"/>
          </p:nvPr>
        </p:nvSpPr>
        <p:spPr/>
        <p:txBody>
          <a:bodyPr/>
          <a:lstStyle/>
          <a:p>
            <a:r>
              <a:rPr lang="en-US" dirty="0"/>
              <a:t>Selecting and Training a pack treasurer</a:t>
            </a:r>
          </a:p>
        </p:txBody>
      </p:sp>
      <p:sp>
        <p:nvSpPr>
          <p:cNvPr id="3" name="Content Placeholder 2">
            <a:extLst>
              <a:ext uri="{FF2B5EF4-FFF2-40B4-BE49-F238E27FC236}">
                <a16:creationId xmlns:a16="http://schemas.microsoft.com/office/drawing/2014/main" id="{9FDCAC65-ADE8-854D-B3E0-A11C5EE2FBB6}"/>
              </a:ext>
            </a:extLst>
          </p:cNvPr>
          <p:cNvSpPr>
            <a:spLocks noGrp="1"/>
          </p:cNvSpPr>
          <p:nvPr>
            <p:ph idx="1"/>
          </p:nvPr>
        </p:nvSpPr>
        <p:spPr/>
        <p:txBody>
          <a:bodyPr/>
          <a:lstStyle/>
          <a:p>
            <a:r>
              <a:rPr lang="en-US" dirty="0"/>
              <a:t>Finance education/career is important</a:t>
            </a:r>
          </a:p>
          <a:p>
            <a:r>
              <a:rPr lang="en-US" dirty="0"/>
              <a:t>Know them…can you trust them?</a:t>
            </a:r>
          </a:p>
          <a:p>
            <a:r>
              <a:rPr lang="en-US" dirty="0"/>
              <a:t>Recruit them…do not necessarily take the first person to volunteer</a:t>
            </a:r>
          </a:p>
          <a:p>
            <a:r>
              <a:rPr lang="en-US" dirty="0"/>
              <a:t>The ideal candidate may not be the best candidate on paper</a:t>
            </a:r>
          </a:p>
          <a:p>
            <a:r>
              <a:rPr lang="en-US" dirty="0"/>
              <a:t>Ensure that there is a period of time for the current treasurer to train their successor</a:t>
            </a:r>
          </a:p>
          <a:p>
            <a:pPr lvl="1"/>
            <a:r>
              <a:rPr lang="en-US" dirty="0"/>
              <a:t>Having a Pack Treasurer “How To” Manual speeds up onboarding and helps recruit successors</a:t>
            </a:r>
          </a:p>
          <a:p>
            <a:endParaRPr lang="en-US" dirty="0"/>
          </a:p>
        </p:txBody>
      </p:sp>
    </p:spTree>
    <p:extLst>
      <p:ext uri="{BB962C8B-B14F-4D97-AF65-F5344CB8AC3E}">
        <p14:creationId xmlns:p14="http://schemas.microsoft.com/office/powerpoint/2010/main" val="2916228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49CEA-B3EE-8B46-9967-62EAE42FF919}"/>
              </a:ext>
            </a:extLst>
          </p:cNvPr>
          <p:cNvSpPr>
            <a:spLocks noGrp="1"/>
          </p:cNvSpPr>
          <p:nvPr>
            <p:ph type="title"/>
          </p:nvPr>
        </p:nvSpPr>
        <p:spPr/>
        <p:txBody>
          <a:bodyPr/>
          <a:lstStyle/>
          <a:p>
            <a:r>
              <a:rPr lang="en-US" dirty="0"/>
              <a:t>Goals for a Pack Treasurer</a:t>
            </a:r>
          </a:p>
        </p:txBody>
      </p:sp>
      <p:sp>
        <p:nvSpPr>
          <p:cNvPr id="3" name="Content Placeholder 2">
            <a:extLst>
              <a:ext uri="{FF2B5EF4-FFF2-40B4-BE49-F238E27FC236}">
                <a16:creationId xmlns:a16="http://schemas.microsoft.com/office/drawing/2014/main" id="{D6A39FA7-8570-FC4B-B306-F24EA7B4D55A}"/>
              </a:ext>
            </a:extLst>
          </p:cNvPr>
          <p:cNvSpPr>
            <a:spLocks noGrp="1"/>
          </p:cNvSpPr>
          <p:nvPr>
            <p:ph idx="1"/>
          </p:nvPr>
        </p:nvSpPr>
        <p:spPr/>
        <p:txBody>
          <a:bodyPr/>
          <a:lstStyle/>
          <a:p>
            <a:r>
              <a:rPr lang="en-US" dirty="0"/>
              <a:t>What is the Cubmaster/Den Leaders trying to achieve in the Scout Year?</a:t>
            </a:r>
          </a:p>
          <a:p>
            <a:pPr lvl="1"/>
            <a:r>
              <a:rPr lang="en-US" dirty="0"/>
              <a:t>Big trip(s)?</a:t>
            </a:r>
          </a:p>
          <a:p>
            <a:pPr lvl="1"/>
            <a:r>
              <a:rPr lang="en-US" dirty="0"/>
              <a:t>Big purchase?</a:t>
            </a:r>
          </a:p>
          <a:p>
            <a:pPr lvl="1"/>
            <a:r>
              <a:rPr lang="en-US" dirty="0"/>
              <a:t>Send scouts to summer camp?</a:t>
            </a:r>
          </a:p>
          <a:p>
            <a:pPr lvl="1"/>
            <a:r>
              <a:rPr lang="en-US" dirty="0"/>
              <a:t>Subsidize Pack/Den activities</a:t>
            </a:r>
          </a:p>
          <a:p>
            <a:pPr lvl="1"/>
            <a:r>
              <a:rPr lang="en-US" dirty="0"/>
              <a:t>Help families in need?</a:t>
            </a:r>
          </a:p>
          <a:p>
            <a:pPr lvl="1"/>
            <a:r>
              <a:rPr lang="en-US" dirty="0"/>
              <a:t>Train the leaders?</a:t>
            </a:r>
          </a:p>
          <a:p>
            <a:r>
              <a:rPr lang="en-US" dirty="0"/>
              <a:t>Cashflow positive</a:t>
            </a:r>
          </a:p>
          <a:p>
            <a:r>
              <a:rPr lang="en-US" dirty="0"/>
              <a:t>Rainy Day fund</a:t>
            </a:r>
          </a:p>
          <a:p>
            <a:r>
              <a:rPr lang="en-US" dirty="0"/>
              <a:t>Setting realistic revenue projections</a:t>
            </a:r>
          </a:p>
          <a:p>
            <a:r>
              <a:rPr lang="en-US" dirty="0"/>
              <a:t>Identifying </a:t>
            </a:r>
            <a:r>
              <a:rPr lang="en-US" b="1" u="sng" dirty="0"/>
              <a:t>necessary</a:t>
            </a:r>
            <a:r>
              <a:rPr lang="en-US" dirty="0"/>
              <a:t> recurring and nonrecurring expenses</a:t>
            </a:r>
          </a:p>
        </p:txBody>
      </p:sp>
    </p:spTree>
    <p:extLst>
      <p:ext uri="{BB962C8B-B14F-4D97-AF65-F5344CB8AC3E}">
        <p14:creationId xmlns:p14="http://schemas.microsoft.com/office/powerpoint/2010/main" val="2475269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20D91-8D1D-9041-BA07-0534E2B748F4}"/>
              </a:ext>
            </a:extLst>
          </p:cNvPr>
          <p:cNvSpPr>
            <a:spLocks noGrp="1"/>
          </p:cNvSpPr>
          <p:nvPr>
            <p:ph type="title"/>
          </p:nvPr>
        </p:nvSpPr>
        <p:spPr/>
        <p:txBody>
          <a:bodyPr/>
          <a:lstStyle/>
          <a:p>
            <a:r>
              <a:rPr lang="en-US" dirty="0"/>
              <a:t>Pack Funds – best practices</a:t>
            </a:r>
          </a:p>
        </p:txBody>
      </p:sp>
      <p:sp>
        <p:nvSpPr>
          <p:cNvPr id="3" name="Content Placeholder 2">
            <a:extLst>
              <a:ext uri="{FF2B5EF4-FFF2-40B4-BE49-F238E27FC236}">
                <a16:creationId xmlns:a16="http://schemas.microsoft.com/office/drawing/2014/main" id="{34E0A63A-3993-A346-9AE3-0C2327FDDF86}"/>
              </a:ext>
            </a:extLst>
          </p:cNvPr>
          <p:cNvSpPr>
            <a:spLocks noGrp="1"/>
          </p:cNvSpPr>
          <p:nvPr>
            <p:ph idx="1"/>
          </p:nvPr>
        </p:nvSpPr>
        <p:spPr/>
        <p:txBody>
          <a:bodyPr>
            <a:normAutofit fontScale="70000" lnSpcReduction="20000"/>
          </a:bodyPr>
          <a:lstStyle/>
          <a:p>
            <a:r>
              <a:rPr lang="en-US" dirty="0"/>
              <a:t>Have a Pack bank account:</a:t>
            </a:r>
          </a:p>
          <a:p>
            <a:pPr lvl="1"/>
            <a:r>
              <a:rPr lang="en-US" dirty="0"/>
              <a:t>Checking</a:t>
            </a:r>
          </a:p>
          <a:p>
            <a:pPr lvl="1"/>
            <a:r>
              <a:rPr lang="en-US" dirty="0"/>
              <a:t>Online payments</a:t>
            </a:r>
          </a:p>
          <a:p>
            <a:pPr lvl="1"/>
            <a:r>
              <a:rPr lang="en-US" dirty="0"/>
              <a:t>Debit card</a:t>
            </a:r>
          </a:p>
          <a:p>
            <a:pPr lvl="1"/>
            <a:r>
              <a:rPr lang="en-US" dirty="0"/>
              <a:t>Rainy day fund</a:t>
            </a:r>
          </a:p>
          <a:p>
            <a:pPr lvl="1"/>
            <a:r>
              <a:rPr lang="en-US" dirty="0"/>
              <a:t>Special purchase account</a:t>
            </a:r>
          </a:p>
          <a:p>
            <a:r>
              <a:rPr lang="en-US" dirty="0"/>
              <a:t>Two unrelated people on the bank account (Committee Chair &amp; Treasurer)</a:t>
            </a:r>
          </a:p>
          <a:p>
            <a:pPr lvl="1"/>
            <a:r>
              <a:rPr lang="en-US" dirty="0"/>
              <a:t>Not the Cubmaster</a:t>
            </a:r>
          </a:p>
          <a:p>
            <a:r>
              <a:rPr lang="en-US" dirty="0"/>
              <a:t>Annually audit the account by an independent/financially savvy Pack parent</a:t>
            </a:r>
          </a:p>
          <a:p>
            <a:pPr lvl="1"/>
            <a:r>
              <a:rPr lang="en-US" dirty="0"/>
              <a:t>You are also recruiting a future Pack Treasurer at the same time</a:t>
            </a:r>
          </a:p>
          <a:p>
            <a:r>
              <a:rPr lang="en-US" dirty="0"/>
              <a:t>Two adults sign off on cash deposits</a:t>
            </a:r>
          </a:p>
          <a:p>
            <a:r>
              <a:rPr lang="en-US" dirty="0"/>
              <a:t>Do not sign checks reimbursing yourself or your spouse</a:t>
            </a:r>
          </a:p>
          <a:p>
            <a:r>
              <a:rPr lang="en-US" dirty="0"/>
              <a:t>Control on expense reimbursements</a:t>
            </a:r>
          </a:p>
          <a:p>
            <a:pPr lvl="1"/>
            <a:r>
              <a:rPr lang="en-US" dirty="0"/>
              <a:t>Adults send receipts to Pack Treasurer and Committee Chair to reimburse</a:t>
            </a:r>
          </a:p>
          <a:p>
            <a:pPr lvl="1"/>
            <a:r>
              <a:rPr lang="en-US" dirty="0"/>
              <a:t>Acknowledgement is sent by Pack Treasurer to adult with a cc to Committee Chair</a:t>
            </a:r>
          </a:p>
          <a:p>
            <a:pPr lvl="1"/>
            <a:r>
              <a:rPr lang="en-US" dirty="0"/>
              <a:t>Do not net </a:t>
            </a:r>
            <a:r>
              <a:rPr lang="mr-IN" dirty="0"/>
              <a:t>–</a:t>
            </a:r>
            <a:r>
              <a:rPr lang="en-US" dirty="0"/>
              <a:t> for example, a family pays for full cost for event and then receives reimbursement for any Pack subsidy rather than the net of the two.</a:t>
            </a:r>
          </a:p>
        </p:txBody>
      </p:sp>
    </p:spTree>
    <p:extLst>
      <p:ext uri="{BB962C8B-B14F-4D97-AF65-F5344CB8AC3E}">
        <p14:creationId xmlns:p14="http://schemas.microsoft.com/office/powerpoint/2010/main" val="2416195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999E7-6560-1348-9EF5-E640D79E7CF0}"/>
              </a:ext>
            </a:extLst>
          </p:cNvPr>
          <p:cNvSpPr>
            <a:spLocks noGrp="1"/>
          </p:cNvSpPr>
          <p:nvPr>
            <p:ph type="title"/>
          </p:nvPr>
        </p:nvSpPr>
        <p:spPr/>
        <p:txBody>
          <a:bodyPr/>
          <a:lstStyle/>
          <a:p>
            <a:r>
              <a:rPr lang="en-US" dirty="0"/>
              <a:t>Challenges you may face</a:t>
            </a:r>
          </a:p>
        </p:txBody>
      </p:sp>
      <p:sp>
        <p:nvSpPr>
          <p:cNvPr id="3" name="Content Placeholder 2">
            <a:extLst>
              <a:ext uri="{FF2B5EF4-FFF2-40B4-BE49-F238E27FC236}">
                <a16:creationId xmlns:a16="http://schemas.microsoft.com/office/drawing/2014/main" id="{0E60189C-4374-FB4E-ACF7-0C9914921004}"/>
              </a:ext>
            </a:extLst>
          </p:cNvPr>
          <p:cNvSpPr>
            <a:spLocks noGrp="1"/>
          </p:cNvSpPr>
          <p:nvPr>
            <p:ph idx="1"/>
          </p:nvPr>
        </p:nvSpPr>
        <p:spPr/>
        <p:txBody>
          <a:bodyPr>
            <a:normAutofit lnSpcReduction="10000"/>
          </a:bodyPr>
          <a:lstStyle/>
          <a:p>
            <a:r>
              <a:rPr lang="en-US" dirty="0"/>
              <a:t>getting people to pay fees/dues in a reasonable amount of time</a:t>
            </a:r>
          </a:p>
          <a:p>
            <a:r>
              <a:rPr lang="en-US" dirty="0"/>
              <a:t>large cash flow variations due to erratic timing of income and expenses (especially popcorn sales and </a:t>
            </a:r>
            <a:r>
              <a:rPr lang="en-US" dirty="0" err="1"/>
              <a:t>rechartering</a:t>
            </a:r>
            <a:r>
              <a:rPr lang="en-US" dirty="0"/>
              <a:t> fees)</a:t>
            </a:r>
          </a:p>
          <a:p>
            <a:r>
              <a:rPr lang="en-US" dirty="0"/>
              <a:t>keeping complete and up to date records</a:t>
            </a:r>
          </a:p>
          <a:p>
            <a:pPr lvl="1"/>
            <a:r>
              <a:rPr lang="en-US" dirty="0"/>
              <a:t>keep records to help with future budgeting and transitioning to future Pack Treasurer(s).</a:t>
            </a:r>
          </a:p>
          <a:p>
            <a:pPr lvl="1"/>
            <a:r>
              <a:rPr lang="en-US" dirty="0"/>
              <a:t>keep records and receipts digitally for easy access by all, including transparency for current members and reference for future. </a:t>
            </a:r>
          </a:p>
          <a:p>
            <a:r>
              <a:rPr lang="en-US" dirty="0"/>
              <a:t>dealing with unforeseen circumstances (e.g., who is responsible for a bounced check fee?, do you reimburse someone who paid for but couldn’t come to an event?, how do you handle a budget mistake?)</a:t>
            </a:r>
          </a:p>
          <a:p>
            <a:r>
              <a:rPr lang="en-US" dirty="0"/>
              <a:t>Ownership of Square, </a:t>
            </a:r>
            <a:r>
              <a:rPr lang="en-US" dirty="0" err="1"/>
              <a:t>Paypal</a:t>
            </a:r>
            <a:r>
              <a:rPr lang="en-US" dirty="0"/>
              <a:t>, other online payment system</a:t>
            </a:r>
          </a:p>
          <a:p>
            <a:r>
              <a:rPr lang="en-US" b="1" dirty="0"/>
              <a:t>Challenge you won’t face </a:t>
            </a:r>
            <a:r>
              <a:rPr lang="mr-IN" dirty="0"/>
              <a:t>–</a:t>
            </a:r>
            <a:r>
              <a:rPr lang="en-US" dirty="0"/>
              <a:t> you don’t have to file tax returns for the Pack</a:t>
            </a:r>
          </a:p>
        </p:txBody>
      </p:sp>
    </p:spTree>
    <p:extLst>
      <p:ext uri="{BB962C8B-B14F-4D97-AF65-F5344CB8AC3E}">
        <p14:creationId xmlns:p14="http://schemas.microsoft.com/office/powerpoint/2010/main" val="2530150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4AD6B-B3C1-0140-BF03-034728B6FB23}"/>
              </a:ext>
            </a:extLst>
          </p:cNvPr>
          <p:cNvSpPr>
            <a:spLocks noGrp="1"/>
          </p:cNvSpPr>
          <p:nvPr>
            <p:ph type="title"/>
          </p:nvPr>
        </p:nvSpPr>
        <p:spPr/>
        <p:txBody>
          <a:bodyPr/>
          <a:lstStyle/>
          <a:p>
            <a:r>
              <a:rPr lang="en-US" dirty="0"/>
              <a:t>Pack revenues</a:t>
            </a:r>
          </a:p>
        </p:txBody>
      </p:sp>
      <p:sp>
        <p:nvSpPr>
          <p:cNvPr id="3" name="Content Placeholder 2">
            <a:extLst>
              <a:ext uri="{FF2B5EF4-FFF2-40B4-BE49-F238E27FC236}">
                <a16:creationId xmlns:a16="http://schemas.microsoft.com/office/drawing/2014/main" id="{9BEC6579-602D-AD45-91AA-CC160A7B46DE}"/>
              </a:ext>
            </a:extLst>
          </p:cNvPr>
          <p:cNvSpPr>
            <a:spLocks noGrp="1"/>
          </p:cNvSpPr>
          <p:nvPr>
            <p:ph idx="1"/>
          </p:nvPr>
        </p:nvSpPr>
        <p:spPr/>
        <p:txBody>
          <a:bodyPr>
            <a:normAutofit fontScale="70000" lnSpcReduction="20000"/>
          </a:bodyPr>
          <a:lstStyle/>
          <a:p>
            <a:r>
              <a:rPr lang="en-US" dirty="0"/>
              <a:t>Dues:</a:t>
            </a:r>
          </a:p>
          <a:p>
            <a:pPr lvl="1"/>
            <a:r>
              <a:rPr lang="en-US" dirty="0"/>
              <a:t>Discount for new members to offset $25 one-time joining fee?</a:t>
            </a:r>
          </a:p>
          <a:p>
            <a:pPr lvl="1"/>
            <a:r>
              <a:rPr lang="en-US" dirty="0"/>
              <a:t>Collection timing versus </a:t>
            </a:r>
            <a:r>
              <a:rPr lang="en-US" dirty="0" err="1"/>
              <a:t>recharter</a:t>
            </a:r>
            <a:r>
              <a:rPr lang="en-US" dirty="0"/>
              <a:t> (by 12/31)?</a:t>
            </a:r>
          </a:p>
          <a:p>
            <a:pPr lvl="2"/>
            <a:r>
              <a:rPr lang="en-US" dirty="0"/>
              <a:t>Per scout = $15 for Scout Life magazine annual subscription, $78 for registration, and $30 for TRC program/insurance</a:t>
            </a:r>
          </a:p>
          <a:p>
            <a:pPr lvl="2"/>
            <a:r>
              <a:rPr lang="en-US" dirty="0"/>
              <a:t>Per unit = $100 for unit liability insurance</a:t>
            </a:r>
          </a:p>
          <a:p>
            <a:pPr lvl="1"/>
            <a:r>
              <a:rPr lang="en-US" dirty="0"/>
              <a:t>When setting dues, keep in mind that other organized activities have high registration fees</a:t>
            </a:r>
          </a:p>
          <a:p>
            <a:r>
              <a:rPr lang="en-US" dirty="0"/>
              <a:t>Fundraising:</a:t>
            </a:r>
          </a:p>
          <a:p>
            <a:pPr lvl="1"/>
            <a:r>
              <a:rPr lang="en-US" dirty="0"/>
              <a:t>Popcorn and/or Camp Cards: </a:t>
            </a:r>
            <a:r>
              <a:rPr lang="en-US" dirty="0" err="1"/>
              <a:t>show&amp;sells</a:t>
            </a:r>
            <a:r>
              <a:rPr lang="en-US" dirty="0"/>
              <a:t>, door-to-door, and online</a:t>
            </a:r>
          </a:p>
          <a:p>
            <a:pPr lvl="2"/>
            <a:r>
              <a:rPr lang="en-US" dirty="0"/>
              <a:t>Consider accepting a donation (i.e. extra dues) in lieu of a family selling popcorn or participating in fundraisers</a:t>
            </a:r>
          </a:p>
          <a:p>
            <a:pPr lvl="1"/>
            <a:r>
              <a:rPr lang="en-US" dirty="0"/>
              <a:t>Other (see unit money earning application)</a:t>
            </a:r>
          </a:p>
          <a:p>
            <a:r>
              <a:rPr lang="en-US" dirty="0"/>
              <a:t>Activity Fees (e.g. camping, camporee, trip, etc.):</a:t>
            </a:r>
          </a:p>
          <a:p>
            <a:pPr lvl="1"/>
            <a:r>
              <a:rPr lang="en-US" dirty="0"/>
              <a:t>Don’t give away anything for free</a:t>
            </a:r>
          </a:p>
          <a:p>
            <a:pPr lvl="1"/>
            <a:r>
              <a:rPr lang="en-US" dirty="0"/>
              <a:t>Enforce collection on last minute drop outs if no replacement can be found for them</a:t>
            </a:r>
          </a:p>
          <a:p>
            <a:r>
              <a:rPr lang="en-US" dirty="0"/>
              <a:t>Grants (e.g. Stewarts Holiday Match)</a:t>
            </a:r>
          </a:p>
          <a:p>
            <a:pPr lvl="1"/>
            <a:r>
              <a:rPr lang="en-US" dirty="0"/>
              <a:t>Free money! You get dollar for dollar versus a % of popcorn or camp cards</a:t>
            </a:r>
          </a:p>
          <a:p>
            <a:r>
              <a:rPr lang="en-US" dirty="0"/>
              <a:t>Donations</a:t>
            </a:r>
          </a:p>
          <a:p>
            <a:pPr lvl="1"/>
            <a:r>
              <a:rPr lang="en-US" dirty="0"/>
              <a:t>Note that you cannot ask for donations during fundraiser show-and-sells but you can accept them</a:t>
            </a:r>
          </a:p>
        </p:txBody>
      </p:sp>
    </p:spTree>
    <p:extLst>
      <p:ext uri="{BB962C8B-B14F-4D97-AF65-F5344CB8AC3E}">
        <p14:creationId xmlns:p14="http://schemas.microsoft.com/office/powerpoint/2010/main" val="183054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1C4CF-6273-2048-9F8A-A0C2C68FB552}"/>
              </a:ext>
            </a:extLst>
          </p:cNvPr>
          <p:cNvSpPr>
            <a:spLocks noGrp="1"/>
          </p:cNvSpPr>
          <p:nvPr>
            <p:ph type="title"/>
          </p:nvPr>
        </p:nvSpPr>
        <p:spPr/>
        <p:txBody>
          <a:bodyPr/>
          <a:lstStyle/>
          <a:p>
            <a:r>
              <a:rPr lang="en-US" dirty="0"/>
              <a:t>Collection options</a:t>
            </a:r>
          </a:p>
        </p:txBody>
      </p:sp>
      <p:sp>
        <p:nvSpPr>
          <p:cNvPr id="3" name="Content Placeholder 2">
            <a:extLst>
              <a:ext uri="{FF2B5EF4-FFF2-40B4-BE49-F238E27FC236}">
                <a16:creationId xmlns:a16="http://schemas.microsoft.com/office/drawing/2014/main" id="{43A3D312-E7D6-7949-A494-59AC8328AAE4}"/>
              </a:ext>
            </a:extLst>
          </p:cNvPr>
          <p:cNvSpPr>
            <a:spLocks noGrp="1"/>
          </p:cNvSpPr>
          <p:nvPr>
            <p:ph idx="1"/>
          </p:nvPr>
        </p:nvSpPr>
        <p:spPr/>
        <p:txBody>
          <a:bodyPr/>
          <a:lstStyle/>
          <a:p>
            <a:r>
              <a:rPr lang="en-US" dirty="0"/>
              <a:t>Cash – two adult confirmation</a:t>
            </a:r>
          </a:p>
          <a:p>
            <a:r>
              <a:rPr lang="en-US" dirty="0"/>
              <a:t>Checks</a:t>
            </a:r>
          </a:p>
          <a:p>
            <a:r>
              <a:rPr lang="en-US" dirty="0" err="1"/>
              <a:t>Paypal</a:t>
            </a:r>
            <a:r>
              <a:rPr lang="en-US" dirty="0"/>
              <a:t> or </a:t>
            </a:r>
            <a:r>
              <a:rPr lang="en-US" dirty="0" err="1"/>
              <a:t>Venmo</a:t>
            </a:r>
            <a:r>
              <a:rPr lang="en-US" dirty="0"/>
              <a:t> – see if Pack website allows </a:t>
            </a:r>
            <a:r>
              <a:rPr lang="en-US" dirty="0" err="1"/>
              <a:t>Paypal</a:t>
            </a:r>
            <a:r>
              <a:rPr lang="en-US" dirty="0"/>
              <a:t> or </a:t>
            </a:r>
            <a:r>
              <a:rPr lang="en-US" dirty="0" err="1"/>
              <a:t>Venmo</a:t>
            </a:r>
            <a:r>
              <a:rPr lang="en-US" dirty="0"/>
              <a:t> features</a:t>
            </a:r>
          </a:p>
          <a:p>
            <a:pPr lvl="1"/>
            <a:r>
              <a:rPr lang="en-US" dirty="0"/>
              <a:t>Consider passing on the usage charge</a:t>
            </a:r>
          </a:p>
          <a:p>
            <a:r>
              <a:rPr lang="en-US" dirty="0"/>
              <a:t>Square – helps with popcorn sales and other fundraising</a:t>
            </a:r>
          </a:p>
        </p:txBody>
      </p:sp>
    </p:spTree>
    <p:extLst>
      <p:ext uri="{BB962C8B-B14F-4D97-AF65-F5344CB8AC3E}">
        <p14:creationId xmlns:p14="http://schemas.microsoft.com/office/powerpoint/2010/main" val="3557732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E26E8-9573-8746-9D3B-FF97AFAB8C2B}"/>
              </a:ext>
            </a:extLst>
          </p:cNvPr>
          <p:cNvSpPr>
            <a:spLocks noGrp="1"/>
          </p:cNvSpPr>
          <p:nvPr>
            <p:ph type="title"/>
          </p:nvPr>
        </p:nvSpPr>
        <p:spPr/>
        <p:txBody>
          <a:bodyPr/>
          <a:lstStyle/>
          <a:p>
            <a:r>
              <a:rPr lang="en-US" dirty="0"/>
              <a:t>Pack expenses</a:t>
            </a:r>
          </a:p>
        </p:txBody>
      </p:sp>
      <p:sp>
        <p:nvSpPr>
          <p:cNvPr id="3" name="Content Placeholder 2">
            <a:extLst>
              <a:ext uri="{FF2B5EF4-FFF2-40B4-BE49-F238E27FC236}">
                <a16:creationId xmlns:a16="http://schemas.microsoft.com/office/drawing/2014/main" id="{36266CFD-6E06-D742-B613-D6F7319BA8B9}"/>
              </a:ext>
            </a:extLst>
          </p:cNvPr>
          <p:cNvSpPr>
            <a:spLocks noGrp="1"/>
          </p:cNvSpPr>
          <p:nvPr>
            <p:ph idx="1"/>
          </p:nvPr>
        </p:nvSpPr>
        <p:spPr/>
        <p:txBody>
          <a:bodyPr>
            <a:normAutofit lnSpcReduction="10000"/>
          </a:bodyPr>
          <a:lstStyle/>
          <a:p>
            <a:r>
              <a:rPr lang="en-US" dirty="0" err="1"/>
              <a:t>Recharter</a:t>
            </a:r>
            <a:r>
              <a:rPr lang="en-US" dirty="0"/>
              <a:t> (by 12/31)</a:t>
            </a:r>
          </a:p>
          <a:p>
            <a:r>
              <a:rPr lang="en-US" dirty="0"/>
              <a:t>Badges, belt loops, and pins</a:t>
            </a:r>
          </a:p>
          <a:p>
            <a:r>
              <a:rPr lang="en-US" dirty="0"/>
              <a:t>Recurring versus nonrecurring (e.g. software license) expenses</a:t>
            </a:r>
          </a:p>
          <a:p>
            <a:r>
              <a:rPr lang="en-US" dirty="0" err="1"/>
              <a:t>Setasides</a:t>
            </a:r>
            <a:endParaRPr lang="en-US" dirty="0"/>
          </a:p>
          <a:p>
            <a:pPr lvl="1"/>
            <a:r>
              <a:rPr lang="en-US" dirty="0"/>
              <a:t>Future pinewood derby track purchase</a:t>
            </a:r>
          </a:p>
          <a:p>
            <a:pPr lvl="1"/>
            <a:r>
              <a:rPr lang="en-US" dirty="0"/>
              <a:t>Subsidy to send scouts to summer camp</a:t>
            </a:r>
          </a:p>
          <a:p>
            <a:endParaRPr lang="en-US" dirty="0"/>
          </a:p>
          <a:p>
            <a:r>
              <a:rPr lang="en-US" dirty="0"/>
              <a:t>Seek to minimize Pack Expenses</a:t>
            </a:r>
          </a:p>
          <a:p>
            <a:pPr lvl="1"/>
            <a:r>
              <a:rPr lang="en-US" dirty="0"/>
              <a:t>Sales tax exemption (ST-119.1)</a:t>
            </a:r>
          </a:p>
          <a:p>
            <a:pPr lvl="1"/>
            <a:r>
              <a:rPr lang="en-US" dirty="0"/>
              <a:t>Minimize gear purchases (borrow from a Scouts BSA troop)</a:t>
            </a:r>
          </a:p>
          <a:p>
            <a:pPr lvl="1"/>
            <a:r>
              <a:rPr lang="en-US" dirty="0"/>
              <a:t>Reuse uniforms, neckerchiefs, caps, belts, and leader materials</a:t>
            </a:r>
          </a:p>
        </p:txBody>
      </p:sp>
    </p:spTree>
    <p:extLst>
      <p:ext uri="{BB962C8B-B14F-4D97-AF65-F5344CB8AC3E}">
        <p14:creationId xmlns:p14="http://schemas.microsoft.com/office/powerpoint/2010/main" val="2911823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35987-691C-1D4B-953C-1A6CF096EAA0}"/>
              </a:ext>
            </a:extLst>
          </p:cNvPr>
          <p:cNvSpPr>
            <a:spLocks noGrp="1"/>
          </p:cNvSpPr>
          <p:nvPr>
            <p:ph type="title"/>
          </p:nvPr>
        </p:nvSpPr>
        <p:spPr/>
        <p:txBody>
          <a:bodyPr/>
          <a:lstStyle/>
          <a:p>
            <a:r>
              <a:rPr lang="en-US" dirty="0"/>
              <a:t>Budget Composition</a:t>
            </a:r>
          </a:p>
        </p:txBody>
      </p:sp>
      <p:sp>
        <p:nvSpPr>
          <p:cNvPr id="3" name="Content Placeholder 2">
            <a:extLst>
              <a:ext uri="{FF2B5EF4-FFF2-40B4-BE49-F238E27FC236}">
                <a16:creationId xmlns:a16="http://schemas.microsoft.com/office/drawing/2014/main" id="{9354F868-8457-7F4C-A035-5B20F9661691}"/>
              </a:ext>
            </a:extLst>
          </p:cNvPr>
          <p:cNvSpPr>
            <a:spLocks noGrp="1"/>
          </p:cNvSpPr>
          <p:nvPr>
            <p:ph sz="half" idx="1"/>
          </p:nvPr>
        </p:nvSpPr>
        <p:spPr/>
        <p:txBody>
          <a:bodyPr/>
          <a:lstStyle/>
          <a:p>
            <a:r>
              <a:rPr lang="en-US" dirty="0"/>
              <a:t>Membership</a:t>
            </a:r>
          </a:p>
          <a:p>
            <a:pPr lvl="1"/>
            <a:r>
              <a:rPr lang="en-US" dirty="0" err="1"/>
              <a:t>Recharter</a:t>
            </a:r>
            <a:endParaRPr lang="en-US" dirty="0"/>
          </a:p>
          <a:p>
            <a:pPr lvl="1"/>
            <a:r>
              <a:rPr lang="en-US" dirty="0"/>
              <a:t>Class B Shirts?</a:t>
            </a:r>
          </a:p>
          <a:p>
            <a:pPr lvl="1"/>
            <a:r>
              <a:rPr lang="en-US" dirty="0"/>
              <a:t>Scout Life magazine annual subscriptions?</a:t>
            </a:r>
          </a:p>
          <a:p>
            <a:pPr lvl="1"/>
            <a:r>
              <a:rPr lang="en-US" dirty="0"/>
              <a:t>Name Tags?</a:t>
            </a:r>
          </a:p>
          <a:p>
            <a:pPr lvl="1"/>
            <a:r>
              <a:rPr lang="en-US" dirty="0"/>
              <a:t>Scout Manuals?</a:t>
            </a:r>
          </a:p>
          <a:p>
            <a:pPr lvl="1"/>
            <a:r>
              <a:rPr lang="en-US" dirty="0"/>
              <a:t>Uniforms?</a:t>
            </a:r>
          </a:p>
          <a:p>
            <a:pPr lvl="1"/>
            <a:r>
              <a:rPr lang="en-US" dirty="0"/>
              <a:t>Recruitment event(s)</a:t>
            </a:r>
          </a:p>
          <a:p>
            <a:r>
              <a:rPr lang="en-US" dirty="0"/>
              <a:t>Fundraising</a:t>
            </a:r>
          </a:p>
          <a:p>
            <a:pPr lvl="1"/>
            <a:r>
              <a:rPr lang="en-US" dirty="0"/>
              <a:t>Popcorn Samples?</a:t>
            </a:r>
          </a:p>
          <a:p>
            <a:pPr lvl="1"/>
            <a:r>
              <a:rPr lang="en-US" dirty="0"/>
              <a:t>Signs?</a:t>
            </a:r>
          </a:p>
        </p:txBody>
      </p:sp>
      <p:sp>
        <p:nvSpPr>
          <p:cNvPr id="4" name="Content Placeholder 3">
            <a:extLst>
              <a:ext uri="{FF2B5EF4-FFF2-40B4-BE49-F238E27FC236}">
                <a16:creationId xmlns:a16="http://schemas.microsoft.com/office/drawing/2014/main" id="{E4601867-20C3-524A-9999-63DC4ABF69E0}"/>
              </a:ext>
            </a:extLst>
          </p:cNvPr>
          <p:cNvSpPr>
            <a:spLocks noGrp="1"/>
          </p:cNvSpPr>
          <p:nvPr>
            <p:ph sz="half" idx="2"/>
          </p:nvPr>
        </p:nvSpPr>
        <p:spPr/>
        <p:txBody>
          <a:bodyPr/>
          <a:lstStyle/>
          <a:p>
            <a:r>
              <a:rPr lang="en-US" dirty="0"/>
              <a:t>Equipment</a:t>
            </a:r>
          </a:p>
          <a:p>
            <a:pPr lvl="1"/>
            <a:r>
              <a:rPr lang="en-US" dirty="0"/>
              <a:t>Pack meeting game items</a:t>
            </a:r>
          </a:p>
          <a:p>
            <a:pPr lvl="1"/>
            <a:r>
              <a:rPr lang="en-US" dirty="0"/>
              <a:t>Leader manuals</a:t>
            </a:r>
          </a:p>
          <a:p>
            <a:r>
              <a:rPr lang="en-US" dirty="0"/>
              <a:t>Treasurer</a:t>
            </a:r>
          </a:p>
          <a:p>
            <a:pPr lvl="1"/>
            <a:r>
              <a:rPr lang="en-US" dirty="0"/>
              <a:t>Stamps</a:t>
            </a:r>
          </a:p>
          <a:p>
            <a:pPr lvl="1"/>
            <a:r>
              <a:rPr lang="en-US" dirty="0"/>
              <a:t>Supplies</a:t>
            </a:r>
          </a:p>
          <a:p>
            <a:r>
              <a:rPr lang="en-US" dirty="0"/>
              <a:t>Activities</a:t>
            </a:r>
          </a:p>
          <a:p>
            <a:pPr lvl="1"/>
            <a:r>
              <a:rPr lang="en-US" dirty="0"/>
              <a:t>Each outing/activity</a:t>
            </a:r>
          </a:p>
          <a:p>
            <a:pPr lvl="1"/>
            <a:r>
              <a:rPr lang="en-US" dirty="0"/>
              <a:t>Pack meeting supplies/snacks</a:t>
            </a:r>
          </a:p>
          <a:p>
            <a:pPr lvl="1"/>
            <a:r>
              <a:rPr lang="en-US" dirty="0"/>
              <a:t>Meeting space rental</a:t>
            </a:r>
          </a:p>
          <a:p>
            <a:pPr lvl="1"/>
            <a:r>
              <a:rPr lang="en-US" dirty="0"/>
              <a:t>Support for den meetings/outings</a:t>
            </a:r>
          </a:p>
        </p:txBody>
      </p:sp>
    </p:spTree>
    <p:extLst>
      <p:ext uri="{BB962C8B-B14F-4D97-AF65-F5344CB8AC3E}">
        <p14:creationId xmlns:p14="http://schemas.microsoft.com/office/powerpoint/2010/main" val="1473771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AD75F-76B0-A645-AE19-ED11F97F19CC}"/>
              </a:ext>
            </a:extLst>
          </p:cNvPr>
          <p:cNvSpPr>
            <a:spLocks noGrp="1"/>
          </p:cNvSpPr>
          <p:nvPr>
            <p:ph type="title"/>
          </p:nvPr>
        </p:nvSpPr>
        <p:spPr/>
        <p:txBody>
          <a:bodyPr/>
          <a:lstStyle/>
          <a:p>
            <a:r>
              <a:rPr lang="en-US" dirty="0"/>
              <a:t>Budget composition, continued</a:t>
            </a:r>
          </a:p>
        </p:txBody>
      </p:sp>
      <p:sp>
        <p:nvSpPr>
          <p:cNvPr id="3" name="Content Placeholder 2">
            <a:extLst>
              <a:ext uri="{FF2B5EF4-FFF2-40B4-BE49-F238E27FC236}">
                <a16:creationId xmlns:a16="http://schemas.microsoft.com/office/drawing/2014/main" id="{C4E23188-2207-2145-9541-497DFC7511B2}"/>
              </a:ext>
            </a:extLst>
          </p:cNvPr>
          <p:cNvSpPr>
            <a:spLocks noGrp="1"/>
          </p:cNvSpPr>
          <p:nvPr>
            <p:ph sz="half" idx="1"/>
          </p:nvPr>
        </p:nvSpPr>
        <p:spPr/>
        <p:txBody>
          <a:bodyPr>
            <a:normAutofit lnSpcReduction="10000"/>
          </a:bodyPr>
          <a:lstStyle/>
          <a:p>
            <a:r>
              <a:rPr lang="en-US" dirty="0"/>
              <a:t>Advancement</a:t>
            </a:r>
          </a:p>
          <a:p>
            <a:pPr lvl="1"/>
            <a:r>
              <a:rPr lang="en-US" dirty="0"/>
              <a:t>Badges</a:t>
            </a:r>
          </a:p>
          <a:p>
            <a:pPr lvl="1"/>
            <a:r>
              <a:rPr lang="en-US" dirty="0"/>
              <a:t>Belt loops</a:t>
            </a:r>
          </a:p>
          <a:p>
            <a:pPr lvl="1"/>
            <a:r>
              <a:rPr lang="en-US" dirty="0" err="1"/>
              <a:t>Webelos</a:t>
            </a:r>
            <a:r>
              <a:rPr lang="en-US" dirty="0"/>
              <a:t> / AOL pins</a:t>
            </a:r>
          </a:p>
          <a:p>
            <a:pPr lvl="1"/>
            <a:r>
              <a:rPr lang="en-US" dirty="0"/>
              <a:t>AOL crossover gift</a:t>
            </a:r>
          </a:p>
          <a:p>
            <a:r>
              <a:rPr lang="en-US" dirty="0"/>
              <a:t>Summer Camp</a:t>
            </a:r>
          </a:p>
          <a:p>
            <a:pPr lvl="1"/>
            <a:r>
              <a:rPr lang="en-US" dirty="0"/>
              <a:t>Subsidy?</a:t>
            </a:r>
          </a:p>
          <a:p>
            <a:pPr lvl="1"/>
            <a:r>
              <a:rPr lang="en-US" dirty="0"/>
              <a:t>Extra adult leader fees for resident camp</a:t>
            </a:r>
          </a:p>
          <a:p>
            <a:r>
              <a:rPr lang="en-US" dirty="0"/>
              <a:t>Internet</a:t>
            </a:r>
          </a:p>
          <a:p>
            <a:pPr lvl="1"/>
            <a:r>
              <a:rPr lang="en-US" dirty="0"/>
              <a:t>Pack website fee</a:t>
            </a:r>
          </a:p>
          <a:p>
            <a:pPr lvl="1"/>
            <a:r>
              <a:rPr lang="en-US" dirty="0"/>
              <a:t>Facebook boosts</a:t>
            </a:r>
          </a:p>
        </p:txBody>
      </p:sp>
      <p:sp>
        <p:nvSpPr>
          <p:cNvPr id="4" name="Content Placeholder 3">
            <a:extLst>
              <a:ext uri="{FF2B5EF4-FFF2-40B4-BE49-F238E27FC236}">
                <a16:creationId xmlns:a16="http://schemas.microsoft.com/office/drawing/2014/main" id="{E9AD36DD-5E4F-6D41-92B7-65A94B1D9D8C}"/>
              </a:ext>
            </a:extLst>
          </p:cNvPr>
          <p:cNvSpPr>
            <a:spLocks noGrp="1"/>
          </p:cNvSpPr>
          <p:nvPr>
            <p:ph sz="half" idx="2"/>
          </p:nvPr>
        </p:nvSpPr>
        <p:spPr/>
        <p:txBody>
          <a:bodyPr>
            <a:normAutofit lnSpcReduction="10000"/>
          </a:bodyPr>
          <a:lstStyle/>
          <a:p>
            <a:r>
              <a:rPr lang="en-US" dirty="0"/>
              <a:t>Training</a:t>
            </a:r>
          </a:p>
          <a:p>
            <a:pPr lvl="1"/>
            <a:r>
              <a:rPr lang="en-US" dirty="0"/>
              <a:t>BALOO</a:t>
            </a:r>
          </a:p>
          <a:p>
            <a:pPr lvl="1"/>
            <a:r>
              <a:rPr lang="en-US" dirty="0"/>
              <a:t>Wood Badge</a:t>
            </a:r>
          </a:p>
          <a:p>
            <a:r>
              <a:rPr lang="en-US" dirty="0"/>
              <a:t>Miscellaneous</a:t>
            </a:r>
          </a:p>
          <a:p>
            <a:pPr lvl="1"/>
            <a:r>
              <a:rPr lang="en-US" dirty="0"/>
              <a:t>Committee Meeting expenses</a:t>
            </a:r>
          </a:p>
        </p:txBody>
      </p:sp>
    </p:spTree>
    <p:extLst>
      <p:ext uri="{BB962C8B-B14F-4D97-AF65-F5344CB8AC3E}">
        <p14:creationId xmlns:p14="http://schemas.microsoft.com/office/powerpoint/2010/main" val="39020517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5F442-A89D-2044-AF5D-BC1C89352322}"/>
              </a:ext>
            </a:extLst>
          </p:cNvPr>
          <p:cNvSpPr>
            <a:spLocks noGrp="1"/>
          </p:cNvSpPr>
          <p:nvPr>
            <p:ph type="title"/>
          </p:nvPr>
        </p:nvSpPr>
        <p:spPr/>
        <p:txBody>
          <a:bodyPr/>
          <a:lstStyle/>
          <a:p>
            <a:r>
              <a:rPr lang="en-US" dirty="0"/>
              <a:t>Budget reporting – monthly/bimonthly</a:t>
            </a:r>
          </a:p>
        </p:txBody>
      </p:sp>
      <p:sp>
        <p:nvSpPr>
          <p:cNvPr id="3" name="Content Placeholder 2">
            <a:extLst>
              <a:ext uri="{FF2B5EF4-FFF2-40B4-BE49-F238E27FC236}">
                <a16:creationId xmlns:a16="http://schemas.microsoft.com/office/drawing/2014/main" id="{31F4C665-01D9-D346-8ECC-80F979FE505A}"/>
              </a:ext>
            </a:extLst>
          </p:cNvPr>
          <p:cNvSpPr>
            <a:spLocks noGrp="1"/>
          </p:cNvSpPr>
          <p:nvPr>
            <p:ph sz="half" idx="1"/>
          </p:nvPr>
        </p:nvSpPr>
        <p:spPr>
          <a:xfrm>
            <a:off x="1069848" y="2963917"/>
            <a:ext cx="4754880" cy="3208283"/>
          </a:xfrm>
        </p:spPr>
        <p:txBody>
          <a:bodyPr>
            <a:normAutofit fontScale="85000" lnSpcReduction="10000"/>
          </a:bodyPr>
          <a:lstStyle/>
          <a:p>
            <a:r>
              <a:rPr lang="en-US" dirty="0"/>
              <a:t>Budget Category (compare actual expenses versus budget)</a:t>
            </a:r>
          </a:p>
          <a:p>
            <a:pPr lvl="1"/>
            <a:r>
              <a:rPr lang="en-US" dirty="0"/>
              <a:t>Membership</a:t>
            </a:r>
          </a:p>
          <a:p>
            <a:pPr lvl="1"/>
            <a:r>
              <a:rPr lang="en-US" dirty="0"/>
              <a:t>Fundraising Expenses</a:t>
            </a:r>
          </a:p>
          <a:p>
            <a:pPr lvl="1"/>
            <a:r>
              <a:rPr lang="en-US" dirty="0"/>
              <a:t>Equipment</a:t>
            </a:r>
          </a:p>
          <a:p>
            <a:pPr lvl="1"/>
            <a:r>
              <a:rPr lang="en-US" dirty="0"/>
              <a:t>Treasurer</a:t>
            </a:r>
          </a:p>
          <a:p>
            <a:pPr lvl="1"/>
            <a:r>
              <a:rPr lang="en-US" dirty="0"/>
              <a:t>Activities</a:t>
            </a:r>
          </a:p>
          <a:p>
            <a:pPr lvl="1"/>
            <a:r>
              <a:rPr lang="en-US" dirty="0"/>
              <a:t>Advancement</a:t>
            </a:r>
          </a:p>
          <a:p>
            <a:pPr lvl="1"/>
            <a:r>
              <a:rPr lang="en-US" dirty="0"/>
              <a:t>Summer Camp</a:t>
            </a:r>
          </a:p>
          <a:p>
            <a:pPr lvl="1"/>
            <a:r>
              <a:rPr lang="en-US" dirty="0"/>
              <a:t>Internet</a:t>
            </a:r>
          </a:p>
          <a:p>
            <a:pPr lvl="1"/>
            <a:r>
              <a:rPr lang="en-US" dirty="0"/>
              <a:t>Training</a:t>
            </a:r>
          </a:p>
          <a:p>
            <a:pPr lvl="1"/>
            <a:r>
              <a:rPr lang="en-US" dirty="0"/>
              <a:t>Miscellaneous</a:t>
            </a:r>
          </a:p>
          <a:p>
            <a:pPr lvl="1"/>
            <a:endParaRPr lang="en-US" dirty="0"/>
          </a:p>
        </p:txBody>
      </p:sp>
      <p:sp>
        <p:nvSpPr>
          <p:cNvPr id="4" name="Content Placeholder 3">
            <a:extLst>
              <a:ext uri="{FF2B5EF4-FFF2-40B4-BE49-F238E27FC236}">
                <a16:creationId xmlns:a16="http://schemas.microsoft.com/office/drawing/2014/main" id="{34CC5AEB-E32D-9A4A-AA3A-0453843D58D3}"/>
              </a:ext>
            </a:extLst>
          </p:cNvPr>
          <p:cNvSpPr>
            <a:spLocks noGrp="1"/>
          </p:cNvSpPr>
          <p:nvPr>
            <p:ph sz="half" idx="2"/>
          </p:nvPr>
        </p:nvSpPr>
        <p:spPr>
          <a:xfrm>
            <a:off x="6364224" y="2963916"/>
            <a:ext cx="4754880" cy="3208283"/>
          </a:xfrm>
        </p:spPr>
        <p:txBody>
          <a:bodyPr>
            <a:normAutofit fontScale="85000" lnSpcReduction="10000"/>
          </a:bodyPr>
          <a:lstStyle/>
          <a:p>
            <a:r>
              <a:rPr lang="en-US" dirty="0"/>
              <a:t>Balance Sheet</a:t>
            </a:r>
          </a:p>
          <a:p>
            <a:pPr lvl="1"/>
            <a:r>
              <a:rPr lang="en-US" dirty="0"/>
              <a:t>Checking Account</a:t>
            </a:r>
          </a:p>
          <a:p>
            <a:pPr lvl="1"/>
            <a:r>
              <a:rPr lang="en-US" dirty="0"/>
              <a:t>Rainy Day Fund</a:t>
            </a:r>
          </a:p>
          <a:p>
            <a:pPr lvl="1"/>
            <a:r>
              <a:rPr lang="en-US" dirty="0"/>
              <a:t>Special Fund(s)</a:t>
            </a:r>
          </a:p>
          <a:p>
            <a:r>
              <a:rPr lang="en-US" dirty="0"/>
              <a:t>Revenues (compare actual revenues versus budget)</a:t>
            </a:r>
          </a:p>
          <a:p>
            <a:pPr lvl="1"/>
            <a:r>
              <a:rPr lang="en-US" dirty="0"/>
              <a:t>Dues</a:t>
            </a:r>
          </a:p>
          <a:p>
            <a:pPr lvl="1"/>
            <a:r>
              <a:rPr lang="en-US" dirty="0"/>
              <a:t>Scout Life magazine annual subscription fees</a:t>
            </a:r>
          </a:p>
          <a:p>
            <a:pPr lvl="1"/>
            <a:r>
              <a:rPr lang="en-US" dirty="0"/>
              <a:t>Activity Fees</a:t>
            </a:r>
          </a:p>
          <a:p>
            <a:pPr lvl="1"/>
            <a:r>
              <a:rPr lang="en-US" dirty="0"/>
              <a:t>Fundraising</a:t>
            </a:r>
          </a:p>
          <a:p>
            <a:pPr lvl="1"/>
            <a:r>
              <a:rPr lang="en-US" dirty="0"/>
              <a:t>Grants</a:t>
            </a:r>
          </a:p>
          <a:p>
            <a:pPr lvl="1"/>
            <a:r>
              <a:rPr lang="en-US" dirty="0"/>
              <a:t>Donations</a:t>
            </a:r>
          </a:p>
        </p:txBody>
      </p:sp>
      <p:sp>
        <p:nvSpPr>
          <p:cNvPr id="5" name="TextBox 4">
            <a:extLst>
              <a:ext uri="{FF2B5EF4-FFF2-40B4-BE49-F238E27FC236}">
                <a16:creationId xmlns:a16="http://schemas.microsoft.com/office/drawing/2014/main" id="{DAB33FC0-80D0-5B45-86FE-E3360E8E9E1A}"/>
              </a:ext>
            </a:extLst>
          </p:cNvPr>
          <p:cNvSpPr txBox="1"/>
          <p:nvPr/>
        </p:nvSpPr>
        <p:spPr>
          <a:xfrm>
            <a:off x="1069848" y="2249214"/>
            <a:ext cx="10058400" cy="923330"/>
          </a:xfrm>
          <a:prstGeom prst="rect">
            <a:avLst/>
          </a:prstGeom>
          <a:noFill/>
        </p:spPr>
        <p:txBody>
          <a:bodyPr wrap="square" rtlCol="0">
            <a:spAutoFit/>
          </a:bodyPr>
          <a:lstStyle/>
          <a:p>
            <a:pPr marL="285750" indent="-285750">
              <a:buFont typeface="Wingdings" pitchFamily="2" charset="2"/>
              <a:buChar char="§"/>
            </a:pPr>
            <a:r>
              <a:rPr lang="en-US" dirty="0"/>
              <a:t>Set and approve the Budget before the Scout Year starts</a:t>
            </a:r>
          </a:p>
          <a:p>
            <a:pPr marL="285750" indent="-285750">
              <a:buFont typeface="Wingdings" pitchFamily="2" charset="2"/>
              <a:buChar char="§"/>
            </a:pPr>
            <a:r>
              <a:rPr lang="en-US" dirty="0"/>
              <a:t>Total Expenses need to equal Total Revenues!</a:t>
            </a:r>
          </a:p>
          <a:p>
            <a:pPr marL="285750" indent="-285750">
              <a:buFont typeface="Wingdings" pitchFamily="2" charset="2"/>
              <a:buChar char="§"/>
            </a:pPr>
            <a:endParaRPr lang="en-US" dirty="0"/>
          </a:p>
        </p:txBody>
      </p:sp>
    </p:spTree>
    <p:extLst>
      <p:ext uri="{BB962C8B-B14F-4D97-AF65-F5344CB8AC3E}">
        <p14:creationId xmlns:p14="http://schemas.microsoft.com/office/powerpoint/2010/main" val="31290358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83B1E-643C-6A4C-9CBD-E2B10207508D}"/>
              </a:ext>
            </a:extLst>
          </p:cNvPr>
          <p:cNvSpPr>
            <a:spLocks noGrp="1"/>
          </p:cNvSpPr>
          <p:nvPr>
            <p:ph type="title"/>
          </p:nvPr>
        </p:nvSpPr>
        <p:spPr/>
        <p:txBody>
          <a:bodyPr/>
          <a:lstStyle/>
          <a:p>
            <a:r>
              <a:rPr lang="en-US" dirty="0"/>
              <a:t>Useful Forms and references</a:t>
            </a:r>
          </a:p>
        </p:txBody>
      </p:sp>
      <p:sp>
        <p:nvSpPr>
          <p:cNvPr id="3" name="Content Placeholder 2">
            <a:extLst>
              <a:ext uri="{FF2B5EF4-FFF2-40B4-BE49-F238E27FC236}">
                <a16:creationId xmlns:a16="http://schemas.microsoft.com/office/drawing/2014/main" id="{AD857D37-B3C2-C842-A360-B267570A28B0}"/>
              </a:ext>
            </a:extLst>
          </p:cNvPr>
          <p:cNvSpPr>
            <a:spLocks noGrp="1"/>
          </p:cNvSpPr>
          <p:nvPr>
            <p:ph idx="1"/>
          </p:nvPr>
        </p:nvSpPr>
        <p:spPr/>
        <p:txBody>
          <a:bodyPr/>
          <a:lstStyle/>
          <a:p>
            <a:r>
              <a:rPr lang="en-US" dirty="0"/>
              <a:t>Planning Your Annual Budget</a:t>
            </a:r>
          </a:p>
          <a:p>
            <a:r>
              <a:rPr lang="en-US" dirty="0"/>
              <a:t>Unit Money Earning Application</a:t>
            </a:r>
          </a:p>
          <a:p>
            <a:r>
              <a:rPr lang="en-US" dirty="0"/>
              <a:t>NY ST-119.1 Form</a:t>
            </a:r>
          </a:p>
          <a:p>
            <a:r>
              <a:rPr lang="en-US" dirty="0"/>
              <a:t>Tax Donation Form</a:t>
            </a:r>
          </a:p>
        </p:txBody>
      </p:sp>
    </p:spTree>
    <p:extLst>
      <p:ext uri="{BB962C8B-B14F-4D97-AF65-F5344CB8AC3E}">
        <p14:creationId xmlns:p14="http://schemas.microsoft.com/office/powerpoint/2010/main" val="27360261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30970-B2BA-C5D6-91BC-03B82675FBB9}"/>
              </a:ext>
            </a:extLst>
          </p:cNvPr>
          <p:cNvSpPr>
            <a:spLocks noGrp="1"/>
          </p:cNvSpPr>
          <p:nvPr>
            <p:ph type="title"/>
          </p:nvPr>
        </p:nvSpPr>
        <p:spPr/>
        <p:txBody>
          <a:bodyPr/>
          <a:lstStyle/>
          <a:p>
            <a:r>
              <a:rPr lang="en-US" dirty="0" err="1"/>
              <a:t>Quickbooks</a:t>
            </a:r>
            <a:endParaRPr lang="en-US" dirty="0"/>
          </a:p>
        </p:txBody>
      </p:sp>
      <p:sp>
        <p:nvSpPr>
          <p:cNvPr id="3" name="Content Placeholder 2">
            <a:extLst>
              <a:ext uri="{FF2B5EF4-FFF2-40B4-BE49-F238E27FC236}">
                <a16:creationId xmlns:a16="http://schemas.microsoft.com/office/drawing/2014/main" id="{DF09A2FE-FE98-B310-9D9B-C6E182141D59}"/>
              </a:ext>
            </a:extLst>
          </p:cNvPr>
          <p:cNvSpPr>
            <a:spLocks noGrp="1"/>
          </p:cNvSpPr>
          <p:nvPr>
            <p:ph idx="1"/>
          </p:nvPr>
        </p:nvSpPr>
        <p:spPr>
          <a:xfrm>
            <a:off x="1069848" y="2121408"/>
            <a:ext cx="10058400" cy="831999"/>
          </a:xfrm>
        </p:spPr>
        <p:txBody>
          <a:bodyPr/>
          <a:lstStyle/>
          <a:p>
            <a:r>
              <a:rPr lang="en-US" dirty="0"/>
              <a:t>Software can make financial work easier, but there is a learning curve</a:t>
            </a:r>
          </a:p>
          <a:p>
            <a:r>
              <a:rPr lang="en-US" dirty="0"/>
              <a:t>~$75/year for </a:t>
            </a:r>
            <a:r>
              <a:rPr lang="en-US" dirty="0" err="1"/>
              <a:t>quickbooks</a:t>
            </a:r>
            <a:r>
              <a:rPr lang="en-US" dirty="0"/>
              <a:t> online</a:t>
            </a:r>
          </a:p>
          <a:p>
            <a:pPr lvl="1"/>
            <a:endParaRPr lang="en-US" dirty="0"/>
          </a:p>
        </p:txBody>
      </p:sp>
      <p:sp>
        <p:nvSpPr>
          <p:cNvPr id="4" name="Content Placeholder 2">
            <a:extLst>
              <a:ext uri="{FF2B5EF4-FFF2-40B4-BE49-F238E27FC236}">
                <a16:creationId xmlns:a16="http://schemas.microsoft.com/office/drawing/2014/main" id="{14322712-6E99-8480-8B43-14F7219B0ADE}"/>
              </a:ext>
            </a:extLst>
          </p:cNvPr>
          <p:cNvSpPr txBox="1">
            <a:spLocks/>
          </p:cNvSpPr>
          <p:nvPr/>
        </p:nvSpPr>
        <p:spPr>
          <a:xfrm>
            <a:off x="1063752" y="3093616"/>
            <a:ext cx="5136511" cy="3279752"/>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buNone/>
            </a:pPr>
            <a:r>
              <a:rPr lang="en-US" dirty="0"/>
              <a:t>Pros</a:t>
            </a:r>
          </a:p>
          <a:p>
            <a:pPr lvl="1"/>
            <a:r>
              <a:rPr lang="en-US" dirty="0"/>
              <a:t>Up to 5 users, with permission settings (read only, admin, etc.)</a:t>
            </a:r>
          </a:p>
          <a:p>
            <a:pPr lvl="1"/>
            <a:r>
              <a:rPr lang="en-US" dirty="0"/>
              <a:t>Easy to generate reports</a:t>
            </a:r>
          </a:p>
          <a:p>
            <a:pPr lvl="1"/>
            <a:r>
              <a:rPr lang="en-US" dirty="0"/>
              <a:t>Easy to catch mistakes</a:t>
            </a:r>
          </a:p>
          <a:p>
            <a:pPr lvl="1"/>
            <a:r>
              <a:rPr lang="en-US" dirty="0"/>
              <a:t>Bank account linking/monitoring</a:t>
            </a:r>
          </a:p>
          <a:p>
            <a:pPr lvl="1"/>
            <a:r>
              <a:rPr lang="en-US" dirty="0"/>
              <a:t>Online invoicing options with credit card payments</a:t>
            </a:r>
          </a:p>
          <a:p>
            <a:pPr lvl="1"/>
            <a:r>
              <a:rPr lang="en-US" dirty="0"/>
              <a:t>Online check writing or wire transfers for reimbursements</a:t>
            </a:r>
          </a:p>
          <a:p>
            <a:pPr lvl="1"/>
            <a:endParaRPr lang="en-US" dirty="0"/>
          </a:p>
          <a:p>
            <a:pPr lvl="1"/>
            <a:endParaRPr lang="en-US" dirty="0"/>
          </a:p>
          <a:p>
            <a:pPr lvl="1"/>
            <a:endParaRPr lang="en-US" dirty="0"/>
          </a:p>
          <a:p>
            <a:pPr lvl="1"/>
            <a:endParaRPr lang="en-US" dirty="0"/>
          </a:p>
        </p:txBody>
      </p:sp>
      <p:sp>
        <p:nvSpPr>
          <p:cNvPr id="5" name="Content Placeholder 2">
            <a:extLst>
              <a:ext uri="{FF2B5EF4-FFF2-40B4-BE49-F238E27FC236}">
                <a16:creationId xmlns:a16="http://schemas.microsoft.com/office/drawing/2014/main" id="{3F97CEA4-B984-EAFF-D395-F581AAF6BBCB}"/>
              </a:ext>
            </a:extLst>
          </p:cNvPr>
          <p:cNvSpPr txBox="1">
            <a:spLocks/>
          </p:cNvSpPr>
          <p:nvPr/>
        </p:nvSpPr>
        <p:spPr>
          <a:xfrm>
            <a:off x="6234842" y="3093615"/>
            <a:ext cx="5136511" cy="2876261"/>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buNone/>
            </a:pPr>
            <a:r>
              <a:rPr lang="en-US" dirty="0"/>
              <a:t>Cons</a:t>
            </a:r>
          </a:p>
          <a:p>
            <a:pPr lvl="1"/>
            <a:r>
              <a:rPr lang="en-US" dirty="0"/>
              <a:t>Some learning curve</a:t>
            </a:r>
          </a:p>
          <a:p>
            <a:pPr lvl="1"/>
            <a:r>
              <a:rPr lang="en-US" dirty="0"/>
              <a:t>Effort to transfer legacy system to </a:t>
            </a:r>
            <a:r>
              <a:rPr lang="en-US" dirty="0" err="1"/>
              <a:t>quickbooks</a:t>
            </a:r>
            <a:endParaRPr lang="en-US" dirty="0"/>
          </a:p>
          <a:p>
            <a:pPr lvl="1"/>
            <a:r>
              <a:rPr lang="en-US" dirty="0"/>
              <a:t>Annual expense</a:t>
            </a:r>
          </a:p>
          <a:p>
            <a:pPr lvl="1"/>
            <a:r>
              <a:rPr lang="en-US" dirty="0"/>
              <a:t>Overkill (many functions are not needed for BSA troops)</a:t>
            </a:r>
          </a:p>
          <a:p>
            <a:pPr lvl="1"/>
            <a:endParaRPr lang="en-US" dirty="0"/>
          </a:p>
          <a:p>
            <a:pPr lvl="1"/>
            <a:endParaRPr lang="en-US" dirty="0"/>
          </a:p>
          <a:p>
            <a:pPr lvl="1"/>
            <a:endParaRPr lang="en-US" dirty="0"/>
          </a:p>
        </p:txBody>
      </p:sp>
    </p:spTree>
    <p:extLst>
      <p:ext uri="{BB962C8B-B14F-4D97-AF65-F5344CB8AC3E}">
        <p14:creationId xmlns:p14="http://schemas.microsoft.com/office/powerpoint/2010/main" val="23781641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{B46FEB0E-7231-1849-8029-BCB423BAD75E}tf10001070</Template>
  <TotalTime>629</TotalTime>
  <Words>1392</Words>
  <Application>Microsoft Macintosh PowerPoint</Application>
  <PresentationFormat>Widescreen</PresentationFormat>
  <Paragraphs>196</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Calibri</vt:lpstr>
      <vt:lpstr>Rockwell</vt:lpstr>
      <vt:lpstr>Rockwell Condensed</vt:lpstr>
      <vt:lpstr>Rockwell Extra Bold</vt:lpstr>
      <vt:lpstr>Wingdings</vt:lpstr>
      <vt:lpstr>Wood Type</vt:lpstr>
      <vt:lpstr>Pack finances &amp; budget Course #149</vt:lpstr>
      <vt:lpstr>disclaimer</vt:lpstr>
      <vt:lpstr>Rob’s finance and scouting background</vt:lpstr>
      <vt:lpstr>Josh’s finance and scouting background</vt:lpstr>
      <vt:lpstr>Why are Pack Finances and Budgeting so important?</vt:lpstr>
      <vt:lpstr>Selecting and Training a pack treasurer</vt:lpstr>
      <vt:lpstr>Goals for a Pack Treasurer</vt:lpstr>
      <vt:lpstr>Pack Funds – best practices</vt:lpstr>
      <vt:lpstr>Challenges you may face</vt:lpstr>
      <vt:lpstr>Pack revenues</vt:lpstr>
      <vt:lpstr>Collection options</vt:lpstr>
      <vt:lpstr>Pack expenses</vt:lpstr>
      <vt:lpstr>Budget Composition</vt:lpstr>
      <vt:lpstr>Budget composition, continued</vt:lpstr>
      <vt:lpstr>Budget reporting – monthly/bimonthly</vt:lpstr>
      <vt:lpstr>Useful Forms and references</vt:lpstr>
      <vt:lpstr>Quickbooks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Pack finances &amp; budget Course #149</dc:title>
  <dc:creator>Microsoft Office User</dc:creator>
  <cp:lastModifiedBy>Halvorsen, Ken</cp:lastModifiedBy>
  <cp:revision>46</cp:revision>
  <dcterms:created xsi:type="dcterms:W3CDTF">2019-03-10T18:52:41Z</dcterms:created>
  <dcterms:modified xsi:type="dcterms:W3CDTF">2023-03-10T18:06:36Z</dcterms:modified>
</cp:coreProperties>
</file>