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17"/>
  </p:notesMasterIdLst>
  <p:sldIdLst>
    <p:sldId id="256" r:id="rId2"/>
    <p:sldId id="310" r:id="rId3"/>
    <p:sldId id="257" r:id="rId4"/>
    <p:sldId id="309" r:id="rId5"/>
    <p:sldId id="312" r:id="rId6"/>
    <p:sldId id="313" r:id="rId7"/>
    <p:sldId id="283" r:id="rId8"/>
    <p:sldId id="308" r:id="rId9"/>
    <p:sldId id="291" r:id="rId10"/>
    <p:sldId id="289" r:id="rId11"/>
    <p:sldId id="292" r:id="rId12"/>
    <p:sldId id="276" r:id="rId13"/>
    <p:sldId id="275" r:id="rId14"/>
    <p:sldId id="311" r:id="rId15"/>
    <p:sldId id="277" r:id="rId16"/>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Geneva"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Geneva"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Geneva"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Geneva"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Geneva" charset="-128"/>
        <a:cs typeface="+mn-cs"/>
      </a:defRPr>
    </a:lvl5pPr>
    <a:lvl6pPr marL="2286000" algn="l" defTabSz="914400" rtl="0" eaLnBrk="1" latinLnBrk="0" hangingPunct="1">
      <a:defRPr kern="1200">
        <a:solidFill>
          <a:schemeClr val="tx1"/>
        </a:solidFill>
        <a:latin typeface="Arial" panose="020B0604020202020204" pitchFamily="34" charset="0"/>
        <a:ea typeface="Geneva" charset="-128"/>
        <a:cs typeface="+mn-cs"/>
      </a:defRPr>
    </a:lvl6pPr>
    <a:lvl7pPr marL="2743200" algn="l" defTabSz="914400" rtl="0" eaLnBrk="1" latinLnBrk="0" hangingPunct="1">
      <a:defRPr kern="1200">
        <a:solidFill>
          <a:schemeClr val="tx1"/>
        </a:solidFill>
        <a:latin typeface="Arial" panose="020B0604020202020204" pitchFamily="34" charset="0"/>
        <a:ea typeface="Geneva" charset="-128"/>
        <a:cs typeface="+mn-cs"/>
      </a:defRPr>
    </a:lvl7pPr>
    <a:lvl8pPr marL="3200400" algn="l" defTabSz="914400" rtl="0" eaLnBrk="1" latinLnBrk="0" hangingPunct="1">
      <a:defRPr kern="1200">
        <a:solidFill>
          <a:schemeClr val="tx1"/>
        </a:solidFill>
        <a:latin typeface="Arial" panose="020B0604020202020204" pitchFamily="34" charset="0"/>
        <a:ea typeface="Geneva" charset="-128"/>
        <a:cs typeface="+mn-cs"/>
      </a:defRPr>
    </a:lvl8pPr>
    <a:lvl9pPr marL="3657600" algn="l" defTabSz="914400" rtl="0" eaLnBrk="1" latinLnBrk="0" hangingPunct="1">
      <a:defRPr kern="1200">
        <a:solidFill>
          <a:schemeClr val="tx1"/>
        </a:solidFill>
        <a:latin typeface="Arial" panose="020B0604020202020204" pitchFamily="34" charset="0"/>
        <a:ea typeface="Geneva"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p:restoredTop sz="94694"/>
  </p:normalViewPr>
  <p:slideViewPr>
    <p:cSldViewPr>
      <p:cViewPr varScale="1">
        <p:scale>
          <a:sx n="121" d="100"/>
          <a:sy n="121" d="100"/>
        </p:scale>
        <p:origin x="196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6725"/>
          </a:xfrm>
          <a:prstGeom prst="rect">
            <a:avLst/>
          </a:prstGeom>
        </p:spPr>
        <p:txBody>
          <a:bodyPr vert="horz" lIns="91440" tIns="45720" rIns="91440" bIns="45720" rtlCol="0"/>
          <a:lstStyle>
            <a:lvl1pPr algn="r">
              <a:defRPr sz="1200"/>
            </a:lvl1pPr>
          </a:lstStyle>
          <a:p>
            <a:fld id="{0650CA7B-D153-FF45-8F17-93A292C94A5C}" type="datetimeFigureOut">
              <a:rPr lang="en-US" smtClean="0"/>
              <a:t>1/18/20</a:t>
            </a:fld>
            <a:endParaRPr lang="en-US"/>
          </a:p>
        </p:txBody>
      </p:sp>
      <p:sp>
        <p:nvSpPr>
          <p:cNvPr id="4" name="Slide Image Placeholder 3"/>
          <p:cNvSpPr>
            <a:spLocks noGrp="1" noRot="1" noChangeAspect="1"/>
          </p:cNvSpPr>
          <p:nvPr>
            <p:ph type="sldImg" idx="2"/>
          </p:nvPr>
        </p:nvSpPr>
        <p:spPr>
          <a:xfrm>
            <a:off x="13382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73575"/>
            <a:ext cx="548640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71800"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675"/>
            <a:ext cx="2971800" cy="466725"/>
          </a:xfrm>
          <a:prstGeom prst="rect">
            <a:avLst/>
          </a:prstGeom>
        </p:spPr>
        <p:txBody>
          <a:bodyPr vert="horz" lIns="91440" tIns="45720" rIns="91440" bIns="45720" rtlCol="0" anchor="b"/>
          <a:lstStyle>
            <a:lvl1pPr algn="r">
              <a:defRPr sz="1200"/>
            </a:lvl1pPr>
          </a:lstStyle>
          <a:p>
            <a:fld id="{30A2A52B-2B46-DD40-A0C0-B83E1CA2D0FB}" type="slidenum">
              <a:rPr lang="en-US" smtClean="0"/>
              <a:t>‹#›</a:t>
            </a:fld>
            <a:endParaRPr lang="en-US"/>
          </a:p>
        </p:txBody>
      </p:sp>
    </p:spTree>
    <p:extLst>
      <p:ext uri="{BB962C8B-B14F-4D97-AF65-F5344CB8AC3E}">
        <p14:creationId xmlns:p14="http://schemas.microsoft.com/office/powerpoint/2010/main" val="192559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6"/>
          <p:cNvSpPr>
            <a:spLocks/>
          </p:cNvSpPr>
          <p:nvPr/>
        </p:nvSpPr>
        <p:spPr bwMode="auto">
          <a:xfrm>
            <a:off x="8153400" y="0"/>
            <a:ext cx="990600" cy="6858000"/>
          </a:xfrm>
          <a:custGeom>
            <a:avLst/>
            <a:gdLst>
              <a:gd name="T0" fmla="*/ 512689843 w 1914"/>
              <a:gd name="T1" fmla="*/ 22587518 h 4329"/>
              <a:gd name="T2" fmla="*/ 512689843 w 1914"/>
              <a:gd name="T3" fmla="*/ 2147483647 h 4329"/>
              <a:gd name="T4" fmla="*/ 54643960 w 1914"/>
              <a:gd name="T5" fmla="*/ 2147483647 h 4329"/>
              <a:gd name="T6" fmla="*/ 0 w 1914"/>
              <a:gd name="T7" fmla="*/ 0 h 4329"/>
              <a:gd name="T8" fmla="*/ 512689843 w 1914"/>
              <a:gd name="T9" fmla="*/ 22587518 h 4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 h="4329">
                <a:moveTo>
                  <a:pt x="1914" y="9"/>
                </a:moveTo>
                <a:lnTo>
                  <a:pt x="1914" y="4329"/>
                </a:lnTo>
                <a:lnTo>
                  <a:pt x="204" y="4327"/>
                </a:lnTo>
                <a:cubicBezTo>
                  <a:pt x="1288" y="3574"/>
                  <a:pt x="1608" y="1590"/>
                  <a:pt x="0" y="0"/>
                </a:cubicBezTo>
                <a:lnTo>
                  <a:pt x="1914" y="9"/>
                </a:lnTo>
                <a:close/>
              </a:path>
            </a:pathLst>
          </a:custGeom>
          <a:solidFill>
            <a:srgbClr val="002060"/>
          </a:solidFill>
          <a:ln w="19050" cap="flat" cmpd="sng">
            <a:solidFill>
              <a:srgbClr val="002060"/>
            </a:solidFill>
            <a:prstDash val="solid"/>
            <a:round/>
            <a:headEnd type="none" w="med" len="med"/>
            <a:tailEnd type="none" w="med" len="med"/>
          </a:ln>
          <a:effectLst>
            <a:outerShdw blurRad="63500" dist="50800" dir="10800000" algn="ctr" rotWithShape="0">
              <a:srgbClr val="000000">
                <a:alpha val="45000"/>
              </a:srgbClr>
            </a:outerShdw>
          </a:effectLst>
        </p:spPr>
        <p:txBody>
          <a:bodyPr/>
          <a:lstStyle/>
          <a:p>
            <a:endParaRPr lang="en-US"/>
          </a:p>
        </p:txBody>
      </p:sp>
      <p:sp>
        <p:nvSpPr>
          <p:cNvPr id="5" name="Freeform 7"/>
          <p:cNvSpPr>
            <a:spLocks/>
          </p:cNvSpPr>
          <p:nvPr userDrawn="1"/>
        </p:nvSpPr>
        <p:spPr bwMode="auto">
          <a:xfrm>
            <a:off x="0" y="5181600"/>
            <a:ext cx="9144000" cy="1682750"/>
          </a:xfrm>
          <a:custGeom>
            <a:avLst/>
            <a:gdLst>
              <a:gd name="T0" fmla="*/ 0 w 5760"/>
              <a:gd name="T1" fmla="*/ 1347717 h 1331"/>
              <a:gd name="T2" fmla="*/ 0 w 5760"/>
              <a:gd name="T3" fmla="*/ 1682750 h 1331"/>
              <a:gd name="T4" fmla="*/ 9144000 w 5760"/>
              <a:gd name="T5" fmla="*/ 1682750 h 1331"/>
              <a:gd name="T6" fmla="*/ 9144000 w 5760"/>
              <a:gd name="T7" fmla="*/ 0 h 1331"/>
              <a:gd name="T8" fmla="*/ 0 w 5760"/>
              <a:gd name="T9" fmla="*/ 1347717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gradFill rotWithShape="1">
            <a:gsLst>
              <a:gs pos="0">
                <a:srgbClr val="770000"/>
              </a:gs>
              <a:gs pos="50000">
                <a:srgbClr val="AD0000"/>
              </a:gs>
              <a:gs pos="100000">
                <a:srgbClr val="CE0000"/>
              </a:gs>
            </a:gsLst>
            <a:lin ang="18900000" scaled="1"/>
          </a:gradFill>
          <a:ln w="19050" cap="flat" cmpd="sng">
            <a:solidFill>
              <a:srgbClr val="C00000"/>
            </a:solidFill>
            <a:prstDash val="solid"/>
            <a:round/>
            <a:headEnd type="none" w="med" len="med"/>
            <a:tailEnd type="none" w="med" len="med"/>
          </a:ln>
          <a:effectLst>
            <a:outerShdw blurRad="63500" dist="44450" dir="16200000" algn="ctr" rotWithShape="0">
              <a:srgbClr val="000000">
                <a:alpha val="34998"/>
              </a:srgbClr>
            </a:outerShdw>
          </a:effectLst>
        </p:spPr>
        <p:txBody>
          <a:bodyPr/>
          <a:lstStyle/>
          <a:p>
            <a:endParaRPr lang="en-US" dirty="0"/>
          </a:p>
        </p:txBody>
      </p:sp>
      <p:sp>
        <p:nvSpPr>
          <p:cNvPr id="9" name="Title 8"/>
          <p:cNvSpPr>
            <a:spLocks noGrp="1"/>
          </p:cNvSpPr>
          <p:nvPr>
            <p:ph type="ctrTitle"/>
          </p:nvPr>
        </p:nvSpPr>
        <p:spPr>
          <a:xfrm>
            <a:off x="429064" y="3337560"/>
            <a:ext cx="6480048" cy="2301240"/>
          </a:xfrm>
        </p:spPr>
        <p:txBody>
          <a:bodyPr anchor="t"/>
          <a:lstStyle>
            <a:lvl1pPr algn="r">
              <a:defRPr lang="en-US" b="1" cap="all" baseline="0" dirty="0">
                <a:ln w="5000" cmpd="sng">
                  <a:noFill/>
                  <a:prstDash val="solid"/>
                </a:ln>
                <a:solidFill>
                  <a:schemeClr val="tx1"/>
                </a:solidFill>
                <a:effectLst>
                  <a:outerShdw blurRad="50800" dist="38100" dir="5400000" algn="t" rotWithShape="0">
                    <a:prstClr val="black">
                      <a:alpha val="50000"/>
                    </a:prstClr>
                  </a:outerShdw>
                </a:effectLst>
              </a:defRPr>
            </a:lvl1pPr>
          </a:lstStyle>
          <a:p>
            <a:r>
              <a:rPr lang="en-US"/>
              <a:t>Click to edit Master title style</a:t>
            </a:r>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grpSp>
        <p:nvGrpSpPr>
          <p:cNvPr id="3" name="Group 2"/>
          <p:cNvGrpSpPr/>
          <p:nvPr userDrawn="1"/>
        </p:nvGrpSpPr>
        <p:grpSpPr>
          <a:xfrm>
            <a:off x="7010400" y="6209935"/>
            <a:ext cx="2133600" cy="598662"/>
            <a:chOff x="7010400" y="6209935"/>
            <a:chExt cx="2133600" cy="598662"/>
          </a:xfrm>
        </p:grpSpPr>
        <p:pic>
          <p:nvPicPr>
            <p:cNvPr id="7" name="Picture 6" descr="http://www.scouting.org/filestore/global/cubscout.gif?w=125&amp;h=125&amp;a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010400" y="6209935"/>
              <a:ext cx="609600" cy="598662"/>
            </a:xfrm>
            <a:prstGeom prst="rect">
              <a:avLst/>
            </a:prstGeom>
            <a:noFill/>
            <a:ln>
              <a:noFill/>
            </a:ln>
          </p:spPr>
        </p:pic>
        <p:sp>
          <p:nvSpPr>
            <p:cNvPr id="2" name="TextBox 1"/>
            <p:cNvSpPr txBox="1"/>
            <p:nvPr userDrawn="1"/>
          </p:nvSpPr>
          <p:spPr>
            <a:xfrm>
              <a:off x="7620000" y="6324600"/>
              <a:ext cx="1524000" cy="369332"/>
            </a:xfrm>
            <a:prstGeom prst="rect">
              <a:avLst/>
            </a:prstGeom>
            <a:noFill/>
          </p:spPr>
          <p:txBody>
            <a:bodyPr wrap="square" rtlCol="0">
              <a:spAutoFit/>
            </a:bodyPr>
            <a:lstStyle/>
            <a:p>
              <a:r>
                <a:rPr lang="en-US" dirty="0">
                  <a:solidFill>
                    <a:schemeClr val="bg1"/>
                  </a:solidFill>
                </a:rPr>
                <a:t>Do Your Best</a:t>
              </a:r>
            </a:p>
          </p:txBody>
        </p:sp>
      </p:grpSp>
    </p:spTree>
    <p:extLst>
      <p:ext uri="{BB962C8B-B14F-4D97-AF65-F5344CB8AC3E}">
        <p14:creationId xmlns:p14="http://schemas.microsoft.com/office/powerpoint/2010/main" val="422510219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5917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noFill/>
                  <a:prstDash val="solid"/>
                </a:ln>
                <a:solidFill>
                  <a:schemeClr val="bg1"/>
                </a:solidFill>
                <a:effectLst>
                  <a:outerShdw blurRad="50800" dist="38100" dir="5400000" algn="t" rotWithShape="0">
                    <a:prstClr val="black">
                      <a:alpha val="5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bg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Tree>
    <p:extLst>
      <p:ext uri="{BB962C8B-B14F-4D97-AF65-F5344CB8AC3E}">
        <p14:creationId xmlns:p14="http://schemas.microsoft.com/office/powerpoint/2010/main" val="29314432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a:t>Click to edit Master title style</a:t>
            </a:r>
          </a:p>
        </p:txBody>
      </p:sp>
      <p:sp>
        <p:nvSpPr>
          <p:cNvPr id="3" name="Content Placeholder 2"/>
          <p:cNvSpPr>
            <a:spLocks noGrp="1"/>
          </p:cNvSpPr>
          <p:nvPr>
            <p:ph sz="half" idx="1"/>
          </p:nvPr>
        </p:nvSpPr>
        <p:spPr>
          <a:xfrm>
            <a:off x="457200" y="1600201"/>
            <a:ext cx="3657600" cy="4114800"/>
          </a:xfrm>
        </p:spPr>
        <p:txBody>
          <a:bodyPr/>
          <a:lstStyle>
            <a:lvl1pPr>
              <a:defRPr sz="2600"/>
            </a:lvl1pPr>
            <a:lvl2pPr>
              <a:defRPr sz="22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1"/>
            <a:ext cx="3657600" cy="4114800"/>
          </a:xfrm>
        </p:spPr>
        <p:txBody>
          <a:bodyPr/>
          <a:lstStyle>
            <a:lvl1pPr>
              <a:defRPr sz="2600"/>
            </a:lvl1pPr>
            <a:lvl2pPr>
              <a:defRPr sz="22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0036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Tree>
    <p:extLst>
      <p:ext uri="{BB962C8B-B14F-4D97-AF65-F5344CB8AC3E}">
        <p14:creationId xmlns:p14="http://schemas.microsoft.com/office/powerpoint/2010/main" val="2730146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813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ln>
                  <a:noFill/>
                </a:ln>
                <a:solidFill>
                  <a:schemeClr val="bg1"/>
                </a:solidFill>
              </a:defRPr>
            </a:lvl1pPr>
          </a:lstStyle>
          <a:p>
            <a:r>
              <a:rPr lang="en-US"/>
              <a:t>Click to edit Master title style</a:t>
            </a:r>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457200" y="1981200"/>
            <a:ext cx="7086600" cy="3733800"/>
          </a:xfrm>
        </p:spPr>
        <p:txBody>
          <a:bodyPr/>
          <a:lstStyle>
            <a:lvl1pPr>
              <a:defRPr sz="2800"/>
            </a:lvl1pPr>
            <a:lvl2pPr>
              <a:defRPr sz="2400"/>
            </a:lvl2pPr>
            <a:lvl3pPr>
              <a:defRPr sz="22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28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46492" y="1386101"/>
            <a:ext cx="3053868" cy="1253808"/>
          </a:xfrm>
        </p:spPr>
        <p:txBody>
          <a:bodyPr anchor="b"/>
          <a:lstStyle>
            <a:lvl1pPr algn="l">
              <a:buNone/>
              <a:defRPr sz="2200" b="1">
                <a:ln>
                  <a:noFill/>
                </a:ln>
                <a:solidFill>
                  <a:schemeClr val="bg1"/>
                </a:solidFill>
              </a:defRPr>
            </a:lvl1pPr>
          </a:lstStyle>
          <a:p>
            <a:r>
              <a:rPr lang="en-US"/>
              <a:t>Click to edit Master title style</a:t>
            </a:r>
          </a:p>
        </p:txBody>
      </p:sp>
      <p:sp>
        <p:nvSpPr>
          <p:cNvPr id="3" name="Picture Placeholder 2"/>
          <p:cNvSpPr>
            <a:spLocks noGrp="1"/>
          </p:cNvSpPr>
          <p:nvPr>
            <p:ph type="pic" idx="1"/>
          </p:nvPr>
        </p:nvSpPr>
        <p:spPr>
          <a:xfrm>
            <a:off x="355388" y="700299"/>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846494" y="2679157"/>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Tree>
    <p:extLst>
      <p:ext uri="{BB962C8B-B14F-4D97-AF65-F5344CB8AC3E}">
        <p14:creationId xmlns:p14="http://schemas.microsoft.com/office/powerpoint/2010/main" val="3616051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600201"/>
            <a:ext cx="7467600" cy="39623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168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524000" cy="5211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2117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3241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
        <p:cNvGrpSpPr/>
        <p:nvPr/>
      </p:nvGrpSpPr>
      <p:grpSpPr>
        <a:xfrm>
          <a:off x="0" y="0"/>
          <a:ext cx="0" cy="0"/>
          <a:chOff x="0" y="0"/>
          <a:chExt cx="0" cy="0"/>
        </a:xfrm>
      </p:grpSpPr>
      <p:sp>
        <p:nvSpPr>
          <p:cNvPr id="10" name="Freeform 9"/>
          <p:cNvSpPr>
            <a:spLocks/>
          </p:cNvSpPr>
          <p:nvPr userDrawn="1"/>
        </p:nvSpPr>
        <p:spPr bwMode="auto">
          <a:xfrm>
            <a:off x="8153400" y="-9525"/>
            <a:ext cx="990600" cy="6858000"/>
          </a:xfrm>
          <a:custGeom>
            <a:avLst/>
            <a:gdLst>
              <a:gd name="T0" fmla="*/ 512689843 w 1914"/>
              <a:gd name="T1" fmla="*/ 22587518 h 4329"/>
              <a:gd name="T2" fmla="*/ 512689843 w 1914"/>
              <a:gd name="T3" fmla="*/ 2147483647 h 4329"/>
              <a:gd name="T4" fmla="*/ 54643960 w 1914"/>
              <a:gd name="T5" fmla="*/ 2147483647 h 4329"/>
              <a:gd name="T6" fmla="*/ 0 w 1914"/>
              <a:gd name="T7" fmla="*/ 0 h 4329"/>
              <a:gd name="T8" fmla="*/ 512689843 w 1914"/>
              <a:gd name="T9" fmla="*/ 22587518 h 43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 h="4329">
                <a:moveTo>
                  <a:pt x="1914" y="9"/>
                </a:moveTo>
                <a:lnTo>
                  <a:pt x="1914" y="4329"/>
                </a:lnTo>
                <a:lnTo>
                  <a:pt x="204" y="4327"/>
                </a:lnTo>
                <a:cubicBezTo>
                  <a:pt x="1288" y="3574"/>
                  <a:pt x="1608" y="1590"/>
                  <a:pt x="0" y="0"/>
                </a:cubicBezTo>
                <a:lnTo>
                  <a:pt x="1914" y="9"/>
                </a:lnTo>
                <a:close/>
              </a:path>
            </a:pathLst>
          </a:custGeom>
          <a:solidFill>
            <a:srgbClr val="002060"/>
          </a:solidFill>
          <a:ln w="19050" cap="flat" cmpd="sng">
            <a:solidFill>
              <a:srgbClr val="002060"/>
            </a:solidFill>
            <a:prstDash val="solid"/>
            <a:round/>
            <a:headEnd type="none" w="med" len="med"/>
            <a:tailEnd type="none" w="med" len="med"/>
          </a:ln>
          <a:effectLst>
            <a:outerShdw blurRad="63500" dist="50800" dir="10800000" algn="ctr" rotWithShape="0">
              <a:srgbClr val="000000">
                <a:alpha val="45000"/>
              </a:srgbClr>
            </a:outerShdw>
          </a:effectLst>
        </p:spPr>
        <p:txBody>
          <a:bodyPr/>
          <a:lstStyle/>
          <a:p>
            <a:endParaRPr lang="en-US"/>
          </a:p>
        </p:txBody>
      </p:sp>
      <p:sp>
        <p:nvSpPr>
          <p:cNvPr id="11" name="Freeform 10"/>
          <p:cNvSpPr>
            <a:spLocks/>
          </p:cNvSpPr>
          <p:nvPr userDrawn="1"/>
        </p:nvSpPr>
        <p:spPr bwMode="auto">
          <a:xfrm>
            <a:off x="0" y="5181600"/>
            <a:ext cx="9144000" cy="1682750"/>
          </a:xfrm>
          <a:custGeom>
            <a:avLst/>
            <a:gdLst>
              <a:gd name="T0" fmla="*/ 0 w 5760"/>
              <a:gd name="T1" fmla="*/ 1347717 h 1331"/>
              <a:gd name="T2" fmla="*/ 0 w 5760"/>
              <a:gd name="T3" fmla="*/ 1682750 h 1331"/>
              <a:gd name="T4" fmla="*/ 9144000 w 5760"/>
              <a:gd name="T5" fmla="*/ 1682750 h 1331"/>
              <a:gd name="T6" fmla="*/ 9144000 w 5760"/>
              <a:gd name="T7" fmla="*/ 0 h 1331"/>
              <a:gd name="T8" fmla="*/ 0 w 5760"/>
              <a:gd name="T9" fmla="*/ 1347717 h 1331"/>
              <a:gd name="T10" fmla="*/ 0 60000 65536"/>
              <a:gd name="T11" fmla="*/ 0 60000 65536"/>
              <a:gd name="T12" fmla="*/ 0 60000 65536"/>
              <a:gd name="T13" fmla="*/ 0 60000 65536"/>
              <a:gd name="T14" fmla="*/ 0 60000 65536"/>
              <a:gd name="T15" fmla="*/ 0 w 5760"/>
              <a:gd name="T16" fmla="*/ 0 h 1331"/>
              <a:gd name="T17" fmla="*/ 5760 w 5760"/>
              <a:gd name="T18" fmla="*/ 1331 h 1331"/>
            </a:gdLst>
            <a:ahLst/>
            <a:cxnLst>
              <a:cxn ang="T10">
                <a:pos x="T0" y="T1"/>
              </a:cxn>
              <a:cxn ang="T11">
                <a:pos x="T2" y="T3"/>
              </a:cxn>
              <a:cxn ang="T12">
                <a:pos x="T4" y="T5"/>
              </a:cxn>
              <a:cxn ang="T13">
                <a:pos x="T6" y="T7"/>
              </a:cxn>
              <a:cxn ang="T14">
                <a:pos x="T8" y="T9"/>
              </a:cxn>
            </a:cxnLst>
            <a:rect l="T15" t="T16" r="T17" b="T18"/>
            <a:pathLst>
              <a:path w="5760" h="1331">
                <a:moveTo>
                  <a:pt x="0" y="1066"/>
                </a:moveTo>
                <a:lnTo>
                  <a:pt x="0" y="1331"/>
                </a:lnTo>
                <a:lnTo>
                  <a:pt x="5760" y="1331"/>
                </a:lnTo>
                <a:lnTo>
                  <a:pt x="5760" y="0"/>
                </a:lnTo>
                <a:cubicBezTo>
                  <a:pt x="3220" y="1206"/>
                  <a:pt x="2250" y="1146"/>
                  <a:pt x="0" y="1066"/>
                </a:cubicBezTo>
                <a:close/>
              </a:path>
            </a:pathLst>
          </a:custGeom>
          <a:gradFill rotWithShape="1">
            <a:gsLst>
              <a:gs pos="0">
                <a:srgbClr val="770000"/>
              </a:gs>
              <a:gs pos="50000">
                <a:srgbClr val="AD0000"/>
              </a:gs>
              <a:gs pos="100000">
                <a:srgbClr val="CE0000"/>
              </a:gs>
            </a:gsLst>
            <a:lin ang="18900000" scaled="1"/>
          </a:gradFill>
          <a:ln w="19050" cap="flat" cmpd="sng">
            <a:solidFill>
              <a:srgbClr val="C00000"/>
            </a:solidFill>
            <a:prstDash val="solid"/>
            <a:round/>
            <a:headEnd type="none" w="med" len="med"/>
            <a:tailEnd type="none" w="med" len="med"/>
          </a:ln>
          <a:effectLst>
            <a:outerShdw blurRad="63500" dist="44450" dir="16200000" algn="ctr" rotWithShape="0">
              <a:srgbClr val="000000">
                <a:alpha val="34998"/>
              </a:srgbClr>
            </a:outerShdw>
          </a:effectLst>
        </p:spPr>
        <p:txBody>
          <a:bodyPr/>
          <a:lstStyle/>
          <a:p>
            <a:endParaRPr lang="en-US"/>
          </a:p>
        </p:txBody>
      </p:sp>
      <p:sp>
        <p:nvSpPr>
          <p:cNvPr id="1028" name="Title Placeholder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n-US" altLang="en-US"/>
              <a:t>Click to edit Master title style</a:t>
            </a:r>
          </a:p>
        </p:txBody>
      </p:sp>
      <p:sp>
        <p:nvSpPr>
          <p:cNvPr id="1029" name="Text Placeholder 29"/>
          <p:cNvSpPr>
            <a:spLocks noGrp="1"/>
          </p:cNvSpPr>
          <p:nvPr>
            <p:ph type="body" idx="1"/>
          </p:nvPr>
        </p:nvSpPr>
        <p:spPr bwMode="auto">
          <a:xfrm>
            <a:off x="457200" y="1600200"/>
            <a:ext cx="746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7" name="Group 6"/>
          <p:cNvGrpSpPr/>
          <p:nvPr userDrawn="1"/>
        </p:nvGrpSpPr>
        <p:grpSpPr>
          <a:xfrm>
            <a:off x="7010400" y="6209935"/>
            <a:ext cx="2133600" cy="598662"/>
            <a:chOff x="7010400" y="6209935"/>
            <a:chExt cx="2133600" cy="598662"/>
          </a:xfrm>
        </p:grpSpPr>
        <p:pic>
          <p:nvPicPr>
            <p:cNvPr id="8" name="Picture 7" descr="http://www.scouting.org/filestore/global/cubscout.gif?w=125&amp;h=125&amp;a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7010400" y="6209935"/>
              <a:ext cx="609600" cy="598662"/>
            </a:xfrm>
            <a:prstGeom prst="rect">
              <a:avLst/>
            </a:prstGeom>
            <a:noFill/>
            <a:ln>
              <a:noFill/>
            </a:ln>
          </p:spPr>
        </p:pic>
        <p:sp>
          <p:nvSpPr>
            <p:cNvPr id="9" name="TextBox 8"/>
            <p:cNvSpPr txBox="1"/>
            <p:nvPr userDrawn="1"/>
          </p:nvSpPr>
          <p:spPr>
            <a:xfrm>
              <a:off x="7620000" y="6324600"/>
              <a:ext cx="1524000" cy="369332"/>
            </a:xfrm>
            <a:prstGeom prst="rect">
              <a:avLst/>
            </a:prstGeom>
            <a:noFill/>
          </p:spPr>
          <p:txBody>
            <a:bodyPr wrap="square" rtlCol="0">
              <a:spAutoFit/>
            </a:bodyPr>
            <a:lstStyle/>
            <a:p>
              <a:r>
                <a:rPr lang="en-US" dirty="0">
                  <a:solidFill>
                    <a:schemeClr val="tx1"/>
                  </a:solidFill>
                </a:rPr>
                <a:t>Do Your Best</a:t>
              </a:r>
            </a:p>
          </p:txBody>
        </p:sp>
      </p:grpSp>
    </p:spTree>
  </p:cSld>
  <p:clrMap bg1="dk1" tx1="lt1" bg2="dk2" tx2="lt2" accent1="accent1" accent2="accent2" accent3="accent3" accent4="accent4" accent5="accent5" accent6="accent6" hlink="hlink" folHlink="folHlink"/>
  <p:sldLayoutIdLst>
    <p:sldLayoutId id="2147483709" r:id="rId1"/>
    <p:sldLayoutId id="2147483701" r:id="rId2"/>
    <p:sldLayoutId id="2147483710" r:id="rId3"/>
    <p:sldLayoutId id="2147483702" r:id="rId4"/>
    <p:sldLayoutId id="2147483703" r:id="rId5"/>
    <p:sldLayoutId id="2147483704" r:id="rId6"/>
    <p:sldLayoutId id="2147483705" r:id="rId7"/>
    <p:sldLayoutId id="2147483706" r:id="rId8"/>
    <p:sldLayoutId id="2147483707" r:id="rId9"/>
    <p:sldLayoutId id="2147483708" r:id="rId10"/>
  </p:sldLayoutIdLst>
  <p:txStyles>
    <p:titleStyle>
      <a:lvl1pPr algn="l" rtl="0" eaLnBrk="0" fontAlgn="base" hangingPunct="0">
        <a:spcBef>
          <a:spcPct val="0"/>
        </a:spcBef>
        <a:spcAft>
          <a:spcPct val="0"/>
        </a:spcAft>
        <a:defRPr sz="4600" kern="1200">
          <a:solidFill>
            <a:schemeClr val="bg1"/>
          </a:solidFill>
          <a:latin typeface="+mj-lt"/>
          <a:ea typeface="Geneva" charset="0"/>
          <a:cs typeface="+mj-cs"/>
        </a:defRPr>
      </a:lvl1pPr>
      <a:lvl2pPr algn="l" rtl="0" eaLnBrk="0" fontAlgn="base" hangingPunct="0">
        <a:spcBef>
          <a:spcPct val="0"/>
        </a:spcBef>
        <a:spcAft>
          <a:spcPct val="0"/>
        </a:spcAft>
        <a:defRPr sz="4600">
          <a:solidFill>
            <a:schemeClr val="bg1"/>
          </a:solidFill>
          <a:latin typeface="Franklin Gothic Book" charset="0"/>
          <a:ea typeface="Geneva" charset="0"/>
        </a:defRPr>
      </a:lvl2pPr>
      <a:lvl3pPr algn="l" rtl="0" eaLnBrk="0" fontAlgn="base" hangingPunct="0">
        <a:spcBef>
          <a:spcPct val="0"/>
        </a:spcBef>
        <a:spcAft>
          <a:spcPct val="0"/>
        </a:spcAft>
        <a:defRPr sz="4600">
          <a:solidFill>
            <a:schemeClr val="bg1"/>
          </a:solidFill>
          <a:latin typeface="Franklin Gothic Book" charset="0"/>
          <a:ea typeface="Geneva" charset="0"/>
        </a:defRPr>
      </a:lvl3pPr>
      <a:lvl4pPr algn="l" rtl="0" eaLnBrk="0" fontAlgn="base" hangingPunct="0">
        <a:spcBef>
          <a:spcPct val="0"/>
        </a:spcBef>
        <a:spcAft>
          <a:spcPct val="0"/>
        </a:spcAft>
        <a:defRPr sz="4600">
          <a:solidFill>
            <a:schemeClr val="bg1"/>
          </a:solidFill>
          <a:latin typeface="Franklin Gothic Book" charset="0"/>
          <a:ea typeface="Geneva" charset="0"/>
        </a:defRPr>
      </a:lvl4pPr>
      <a:lvl5pPr algn="l" rtl="0" eaLnBrk="0" fontAlgn="base" hangingPunct="0">
        <a:spcBef>
          <a:spcPct val="0"/>
        </a:spcBef>
        <a:spcAft>
          <a:spcPct val="0"/>
        </a:spcAft>
        <a:defRPr sz="4600">
          <a:solidFill>
            <a:schemeClr val="bg1"/>
          </a:solidFill>
          <a:latin typeface="Franklin Gothic Book" charset="0"/>
          <a:ea typeface="Geneva" charset="0"/>
        </a:defRPr>
      </a:lvl5pPr>
      <a:lvl6pPr marL="457200" algn="l" rtl="0" fontAlgn="base">
        <a:spcBef>
          <a:spcPct val="0"/>
        </a:spcBef>
        <a:spcAft>
          <a:spcPct val="0"/>
        </a:spcAft>
        <a:defRPr sz="4600">
          <a:solidFill>
            <a:schemeClr val="bg1"/>
          </a:solidFill>
          <a:latin typeface="Franklin Gothic Book" charset="0"/>
          <a:ea typeface="Geneva" charset="0"/>
        </a:defRPr>
      </a:lvl6pPr>
      <a:lvl7pPr marL="914400" algn="l" rtl="0" fontAlgn="base">
        <a:spcBef>
          <a:spcPct val="0"/>
        </a:spcBef>
        <a:spcAft>
          <a:spcPct val="0"/>
        </a:spcAft>
        <a:defRPr sz="4600">
          <a:solidFill>
            <a:schemeClr val="bg1"/>
          </a:solidFill>
          <a:latin typeface="Franklin Gothic Book" charset="0"/>
          <a:ea typeface="Geneva" charset="0"/>
        </a:defRPr>
      </a:lvl7pPr>
      <a:lvl8pPr marL="1371600" algn="l" rtl="0" fontAlgn="base">
        <a:spcBef>
          <a:spcPct val="0"/>
        </a:spcBef>
        <a:spcAft>
          <a:spcPct val="0"/>
        </a:spcAft>
        <a:defRPr sz="4600">
          <a:solidFill>
            <a:schemeClr val="bg1"/>
          </a:solidFill>
          <a:latin typeface="Franklin Gothic Book" charset="0"/>
          <a:ea typeface="Geneva" charset="0"/>
        </a:defRPr>
      </a:lvl8pPr>
      <a:lvl9pPr marL="1828800" algn="l" rtl="0" fontAlgn="base">
        <a:spcBef>
          <a:spcPct val="0"/>
        </a:spcBef>
        <a:spcAft>
          <a:spcPct val="0"/>
        </a:spcAft>
        <a:defRPr sz="4600">
          <a:solidFill>
            <a:schemeClr val="bg1"/>
          </a:solidFill>
          <a:latin typeface="Franklin Gothic Book" charset="0"/>
          <a:ea typeface="Geneva" charset="0"/>
        </a:defRPr>
      </a:lvl9pPr>
    </p:titleStyle>
    <p:bodyStyle>
      <a:lvl1pPr marL="419100" indent="-382588" algn="l" rtl="0" eaLnBrk="0" fontAlgn="base" hangingPunct="0">
        <a:spcBef>
          <a:spcPct val="20000"/>
        </a:spcBef>
        <a:spcAft>
          <a:spcPct val="0"/>
        </a:spcAft>
        <a:buClr>
          <a:schemeClr val="tx1"/>
        </a:buClr>
        <a:buSzPct val="80000"/>
        <a:buFont typeface="Wingdings 2" panose="05020102010507070707" pitchFamily="18" charset="2"/>
        <a:buChar char=""/>
        <a:defRPr sz="3000" kern="1200">
          <a:solidFill>
            <a:schemeClr val="bg1"/>
          </a:solidFill>
          <a:latin typeface="+mn-lt"/>
          <a:ea typeface="Geneva" charset="0"/>
          <a:cs typeface="+mn-cs"/>
        </a:defRPr>
      </a:lvl1pPr>
      <a:lvl2pPr marL="722313" indent="-273050" algn="l" rtl="0" eaLnBrk="0" fontAlgn="base" hangingPunct="0">
        <a:spcBef>
          <a:spcPct val="20000"/>
        </a:spcBef>
        <a:spcAft>
          <a:spcPct val="0"/>
        </a:spcAft>
        <a:buClr>
          <a:schemeClr val="tx1"/>
        </a:buClr>
        <a:buSzPct val="90000"/>
        <a:buFont typeface="Arial" panose="020B0604020202020204" pitchFamily="34" charset="0"/>
        <a:buChar char="•"/>
        <a:defRPr sz="2600" kern="1200">
          <a:solidFill>
            <a:schemeClr val="bg1"/>
          </a:solidFill>
          <a:latin typeface="+mn-lt"/>
          <a:ea typeface="Geneva" charset="0"/>
          <a:cs typeface="+mn-cs"/>
        </a:defRPr>
      </a:lvl2pPr>
      <a:lvl3pPr marL="1004888" indent="-255588" algn="l" rtl="0" eaLnBrk="0" fontAlgn="base" hangingPunct="0">
        <a:spcBef>
          <a:spcPct val="20000"/>
        </a:spcBef>
        <a:spcAft>
          <a:spcPct val="0"/>
        </a:spcAft>
        <a:buClr>
          <a:schemeClr val="tx1"/>
        </a:buClr>
        <a:buSzPct val="85000"/>
        <a:buFont typeface="Arial" panose="020B0604020202020204" pitchFamily="34" charset="0"/>
        <a:buChar char="○"/>
        <a:defRPr sz="2400" kern="1200">
          <a:solidFill>
            <a:schemeClr val="bg1"/>
          </a:solidFill>
          <a:latin typeface="+mn-lt"/>
          <a:ea typeface="Geneva" charset="0"/>
          <a:cs typeface="+mn-cs"/>
        </a:defRPr>
      </a:lvl3pPr>
      <a:lvl4pPr marL="1279525" indent="-236538" algn="l" rtl="0" eaLnBrk="0" fontAlgn="base" hangingPunct="0">
        <a:spcBef>
          <a:spcPct val="20000"/>
        </a:spcBef>
        <a:spcAft>
          <a:spcPct val="0"/>
        </a:spcAft>
        <a:buClr>
          <a:schemeClr val="tx1"/>
        </a:buClr>
        <a:buSzPct val="90000"/>
        <a:buFont typeface="Wingdings 2" panose="05020102010507070707" pitchFamily="18" charset="2"/>
        <a:buChar char=""/>
        <a:defRPr sz="2000" kern="1200">
          <a:solidFill>
            <a:schemeClr val="bg1"/>
          </a:solidFill>
          <a:latin typeface="+mn-lt"/>
          <a:ea typeface="Geneva" charset="0"/>
          <a:cs typeface="+mn-cs"/>
        </a:defRPr>
      </a:lvl4pPr>
      <a:lvl5pPr marL="1489075" indent="-182563" algn="l" rtl="0" eaLnBrk="0" fontAlgn="base" hangingPunct="0">
        <a:spcBef>
          <a:spcPct val="20000"/>
        </a:spcBef>
        <a:spcAft>
          <a:spcPct val="0"/>
        </a:spcAft>
        <a:buClr>
          <a:schemeClr val="tx1"/>
        </a:buClr>
        <a:buSzPct val="100000"/>
        <a:buFont typeface="Arial" panose="020B0604020202020204" pitchFamily="34" charset="0"/>
        <a:buChar char="-"/>
        <a:defRPr sz="2000" kern="1200">
          <a:solidFill>
            <a:schemeClr val="bg1"/>
          </a:solidFill>
          <a:latin typeface="+mn-lt"/>
          <a:ea typeface="Geneva" charset="0"/>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https://boyslifeorg.files.wordpress.com/2011/03/tipup3.jpg?w=700"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625" y="3336925"/>
            <a:ext cx="6480175" cy="2301875"/>
          </a:xfrm>
        </p:spPr>
        <p:txBody>
          <a:bodyPr>
            <a:normAutofit/>
          </a:bodyPr>
          <a:lstStyle/>
          <a:p>
            <a:pPr eaLnBrk="1" fontAlgn="auto" hangingPunct="1">
              <a:spcAft>
                <a:spcPts val="0"/>
              </a:spcAft>
              <a:defRPr/>
            </a:pPr>
            <a:r>
              <a:rPr lang="en-US" dirty="0">
                <a:ea typeface="+mj-ea"/>
              </a:rPr>
              <a:t>Pack Meeting</a:t>
            </a:r>
            <a:br>
              <a:rPr lang="en-US" dirty="0">
                <a:ea typeface="+mj-ea"/>
              </a:rPr>
            </a:br>
            <a:r>
              <a:rPr lang="en-US" dirty="0">
                <a:ea typeface="+mj-ea"/>
              </a:rPr>
              <a:t>Pack 232 </a:t>
            </a:r>
            <a:endParaRPr dirty="0">
              <a:ea typeface="+mj-ea"/>
            </a:endParaRPr>
          </a:p>
        </p:txBody>
      </p:sp>
      <p:sp>
        <p:nvSpPr>
          <p:cNvPr id="3074" name="Subtitle 2"/>
          <p:cNvSpPr>
            <a:spLocks noGrp="1"/>
          </p:cNvSpPr>
          <p:nvPr>
            <p:ph type="subTitle" idx="1"/>
          </p:nvPr>
        </p:nvSpPr>
        <p:spPr>
          <a:xfrm>
            <a:off x="433388" y="1544638"/>
            <a:ext cx="6480175" cy="1752600"/>
          </a:xfrm>
        </p:spPr>
        <p:txBody>
          <a:bodyPr/>
          <a:lstStyle/>
          <a:p>
            <a:pPr eaLnBrk="1" hangingPunct="1"/>
            <a:r>
              <a:rPr lang="en-US" altLang="en-US" dirty="0">
                <a:ea typeface="Geneva" charset="-128"/>
              </a:rPr>
              <a:t>January 21</a:t>
            </a:r>
            <a:r>
              <a:rPr lang="en-US" altLang="en-US" baseline="30000" dirty="0">
                <a:ea typeface="Geneva" charset="-128"/>
              </a:rPr>
              <a:t>st</a:t>
            </a:r>
            <a:r>
              <a:rPr lang="en-US" altLang="en-US" dirty="0">
                <a:ea typeface="Geneva" charset="-128"/>
              </a:rPr>
              <a:t> 2020</a:t>
            </a:r>
          </a:p>
        </p:txBody>
      </p:sp>
      <p:pic>
        <p:nvPicPr>
          <p:cNvPr id="4" name="Picture 3" descr="http://www.scouting.org/filestore/global/cubscout.gif?w=125&amp;h=125&amp;a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297238"/>
            <a:ext cx="952500" cy="95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Making Ice Fishing Tip-Ups</a:t>
            </a:r>
          </a:p>
        </p:txBody>
      </p:sp>
      <p:sp>
        <p:nvSpPr>
          <p:cNvPr id="5" name="Content Placeholder 4"/>
          <p:cNvSpPr>
            <a:spLocks noGrp="1"/>
          </p:cNvSpPr>
          <p:nvPr>
            <p:ph idx="1"/>
          </p:nvPr>
        </p:nvSpPr>
        <p:spPr>
          <a:xfrm>
            <a:off x="387492" y="3266774"/>
            <a:ext cx="4489308" cy="2809574"/>
          </a:xfrm>
        </p:spPr>
        <p:txBody>
          <a:bodyPr/>
          <a:lstStyle/>
          <a:p>
            <a:pPr marL="36512" indent="0">
              <a:buClrTx/>
              <a:buNone/>
            </a:pPr>
            <a:r>
              <a:rPr lang="en-US" sz="2000" b="1" dirty="0"/>
              <a:t>Instructions</a:t>
            </a:r>
          </a:p>
          <a:p>
            <a:pPr>
              <a:buClrTx/>
            </a:pPr>
            <a:r>
              <a:rPr lang="en-US" sz="2000" dirty="0"/>
              <a:t>Place Wire through Drilled Hole in Thick Dowel Piece to make the legs</a:t>
            </a:r>
          </a:p>
          <a:p>
            <a:pPr>
              <a:buClrTx/>
            </a:pPr>
            <a:r>
              <a:rPr lang="en-US" sz="2000" dirty="0"/>
              <a:t>Twist Thin Dowel Piece into spring in top of Thick Dowel Piece</a:t>
            </a:r>
          </a:p>
          <a:p>
            <a:pPr>
              <a:buClrTx/>
            </a:pPr>
            <a:r>
              <a:rPr lang="en-US" sz="2000" dirty="0"/>
              <a:t>Make a flag using the Duct Tape</a:t>
            </a:r>
          </a:p>
          <a:p>
            <a:pPr>
              <a:buClrTx/>
            </a:pPr>
            <a:r>
              <a:rPr lang="en-US" sz="2000" dirty="0"/>
              <a:t>Write your name on your tip up and color it with markers/crayons</a:t>
            </a:r>
          </a:p>
          <a:p>
            <a:pPr>
              <a:buClrTx/>
            </a:pPr>
            <a:endParaRPr lang="en-US" sz="2000" dirty="0"/>
          </a:p>
          <a:p>
            <a:pPr marL="36512" indent="0">
              <a:buClrTx/>
              <a:buNone/>
            </a:pPr>
            <a:endParaRPr lang="en-US" dirty="0"/>
          </a:p>
        </p:txBody>
      </p:sp>
      <p:sp>
        <p:nvSpPr>
          <p:cNvPr id="7" name="Content Placeholder 4">
            <a:extLst>
              <a:ext uri="{FF2B5EF4-FFF2-40B4-BE49-F238E27FC236}">
                <a16:creationId xmlns:a16="http://schemas.microsoft.com/office/drawing/2014/main" id="{8E24B48C-69F0-4245-A4AD-82C6E38CEE04}"/>
              </a:ext>
            </a:extLst>
          </p:cNvPr>
          <p:cNvSpPr txBox="1">
            <a:spLocks/>
          </p:cNvSpPr>
          <p:nvPr/>
        </p:nvSpPr>
        <p:spPr bwMode="auto">
          <a:xfrm>
            <a:off x="403258" y="1295400"/>
            <a:ext cx="3940142" cy="1971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19100" indent="-382588" algn="l" rtl="0" eaLnBrk="0" fontAlgn="base" hangingPunct="0">
              <a:spcBef>
                <a:spcPct val="20000"/>
              </a:spcBef>
              <a:spcAft>
                <a:spcPct val="0"/>
              </a:spcAft>
              <a:buClr>
                <a:schemeClr val="tx1"/>
              </a:buClr>
              <a:buSzPct val="80000"/>
              <a:buFont typeface="Wingdings 2" panose="05020102010507070707" pitchFamily="18" charset="2"/>
              <a:buChar char=""/>
              <a:defRPr sz="3000" kern="1200">
                <a:solidFill>
                  <a:schemeClr val="bg1"/>
                </a:solidFill>
                <a:latin typeface="+mn-lt"/>
                <a:ea typeface="Geneva" charset="0"/>
                <a:cs typeface="+mn-cs"/>
              </a:defRPr>
            </a:lvl1pPr>
            <a:lvl2pPr marL="722313" indent="-273050" algn="l" rtl="0" eaLnBrk="0" fontAlgn="base" hangingPunct="0">
              <a:spcBef>
                <a:spcPct val="20000"/>
              </a:spcBef>
              <a:spcAft>
                <a:spcPct val="0"/>
              </a:spcAft>
              <a:buClr>
                <a:schemeClr val="tx1"/>
              </a:buClr>
              <a:buSzPct val="90000"/>
              <a:buFont typeface="Arial" panose="020B0604020202020204" pitchFamily="34" charset="0"/>
              <a:buChar char="•"/>
              <a:defRPr sz="2600" kern="1200">
                <a:solidFill>
                  <a:schemeClr val="bg1"/>
                </a:solidFill>
                <a:latin typeface="+mn-lt"/>
                <a:ea typeface="Geneva" charset="0"/>
                <a:cs typeface="+mn-cs"/>
              </a:defRPr>
            </a:lvl2pPr>
            <a:lvl3pPr marL="1004888" indent="-255588" algn="l" rtl="0" eaLnBrk="0" fontAlgn="base" hangingPunct="0">
              <a:spcBef>
                <a:spcPct val="20000"/>
              </a:spcBef>
              <a:spcAft>
                <a:spcPct val="0"/>
              </a:spcAft>
              <a:buClr>
                <a:schemeClr val="tx1"/>
              </a:buClr>
              <a:buSzPct val="85000"/>
              <a:buFont typeface="Arial" panose="020B0604020202020204" pitchFamily="34" charset="0"/>
              <a:buChar char="○"/>
              <a:defRPr sz="2400" kern="1200">
                <a:solidFill>
                  <a:schemeClr val="bg1"/>
                </a:solidFill>
                <a:latin typeface="+mn-lt"/>
                <a:ea typeface="Geneva" charset="0"/>
                <a:cs typeface="+mn-cs"/>
              </a:defRPr>
            </a:lvl3pPr>
            <a:lvl4pPr marL="1279525" indent="-236538" algn="l" rtl="0" eaLnBrk="0" fontAlgn="base" hangingPunct="0">
              <a:spcBef>
                <a:spcPct val="20000"/>
              </a:spcBef>
              <a:spcAft>
                <a:spcPct val="0"/>
              </a:spcAft>
              <a:buClr>
                <a:schemeClr val="tx1"/>
              </a:buClr>
              <a:buSzPct val="90000"/>
              <a:buFont typeface="Wingdings 2" panose="05020102010507070707" pitchFamily="18" charset="2"/>
              <a:buChar char=""/>
              <a:defRPr sz="2000" kern="1200">
                <a:solidFill>
                  <a:schemeClr val="bg1"/>
                </a:solidFill>
                <a:latin typeface="+mn-lt"/>
                <a:ea typeface="Geneva" charset="0"/>
                <a:cs typeface="+mn-cs"/>
              </a:defRPr>
            </a:lvl4pPr>
            <a:lvl5pPr marL="1489075" indent="-182563" algn="l" rtl="0" eaLnBrk="0" fontAlgn="base" hangingPunct="0">
              <a:spcBef>
                <a:spcPct val="20000"/>
              </a:spcBef>
              <a:spcAft>
                <a:spcPct val="0"/>
              </a:spcAft>
              <a:buClr>
                <a:schemeClr val="tx1"/>
              </a:buClr>
              <a:buSzPct val="100000"/>
              <a:buFont typeface="Arial" panose="020B0604020202020204" pitchFamily="34" charset="0"/>
              <a:buChar char="-"/>
              <a:defRPr sz="2000" kern="1200">
                <a:solidFill>
                  <a:schemeClr val="bg1"/>
                </a:solidFill>
                <a:latin typeface="+mn-lt"/>
                <a:ea typeface="Geneva" charset="0"/>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512" indent="0">
              <a:buClrTx/>
              <a:buNone/>
            </a:pPr>
            <a:r>
              <a:rPr lang="en-US" sz="2000" b="1" dirty="0"/>
              <a:t>SUPPLIES</a:t>
            </a:r>
          </a:p>
          <a:p>
            <a:pPr>
              <a:buClrTx/>
            </a:pPr>
            <a:r>
              <a:rPr lang="en-US" sz="2000" dirty="0"/>
              <a:t>1 Thick Dowel Piece</a:t>
            </a:r>
          </a:p>
          <a:p>
            <a:pPr>
              <a:buClrTx/>
            </a:pPr>
            <a:r>
              <a:rPr lang="en-US" sz="2000" dirty="0"/>
              <a:t>1 Thin Dowel Piece</a:t>
            </a:r>
          </a:p>
          <a:p>
            <a:pPr>
              <a:buClrTx/>
            </a:pPr>
            <a:r>
              <a:rPr lang="en-US" sz="2000" dirty="0"/>
              <a:t>1 Wire</a:t>
            </a:r>
          </a:p>
          <a:p>
            <a:pPr>
              <a:buClrTx/>
            </a:pPr>
            <a:r>
              <a:rPr lang="en-US" sz="2000" dirty="0"/>
              <a:t>A piece of Duct Tape</a:t>
            </a:r>
          </a:p>
        </p:txBody>
      </p:sp>
      <p:sp>
        <p:nvSpPr>
          <p:cNvPr id="2" name="Rectangle 2">
            <a:extLst>
              <a:ext uri="{FF2B5EF4-FFF2-40B4-BE49-F238E27FC236}">
                <a16:creationId xmlns:a16="http://schemas.microsoft.com/office/drawing/2014/main" id="{59E073F6-4EFF-D743-A8A7-D7BEDB613585}"/>
              </a:ext>
            </a:extLst>
          </p:cNvPr>
          <p:cNvSpPr>
            <a:spLocks noChangeArrowheads="1"/>
          </p:cNvSpPr>
          <p:nvPr/>
        </p:nvSpPr>
        <p:spPr bwMode="auto">
          <a:xfrm>
            <a:off x="3751384" y="0"/>
            <a:ext cx="539261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5" name="Picture 1" descr="https://boyslifeorg.files.wordpress.com/2011/03/tipup3.jpg?w=700">
            <a:extLst>
              <a:ext uri="{FF2B5EF4-FFF2-40B4-BE49-F238E27FC236}">
                <a16:creationId xmlns:a16="http://schemas.microsoft.com/office/drawing/2014/main" id="{5124F488-6C40-0344-86EA-07A056234AC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4876800" y="1219200"/>
            <a:ext cx="4166920" cy="4754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381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Pack Meeting – Jan. 21</a:t>
            </a:r>
            <a:r>
              <a:rPr lang="en-US" baseline="30000" dirty="0"/>
              <a:t>st</a:t>
            </a:r>
            <a:r>
              <a:rPr lang="en-US" dirty="0"/>
              <a:t> </a:t>
            </a:r>
          </a:p>
        </p:txBody>
      </p:sp>
      <p:sp>
        <p:nvSpPr>
          <p:cNvPr id="5" name="Content Placeholder 4"/>
          <p:cNvSpPr>
            <a:spLocks noGrp="1"/>
          </p:cNvSpPr>
          <p:nvPr>
            <p:ph idx="1"/>
          </p:nvPr>
        </p:nvSpPr>
        <p:spPr/>
        <p:txBody>
          <a:bodyPr/>
          <a:lstStyle/>
          <a:p>
            <a:pPr>
              <a:buClrTx/>
            </a:pPr>
            <a:r>
              <a:rPr lang="en-US" dirty="0"/>
              <a:t>Gathering – Make Ice Fishing Tip-Ups</a:t>
            </a:r>
          </a:p>
          <a:p>
            <a:pPr>
              <a:buClrTx/>
            </a:pPr>
            <a:r>
              <a:rPr lang="en-US" dirty="0"/>
              <a:t>Opening – Pledge/Oath/Law/Outdoor Code</a:t>
            </a:r>
          </a:p>
          <a:p>
            <a:pPr>
              <a:buClrTx/>
            </a:pPr>
            <a:r>
              <a:rPr lang="en-US" dirty="0"/>
              <a:t>Program – Ice Fishing Presentation</a:t>
            </a:r>
          </a:p>
          <a:p>
            <a:pPr>
              <a:buClrTx/>
            </a:pPr>
            <a:r>
              <a:rPr lang="en-US" dirty="0"/>
              <a:t>Game – M&amp;M Separation Anxiety</a:t>
            </a:r>
          </a:p>
          <a:p>
            <a:pPr>
              <a:buClrTx/>
            </a:pPr>
            <a:r>
              <a:rPr lang="en-US" dirty="0"/>
              <a:t>Recognition - Awards</a:t>
            </a:r>
          </a:p>
          <a:p>
            <a:pPr>
              <a:buClrTx/>
            </a:pPr>
            <a:r>
              <a:rPr lang="en-US" dirty="0"/>
              <a:t>Snacks</a:t>
            </a:r>
          </a:p>
          <a:p>
            <a:pPr>
              <a:buClrTx/>
            </a:pPr>
            <a:r>
              <a:rPr lang="en-US" dirty="0"/>
              <a:t>Announcements</a:t>
            </a:r>
          </a:p>
          <a:p>
            <a:pPr>
              <a:buClrTx/>
            </a:pPr>
            <a:r>
              <a:rPr lang="en-US" dirty="0"/>
              <a:t>Cubmaster’s Minute</a:t>
            </a:r>
          </a:p>
          <a:p>
            <a:pPr marL="36512" indent="0">
              <a:buClrTx/>
              <a:buNone/>
            </a:pPr>
            <a:endParaRPr lang="en-US" dirty="0"/>
          </a:p>
        </p:txBody>
      </p:sp>
    </p:spTree>
    <p:extLst>
      <p:ext uri="{BB962C8B-B14F-4D97-AF65-F5344CB8AC3E}">
        <p14:creationId xmlns:p14="http://schemas.microsoft.com/office/powerpoint/2010/main" val="43679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DC56-34BB-E249-86C1-52852D1AF6F4}"/>
              </a:ext>
            </a:extLst>
          </p:cNvPr>
          <p:cNvSpPr>
            <a:spLocks noGrp="1"/>
          </p:cNvSpPr>
          <p:nvPr>
            <p:ph type="title"/>
          </p:nvPr>
        </p:nvSpPr>
        <p:spPr/>
        <p:txBody>
          <a:bodyPr/>
          <a:lstStyle/>
          <a:p>
            <a:r>
              <a:rPr lang="en-US" dirty="0"/>
              <a:t>Ice Fishing Presentation</a:t>
            </a:r>
          </a:p>
        </p:txBody>
      </p:sp>
      <p:pic>
        <p:nvPicPr>
          <p:cNvPr id="4" name="Picture 3" descr="A group of people that are standing in the snow&#10;&#10;Description automatically generated">
            <a:extLst>
              <a:ext uri="{FF2B5EF4-FFF2-40B4-BE49-F238E27FC236}">
                <a16:creationId xmlns:a16="http://schemas.microsoft.com/office/drawing/2014/main" id="{204D6DBD-533E-1C41-9D28-17C82B8A48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5375" y="1266497"/>
            <a:ext cx="3886200" cy="5181600"/>
          </a:xfrm>
          <a:prstGeom prst="rect">
            <a:avLst/>
          </a:prstGeom>
        </p:spPr>
      </p:pic>
      <p:pic>
        <p:nvPicPr>
          <p:cNvPr id="6" name="Picture 5" descr="A person that is standing in the snow&#10;&#10;Description automatically generated">
            <a:extLst>
              <a:ext uri="{FF2B5EF4-FFF2-40B4-BE49-F238E27FC236}">
                <a16:creationId xmlns:a16="http://schemas.microsoft.com/office/drawing/2014/main" id="{54755917-BD13-3349-A009-A66F17DF35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24" y="1266497"/>
            <a:ext cx="3886200" cy="5181600"/>
          </a:xfrm>
          <a:prstGeom prst="rect">
            <a:avLst/>
          </a:prstGeom>
        </p:spPr>
      </p:pic>
    </p:spTree>
    <p:extLst>
      <p:ext uri="{BB962C8B-B14F-4D97-AF65-F5344CB8AC3E}">
        <p14:creationId xmlns:p14="http://schemas.microsoft.com/office/powerpoint/2010/main" val="1199119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DC56-34BB-E249-86C1-52852D1AF6F4}"/>
              </a:ext>
            </a:extLst>
          </p:cNvPr>
          <p:cNvSpPr>
            <a:spLocks noGrp="1"/>
          </p:cNvSpPr>
          <p:nvPr>
            <p:ph type="title"/>
          </p:nvPr>
        </p:nvSpPr>
        <p:spPr/>
        <p:txBody>
          <a:bodyPr/>
          <a:lstStyle/>
          <a:p>
            <a:r>
              <a:rPr lang="en-US" dirty="0"/>
              <a:t>M&amp;M Separation Anxiety</a:t>
            </a:r>
          </a:p>
        </p:txBody>
      </p:sp>
      <p:pic>
        <p:nvPicPr>
          <p:cNvPr id="4" name="Picture 3" descr="A person sitting at a table&#10;&#10;Description automatically generated">
            <a:extLst>
              <a:ext uri="{FF2B5EF4-FFF2-40B4-BE49-F238E27FC236}">
                <a16:creationId xmlns:a16="http://schemas.microsoft.com/office/drawing/2014/main" id="{80E76B52-84FC-6D41-97F7-89613DC341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600200"/>
            <a:ext cx="7470648" cy="4183563"/>
          </a:xfrm>
          <a:prstGeom prst="rect">
            <a:avLst/>
          </a:prstGeom>
        </p:spPr>
      </p:pic>
    </p:spTree>
    <p:extLst>
      <p:ext uri="{BB962C8B-B14F-4D97-AF65-F5344CB8AC3E}">
        <p14:creationId xmlns:p14="http://schemas.microsoft.com/office/powerpoint/2010/main" val="2829721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DC56-34BB-E249-86C1-52852D1AF6F4}"/>
              </a:ext>
            </a:extLst>
          </p:cNvPr>
          <p:cNvSpPr>
            <a:spLocks noGrp="1"/>
          </p:cNvSpPr>
          <p:nvPr>
            <p:ph type="title"/>
          </p:nvPr>
        </p:nvSpPr>
        <p:spPr/>
        <p:txBody>
          <a:bodyPr/>
          <a:lstStyle/>
          <a:p>
            <a:r>
              <a:rPr lang="en-US" dirty="0"/>
              <a:t>Awards and Den Reports</a:t>
            </a:r>
          </a:p>
        </p:txBody>
      </p:sp>
    </p:spTree>
    <p:extLst>
      <p:ext uri="{BB962C8B-B14F-4D97-AF65-F5344CB8AC3E}">
        <p14:creationId xmlns:p14="http://schemas.microsoft.com/office/powerpoint/2010/main" val="767284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56BF9-55AB-B843-9732-9AA0C7B83BF6}"/>
              </a:ext>
            </a:extLst>
          </p:cNvPr>
          <p:cNvSpPr>
            <a:spLocks noGrp="1"/>
          </p:cNvSpPr>
          <p:nvPr>
            <p:ph type="title"/>
          </p:nvPr>
        </p:nvSpPr>
        <p:spPr>
          <a:xfrm>
            <a:off x="266700" y="571500"/>
            <a:ext cx="7848600" cy="1143000"/>
          </a:xfrm>
        </p:spPr>
        <p:txBody>
          <a:bodyPr/>
          <a:lstStyle/>
          <a:p>
            <a:r>
              <a:rPr lang="en-US" dirty="0"/>
              <a:t>Winter Camping – 2/07-2/09</a:t>
            </a:r>
            <a:br>
              <a:rPr lang="en-US" dirty="0"/>
            </a:br>
            <a:r>
              <a:rPr lang="en-US" dirty="0"/>
              <a:t>10 spots left!</a:t>
            </a:r>
            <a:br>
              <a:rPr lang="en-US" dirty="0"/>
            </a:br>
            <a:endParaRPr lang="en-US" dirty="0"/>
          </a:p>
        </p:txBody>
      </p:sp>
      <p:sp>
        <p:nvSpPr>
          <p:cNvPr id="3" name="Content Placeholder 2">
            <a:extLst>
              <a:ext uri="{FF2B5EF4-FFF2-40B4-BE49-F238E27FC236}">
                <a16:creationId xmlns:a16="http://schemas.microsoft.com/office/drawing/2014/main" id="{32B0A75E-AAFB-DD4A-A33D-2A67C1A70244}"/>
              </a:ext>
            </a:extLst>
          </p:cNvPr>
          <p:cNvSpPr>
            <a:spLocks noGrp="1"/>
          </p:cNvSpPr>
          <p:nvPr>
            <p:ph idx="1"/>
          </p:nvPr>
        </p:nvSpPr>
        <p:spPr>
          <a:xfrm>
            <a:off x="457200" y="1600200"/>
            <a:ext cx="4235696" cy="4114800"/>
          </a:xfrm>
        </p:spPr>
        <p:txBody>
          <a:bodyPr/>
          <a:lstStyle/>
          <a:p>
            <a:pPr>
              <a:buClr>
                <a:schemeClr val="bg1"/>
              </a:buClr>
            </a:pPr>
            <a:r>
              <a:rPr lang="en-US" sz="2000" u="sng" dirty="0"/>
              <a:t>Location</a:t>
            </a:r>
            <a:r>
              <a:rPr lang="en-US" sz="2000" dirty="0"/>
              <a:t> = Rotary Scout Reservation (279 Davitt Lake Road, </a:t>
            </a:r>
            <a:r>
              <a:rPr lang="en-US" sz="2000" dirty="0" err="1"/>
              <a:t>Poestenkill</a:t>
            </a:r>
            <a:r>
              <a:rPr lang="en-US" sz="2000" dirty="0"/>
              <a:t>)</a:t>
            </a:r>
          </a:p>
          <a:p>
            <a:pPr>
              <a:buClr>
                <a:schemeClr val="bg1"/>
              </a:buClr>
            </a:pPr>
            <a:r>
              <a:rPr lang="en-US" sz="2000" u="sng" dirty="0"/>
              <a:t>Cost</a:t>
            </a:r>
            <a:r>
              <a:rPr lang="en-US" sz="2000" dirty="0"/>
              <a:t> = $20/person (please provide a check to Mr. McWilliam)</a:t>
            </a:r>
          </a:p>
          <a:p>
            <a:pPr>
              <a:buClr>
                <a:schemeClr val="bg1"/>
              </a:buClr>
            </a:pPr>
            <a:r>
              <a:rPr lang="en-US" sz="2000" u="sng" dirty="0"/>
              <a:t>REQUIRED Forms:</a:t>
            </a:r>
          </a:p>
          <a:p>
            <a:pPr lvl="1">
              <a:buClr>
                <a:schemeClr val="bg1"/>
              </a:buClr>
            </a:pPr>
            <a:r>
              <a:rPr lang="en-US" sz="1600" dirty="0"/>
              <a:t>BSA Medical Forms – Parts A&amp;B</a:t>
            </a:r>
          </a:p>
          <a:p>
            <a:pPr lvl="1">
              <a:buClr>
                <a:schemeClr val="bg1"/>
              </a:buClr>
            </a:pPr>
            <a:r>
              <a:rPr lang="en-US" sz="1600" dirty="0"/>
              <a:t>BSA Permission Slip</a:t>
            </a:r>
            <a:endParaRPr lang="en-US" sz="2000" dirty="0"/>
          </a:p>
          <a:p>
            <a:pPr>
              <a:buClr>
                <a:schemeClr val="bg1"/>
              </a:buClr>
            </a:pPr>
            <a:r>
              <a:rPr lang="en-US" sz="2000" b="1" dirty="0"/>
              <a:t>BANNED ITEM: </a:t>
            </a:r>
            <a:r>
              <a:rPr lang="en-US" sz="2000" dirty="0"/>
              <a:t>Alcohol</a:t>
            </a:r>
          </a:p>
        </p:txBody>
      </p:sp>
      <p:sp>
        <p:nvSpPr>
          <p:cNvPr id="4" name="TextBox 3">
            <a:extLst>
              <a:ext uri="{FF2B5EF4-FFF2-40B4-BE49-F238E27FC236}">
                <a16:creationId xmlns:a16="http://schemas.microsoft.com/office/drawing/2014/main" id="{923B61EC-41B6-7543-A46F-EC62164C90D2}"/>
              </a:ext>
            </a:extLst>
          </p:cNvPr>
          <p:cNvSpPr txBox="1"/>
          <p:nvPr/>
        </p:nvSpPr>
        <p:spPr>
          <a:xfrm>
            <a:off x="4261646" y="685800"/>
            <a:ext cx="4012623" cy="5693866"/>
          </a:xfrm>
          <a:prstGeom prst="rect">
            <a:avLst/>
          </a:prstGeom>
          <a:noFill/>
        </p:spPr>
        <p:txBody>
          <a:bodyPr wrap="square" rtlCol="0">
            <a:spAutoFit/>
          </a:bodyPr>
          <a:lstStyle/>
          <a:p>
            <a:r>
              <a:rPr lang="en-US" sz="1400" b="1" dirty="0">
                <a:solidFill>
                  <a:schemeClr val="bg1"/>
                </a:solidFill>
              </a:rPr>
              <a:t>Items to Pack:</a:t>
            </a:r>
          </a:p>
          <a:p>
            <a:pPr marL="342900" indent="-342900">
              <a:buAutoNum type="arabicPeriod"/>
            </a:pPr>
            <a:r>
              <a:rPr lang="en-US" sz="1400" dirty="0">
                <a:solidFill>
                  <a:schemeClr val="bg1"/>
                </a:solidFill>
              </a:rPr>
              <a:t>Sleeping Bag</a:t>
            </a:r>
          </a:p>
          <a:p>
            <a:pPr marL="342900" indent="-342900">
              <a:buAutoNum type="arabicPeriod"/>
            </a:pPr>
            <a:r>
              <a:rPr lang="en-US" sz="1400" dirty="0">
                <a:solidFill>
                  <a:schemeClr val="bg1"/>
                </a:solidFill>
              </a:rPr>
              <a:t>Pillow</a:t>
            </a:r>
          </a:p>
          <a:p>
            <a:pPr marL="342900" indent="-342900">
              <a:buAutoNum type="arabicPeriod"/>
            </a:pPr>
            <a:r>
              <a:rPr lang="en-US" sz="1400" dirty="0">
                <a:solidFill>
                  <a:schemeClr val="bg1"/>
                </a:solidFill>
              </a:rPr>
              <a:t>A sleeping pad (your back will thank you)</a:t>
            </a:r>
          </a:p>
          <a:p>
            <a:pPr marL="342900" indent="-342900">
              <a:buAutoNum type="arabicPeriod"/>
            </a:pPr>
            <a:r>
              <a:rPr lang="en-US" sz="1400" dirty="0">
                <a:solidFill>
                  <a:schemeClr val="bg1"/>
                </a:solidFill>
              </a:rPr>
              <a:t>Ear plugs (if you like to sleep peacefully)</a:t>
            </a:r>
          </a:p>
          <a:p>
            <a:pPr marL="342900" indent="-342900">
              <a:buAutoNum type="arabicPeriod"/>
            </a:pPr>
            <a:r>
              <a:rPr lang="en-US" sz="1400" dirty="0">
                <a:solidFill>
                  <a:schemeClr val="bg1"/>
                </a:solidFill>
              </a:rPr>
              <a:t>Waterproof Boots for outdoors</a:t>
            </a:r>
          </a:p>
          <a:p>
            <a:pPr marL="342900" indent="-342900">
              <a:buAutoNum type="arabicPeriod"/>
            </a:pPr>
            <a:r>
              <a:rPr lang="en-US" sz="1400" dirty="0">
                <a:solidFill>
                  <a:schemeClr val="bg1"/>
                </a:solidFill>
              </a:rPr>
              <a:t>Slippers/Sneakers/Crocs for inside cabins</a:t>
            </a:r>
          </a:p>
          <a:p>
            <a:pPr marL="342900" indent="-342900">
              <a:buAutoNum type="arabicPeriod"/>
            </a:pPr>
            <a:r>
              <a:rPr lang="en-US" sz="1400" dirty="0">
                <a:solidFill>
                  <a:schemeClr val="bg1"/>
                </a:solidFill>
              </a:rPr>
              <a:t>Head lamp/flashlight with extra batteries</a:t>
            </a:r>
          </a:p>
          <a:p>
            <a:pPr marL="342900" indent="-342900">
              <a:buFontTx/>
              <a:buAutoNum type="arabicPeriod"/>
            </a:pPr>
            <a:r>
              <a:rPr lang="en-US" sz="1400" dirty="0">
                <a:solidFill>
                  <a:schemeClr val="bg1"/>
                </a:solidFill>
              </a:rPr>
              <a:t>Toiletries including hand sanitizer and one roll of TP</a:t>
            </a:r>
          </a:p>
          <a:p>
            <a:pPr marL="342900" indent="-342900">
              <a:buAutoNum type="arabicPeriod"/>
            </a:pPr>
            <a:r>
              <a:rPr lang="en-US" sz="1400" dirty="0">
                <a:solidFill>
                  <a:schemeClr val="bg1"/>
                </a:solidFill>
              </a:rPr>
              <a:t>A cup with your name marked on it</a:t>
            </a:r>
          </a:p>
          <a:p>
            <a:pPr marL="342900" indent="-342900">
              <a:buAutoNum type="arabicPeriod"/>
            </a:pPr>
            <a:r>
              <a:rPr lang="en-US" sz="1400" dirty="0">
                <a:solidFill>
                  <a:schemeClr val="bg1"/>
                </a:solidFill>
              </a:rPr>
              <a:t>Non-electronic games</a:t>
            </a:r>
          </a:p>
          <a:p>
            <a:pPr marL="342900" indent="-342900">
              <a:buAutoNum type="arabicPeriod"/>
            </a:pPr>
            <a:r>
              <a:rPr lang="en-US" sz="1400" dirty="0">
                <a:solidFill>
                  <a:schemeClr val="bg1"/>
                </a:solidFill>
              </a:rPr>
              <a:t>1 gallon of bottled water per person</a:t>
            </a:r>
          </a:p>
          <a:p>
            <a:pPr marL="342900" indent="-342900">
              <a:buAutoNum type="arabicPeriod"/>
            </a:pPr>
            <a:r>
              <a:rPr lang="en-US" sz="1400" dirty="0">
                <a:solidFill>
                  <a:schemeClr val="bg1"/>
                </a:solidFill>
              </a:rPr>
              <a:t>Thermal underwear</a:t>
            </a:r>
          </a:p>
          <a:p>
            <a:pPr marL="342900" indent="-342900">
              <a:buAutoNum type="arabicPeriod"/>
            </a:pPr>
            <a:r>
              <a:rPr lang="en-US" sz="1400" dirty="0">
                <a:solidFill>
                  <a:schemeClr val="bg1"/>
                </a:solidFill>
              </a:rPr>
              <a:t>Extra pair of wool socks</a:t>
            </a:r>
          </a:p>
          <a:p>
            <a:pPr marL="342900" indent="-342900">
              <a:buAutoNum type="arabicPeriod"/>
            </a:pPr>
            <a:r>
              <a:rPr lang="en-US" sz="1400" dirty="0">
                <a:solidFill>
                  <a:schemeClr val="bg1"/>
                </a:solidFill>
              </a:rPr>
              <a:t>Snow pants</a:t>
            </a:r>
          </a:p>
          <a:p>
            <a:pPr marL="342900" indent="-342900">
              <a:buAutoNum type="arabicPeriod"/>
            </a:pPr>
            <a:r>
              <a:rPr lang="en-US" sz="1400" dirty="0">
                <a:solidFill>
                  <a:schemeClr val="bg1"/>
                </a:solidFill>
              </a:rPr>
              <a:t>Hat and gloves/mittens</a:t>
            </a:r>
          </a:p>
          <a:p>
            <a:pPr marL="342900" indent="-342900">
              <a:buAutoNum type="arabicPeriod"/>
            </a:pPr>
            <a:r>
              <a:rPr lang="en-US" sz="1400" dirty="0">
                <a:solidFill>
                  <a:schemeClr val="bg1"/>
                </a:solidFill>
              </a:rPr>
              <a:t>Ice cleats (e.g. Yak </a:t>
            </a:r>
            <a:r>
              <a:rPr lang="en-US" sz="1400" dirty="0" err="1">
                <a:solidFill>
                  <a:schemeClr val="bg1"/>
                </a:solidFill>
              </a:rPr>
              <a:t>Trax</a:t>
            </a:r>
            <a:r>
              <a:rPr lang="en-US" sz="1400" dirty="0">
                <a:solidFill>
                  <a:schemeClr val="bg1"/>
                </a:solidFill>
              </a:rPr>
              <a:t>) are recommended</a:t>
            </a:r>
          </a:p>
          <a:p>
            <a:pPr marL="342900" indent="-342900">
              <a:buAutoNum type="arabicPeriod"/>
            </a:pPr>
            <a:r>
              <a:rPr lang="en-US" sz="1400" dirty="0">
                <a:solidFill>
                  <a:schemeClr val="bg1"/>
                </a:solidFill>
              </a:rPr>
              <a:t>Ice skates (optional)</a:t>
            </a:r>
          </a:p>
          <a:p>
            <a:pPr marL="342900" indent="-342900">
              <a:buAutoNum type="arabicPeriod"/>
            </a:pPr>
            <a:r>
              <a:rPr lang="en-US" sz="1400" dirty="0">
                <a:solidFill>
                  <a:schemeClr val="bg1"/>
                </a:solidFill>
              </a:rPr>
              <a:t>Ice fishing gear (optional)</a:t>
            </a:r>
          </a:p>
          <a:p>
            <a:pPr marL="342900" indent="-342900">
              <a:buFontTx/>
              <a:buAutoNum type="arabicPeriod"/>
            </a:pPr>
            <a:r>
              <a:rPr lang="en-US" sz="1400" dirty="0">
                <a:solidFill>
                  <a:schemeClr val="bg1"/>
                </a:solidFill>
              </a:rPr>
              <a:t>Sunglasses (optional)</a:t>
            </a:r>
          </a:p>
          <a:p>
            <a:pPr marL="342900" indent="-342900">
              <a:buAutoNum type="arabicPeriod"/>
            </a:pPr>
            <a:r>
              <a:rPr lang="en-US" sz="1400" dirty="0">
                <a:solidFill>
                  <a:schemeClr val="bg1"/>
                </a:solidFill>
              </a:rPr>
              <a:t>Cub Scout manual</a:t>
            </a:r>
          </a:p>
          <a:p>
            <a:pPr marL="342900" indent="-342900">
              <a:buAutoNum type="arabicPeriod"/>
            </a:pPr>
            <a:r>
              <a:rPr lang="en-US" sz="1400" dirty="0">
                <a:solidFill>
                  <a:schemeClr val="bg1"/>
                </a:solidFill>
              </a:rPr>
              <a:t>Helmet for Cub Scout to sled</a:t>
            </a:r>
          </a:p>
          <a:p>
            <a:pPr marL="342900" indent="-342900">
              <a:buAutoNum type="arabicPeriod"/>
            </a:pPr>
            <a:r>
              <a:rPr lang="en-US" sz="1400" dirty="0">
                <a:solidFill>
                  <a:schemeClr val="bg1"/>
                </a:solidFill>
              </a:rPr>
              <a:t>Snacks</a:t>
            </a:r>
          </a:p>
          <a:p>
            <a:pPr marL="342900" indent="-342900">
              <a:buAutoNum type="arabicPeriod"/>
            </a:pPr>
            <a:r>
              <a:rPr lang="en-US" sz="1400" dirty="0">
                <a:solidFill>
                  <a:schemeClr val="bg1"/>
                </a:solidFill>
              </a:rPr>
              <a:t>Medication</a:t>
            </a:r>
          </a:p>
          <a:p>
            <a:pPr marL="342900" indent="-342900">
              <a:buAutoNum type="arabicPeriod"/>
            </a:pPr>
            <a:endParaRPr lang="en-US" sz="1400" b="1" dirty="0">
              <a:solidFill>
                <a:schemeClr val="bg1"/>
              </a:solidFill>
            </a:endParaRPr>
          </a:p>
        </p:txBody>
      </p:sp>
      <p:pic>
        <p:nvPicPr>
          <p:cNvPr id="8" name="Picture 7" descr="A group of people sitting in the snow&#10;&#10;Description automatically generated">
            <a:extLst>
              <a:ext uri="{FF2B5EF4-FFF2-40B4-BE49-F238E27FC236}">
                <a16:creationId xmlns:a16="http://schemas.microsoft.com/office/drawing/2014/main" id="{A10394E3-68AD-444B-9638-F5B49019AA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6723" y="4922783"/>
            <a:ext cx="2565400" cy="1924050"/>
          </a:xfrm>
          <a:prstGeom prst="rect">
            <a:avLst/>
          </a:prstGeom>
        </p:spPr>
      </p:pic>
    </p:spTree>
    <p:extLst>
      <p:ext uri="{BB962C8B-B14F-4D97-AF65-F5344CB8AC3E}">
        <p14:creationId xmlns:p14="http://schemas.microsoft.com/office/powerpoint/2010/main" val="2132800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AD2AFE-8555-7041-B6C3-368FA1B935A6}"/>
              </a:ext>
            </a:extLst>
          </p:cNvPr>
          <p:cNvSpPr>
            <a:spLocks noGrp="1"/>
          </p:cNvSpPr>
          <p:nvPr>
            <p:ph idx="1"/>
          </p:nvPr>
        </p:nvSpPr>
        <p:spPr>
          <a:xfrm>
            <a:off x="457200" y="3668110"/>
            <a:ext cx="7924800" cy="3037490"/>
          </a:xfrm>
        </p:spPr>
        <p:txBody>
          <a:bodyPr/>
          <a:lstStyle/>
          <a:p>
            <a:pPr>
              <a:buClr>
                <a:schemeClr val="bg1"/>
              </a:buClr>
              <a:buFont typeface="Arial" panose="020B0604020202020204" pitchFamily="34" charset="0"/>
              <a:buChar char="•"/>
            </a:pPr>
            <a:r>
              <a:rPr lang="en-US" sz="2400" dirty="0"/>
              <a:t>For Wolves (2</a:t>
            </a:r>
            <a:r>
              <a:rPr lang="en-US" sz="2400" baseline="30000" dirty="0"/>
              <a:t>nd </a:t>
            </a:r>
            <a:r>
              <a:rPr lang="en-US" sz="2400" dirty="0"/>
              <a:t>Grade) - Arrow of Lights (5</a:t>
            </a:r>
            <a:r>
              <a:rPr lang="en-US" sz="2400" baseline="30000" dirty="0"/>
              <a:t>th</a:t>
            </a:r>
            <a:r>
              <a:rPr lang="en-US" sz="2400" dirty="0"/>
              <a:t> Grade).</a:t>
            </a:r>
          </a:p>
          <a:p>
            <a:pPr>
              <a:buClr>
                <a:schemeClr val="bg1"/>
              </a:buClr>
              <a:buFont typeface="Arial" panose="020B0604020202020204" pitchFamily="34" charset="0"/>
              <a:buChar char="•"/>
            </a:pPr>
            <a:r>
              <a:rPr lang="en-US" sz="2400" dirty="0"/>
              <a:t>Teaching problem solving, programming, team building, and much more!</a:t>
            </a:r>
          </a:p>
          <a:p>
            <a:pPr>
              <a:buClr>
                <a:schemeClr val="bg1"/>
              </a:buClr>
              <a:buFont typeface="Arial" panose="020B0604020202020204" pitchFamily="34" charset="0"/>
              <a:buChar char="•"/>
            </a:pPr>
            <a:r>
              <a:rPr lang="en-US" sz="2400" dirty="0"/>
              <a:t>Build your own Raspberry Pi computer! and take it home!</a:t>
            </a:r>
          </a:p>
          <a:p>
            <a:pPr>
              <a:buClr>
                <a:schemeClr val="bg1"/>
              </a:buClr>
              <a:buFont typeface="Arial" panose="020B0604020202020204" pitchFamily="34" charset="0"/>
              <a:buChar char="•"/>
            </a:pPr>
            <a:r>
              <a:rPr lang="en-US" sz="2400" dirty="0"/>
              <a:t>When = 9am-3pm</a:t>
            </a:r>
          </a:p>
          <a:p>
            <a:pPr>
              <a:buClr>
                <a:schemeClr val="bg1"/>
              </a:buClr>
              <a:buFont typeface="Arial" panose="020B0604020202020204" pitchFamily="34" charset="0"/>
              <a:buChar char="•"/>
            </a:pPr>
            <a:r>
              <a:rPr lang="en-US" sz="2400" dirty="0"/>
              <a:t>Cost = $275</a:t>
            </a:r>
          </a:p>
          <a:p>
            <a:pPr>
              <a:buClr>
                <a:schemeClr val="bg1"/>
              </a:buClr>
              <a:buFont typeface="Arial" panose="020B0604020202020204" pitchFamily="34" charset="0"/>
              <a:buChar char="•"/>
            </a:pPr>
            <a:endParaRPr lang="en-US" dirty="0"/>
          </a:p>
        </p:txBody>
      </p:sp>
      <p:pic>
        <p:nvPicPr>
          <p:cNvPr id="5" name="Picture 4" descr="A close up of a sign&#10;&#10;Description automatically generated">
            <a:extLst>
              <a:ext uri="{FF2B5EF4-FFF2-40B4-BE49-F238E27FC236}">
                <a16:creationId xmlns:a16="http://schemas.microsoft.com/office/drawing/2014/main" id="{5067B2FB-9B39-7C47-AB91-0C1934814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39110"/>
            <a:ext cx="6531429" cy="3429000"/>
          </a:xfrm>
          <a:prstGeom prst="rect">
            <a:avLst/>
          </a:prstGeom>
        </p:spPr>
      </p:pic>
    </p:spTree>
    <p:extLst>
      <p:ext uri="{BB962C8B-B14F-4D97-AF65-F5344CB8AC3E}">
        <p14:creationId xmlns:p14="http://schemas.microsoft.com/office/powerpoint/2010/main" val="2880768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56BF9-55AB-B843-9732-9AA0C7B83BF6}"/>
              </a:ext>
            </a:extLst>
          </p:cNvPr>
          <p:cNvSpPr>
            <a:spLocks noGrp="1"/>
          </p:cNvSpPr>
          <p:nvPr>
            <p:ph type="title"/>
          </p:nvPr>
        </p:nvSpPr>
        <p:spPr/>
        <p:txBody>
          <a:bodyPr/>
          <a:lstStyle/>
          <a:p>
            <a:r>
              <a:rPr lang="en-US" sz="3600" dirty="0"/>
              <a:t>Bethlehem Cub Scout Winter Carnival</a:t>
            </a:r>
            <a:br>
              <a:rPr lang="en-US" sz="3600" dirty="0"/>
            </a:br>
            <a:r>
              <a:rPr lang="en-US" sz="3600" dirty="0"/>
              <a:t>Elm Ave Park, Sat. 2/29 10am-Noon</a:t>
            </a:r>
            <a:br>
              <a:rPr lang="en-US" dirty="0"/>
            </a:br>
            <a:r>
              <a:rPr lang="en-US" dirty="0"/>
              <a:t>	</a:t>
            </a:r>
          </a:p>
        </p:txBody>
      </p:sp>
      <p:sp>
        <p:nvSpPr>
          <p:cNvPr id="3" name="Content Placeholder 2">
            <a:extLst>
              <a:ext uri="{FF2B5EF4-FFF2-40B4-BE49-F238E27FC236}">
                <a16:creationId xmlns:a16="http://schemas.microsoft.com/office/drawing/2014/main" id="{32B0A75E-AAFB-DD4A-A33D-2A67C1A70244}"/>
              </a:ext>
            </a:extLst>
          </p:cNvPr>
          <p:cNvSpPr>
            <a:spLocks noGrp="1"/>
          </p:cNvSpPr>
          <p:nvPr>
            <p:ph idx="1"/>
          </p:nvPr>
        </p:nvSpPr>
        <p:spPr>
          <a:xfrm>
            <a:off x="457200" y="1295400"/>
            <a:ext cx="4114800" cy="4419600"/>
          </a:xfrm>
        </p:spPr>
        <p:txBody>
          <a:bodyPr/>
          <a:lstStyle/>
          <a:p>
            <a:pPr>
              <a:buClr>
                <a:schemeClr val="bg1"/>
              </a:buClr>
            </a:pPr>
            <a:r>
              <a:rPr lang="en-US" sz="1800" dirty="0"/>
              <a:t>Bethlehem Cub Scout Packs 23, 232, 258 and 272 to attend</a:t>
            </a:r>
          </a:p>
          <a:p>
            <a:pPr>
              <a:buClr>
                <a:schemeClr val="bg1"/>
              </a:buClr>
            </a:pPr>
            <a:r>
              <a:rPr lang="en-US" sz="1800" dirty="0"/>
              <a:t>Cost = Free!</a:t>
            </a:r>
          </a:p>
          <a:p>
            <a:pPr>
              <a:buClr>
                <a:schemeClr val="bg1"/>
              </a:buClr>
            </a:pPr>
            <a:r>
              <a:rPr lang="en-US" sz="1800" dirty="0"/>
              <a:t>Agenda:</a:t>
            </a:r>
          </a:p>
          <a:p>
            <a:pPr lvl="1">
              <a:buClr>
                <a:schemeClr val="bg1"/>
              </a:buClr>
            </a:pPr>
            <a:r>
              <a:rPr lang="en-US" sz="1400" dirty="0"/>
              <a:t>Indoor games designed by each Pack’s Bears den</a:t>
            </a:r>
          </a:p>
          <a:p>
            <a:pPr lvl="1">
              <a:buClr>
                <a:schemeClr val="bg1"/>
              </a:buClr>
            </a:pPr>
            <a:r>
              <a:rPr lang="en-US" sz="1400" dirty="0"/>
              <a:t>Opening</a:t>
            </a:r>
          </a:p>
          <a:p>
            <a:pPr lvl="1">
              <a:buClr>
                <a:schemeClr val="bg1"/>
              </a:buClr>
            </a:pPr>
            <a:r>
              <a:rPr lang="en-US" sz="1400" dirty="0"/>
              <a:t>Games</a:t>
            </a:r>
          </a:p>
          <a:p>
            <a:pPr lvl="1">
              <a:buClr>
                <a:schemeClr val="bg1"/>
              </a:buClr>
            </a:pPr>
            <a:r>
              <a:rPr lang="en-US" sz="1400" dirty="0"/>
              <a:t>Massive Tug of War</a:t>
            </a:r>
          </a:p>
          <a:p>
            <a:pPr>
              <a:buClr>
                <a:schemeClr val="bg1"/>
              </a:buClr>
            </a:pPr>
            <a:r>
              <a:rPr lang="en-US" sz="1800" dirty="0"/>
              <a:t>Refreshments = hot chocolate and munchkins</a:t>
            </a:r>
          </a:p>
          <a:p>
            <a:pPr>
              <a:buClr>
                <a:schemeClr val="bg1"/>
              </a:buClr>
            </a:pPr>
            <a:r>
              <a:rPr lang="en-US" sz="1800" dirty="0"/>
              <a:t>SIGN UP ON THE PACK WEBSITE</a:t>
            </a:r>
          </a:p>
        </p:txBody>
      </p:sp>
      <p:pic>
        <p:nvPicPr>
          <p:cNvPr id="5" name="Picture 4" descr="A group of people standing in front of a crowd&#10;&#10;Description automatically generated">
            <a:extLst>
              <a:ext uri="{FF2B5EF4-FFF2-40B4-BE49-F238E27FC236}">
                <a16:creationId xmlns:a16="http://schemas.microsoft.com/office/drawing/2014/main" id="{8C885299-9FF9-5E46-AA20-12CC66591F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1066800"/>
            <a:ext cx="3556000" cy="2667000"/>
          </a:xfrm>
          <a:prstGeom prst="rect">
            <a:avLst/>
          </a:prstGeom>
        </p:spPr>
      </p:pic>
      <p:pic>
        <p:nvPicPr>
          <p:cNvPr id="7" name="Picture 6" descr="A picture containing outdoor, grass, child, kite&#10;&#10;Description automatically generated">
            <a:extLst>
              <a:ext uri="{FF2B5EF4-FFF2-40B4-BE49-F238E27FC236}">
                <a16:creationId xmlns:a16="http://schemas.microsoft.com/office/drawing/2014/main" id="{096C059D-EA64-0B4B-BD9E-4DE05DB4E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0701" y="3874375"/>
            <a:ext cx="1771650" cy="2362200"/>
          </a:xfrm>
          <a:prstGeom prst="rect">
            <a:avLst/>
          </a:prstGeom>
        </p:spPr>
      </p:pic>
      <p:pic>
        <p:nvPicPr>
          <p:cNvPr id="10" name="Picture 9" descr="A group of people flying kites in a field&#10;&#10;Description automatically generated">
            <a:extLst>
              <a:ext uri="{FF2B5EF4-FFF2-40B4-BE49-F238E27FC236}">
                <a16:creationId xmlns:a16="http://schemas.microsoft.com/office/drawing/2014/main" id="{7A43DEC2-0330-4D45-9F85-6B5C6B2485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2350" y="3886200"/>
            <a:ext cx="1771650" cy="2362200"/>
          </a:xfrm>
          <a:prstGeom prst="rect">
            <a:avLst/>
          </a:prstGeom>
        </p:spPr>
      </p:pic>
    </p:spTree>
    <p:extLst>
      <p:ext uri="{BB962C8B-B14F-4D97-AF65-F5344CB8AC3E}">
        <p14:creationId xmlns:p14="http://schemas.microsoft.com/office/powerpoint/2010/main" val="2434070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81E79D-7FDB-9D49-9777-88693F3805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1838" y="4055984"/>
            <a:ext cx="2299671" cy="2150985"/>
          </a:xfrm>
          <a:prstGeom prst="rect">
            <a:avLst/>
          </a:prstGeom>
        </p:spPr>
      </p:pic>
      <p:sp>
        <p:nvSpPr>
          <p:cNvPr id="2" name="Title 1">
            <a:extLst>
              <a:ext uri="{FF2B5EF4-FFF2-40B4-BE49-F238E27FC236}">
                <a16:creationId xmlns:a16="http://schemas.microsoft.com/office/drawing/2014/main" id="{56129FDA-E4E8-0D4D-804D-E17909FFDAD2}"/>
              </a:ext>
            </a:extLst>
          </p:cNvPr>
          <p:cNvSpPr>
            <a:spLocks noGrp="1"/>
          </p:cNvSpPr>
          <p:nvPr>
            <p:ph type="title"/>
          </p:nvPr>
        </p:nvSpPr>
        <p:spPr>
          <a:xfrm>
            <a:off x="533400" y="446070"/>
            <a:ext cx="7467600" cy="1143000"/>
          </a:xfrm>
        </p:spPr>
        <p:txBody>
          <a:bodyPr/>
          <a:lstStyle/>
          <a:p>
            <a:r>
              <a:rPr lang="en-US" sz="4400" dirty="0"/>
              <a:t>Pinewood Derby</a:t>
            </a:r>
            <a:br>
              <a:rPr lang="en-US" sz="4400" dirty="0"/>
            </a:br>
            <a:r>
              <a:rPr lang="en-US" sz="4000" dirty="0"/>
              <a:t>Sat. March 7 at Town Hall (9am)</a:t>
            </a:r>
            <a:br>
              <a:rPr lang="en-US" dirty="0"/>
            </a:br>
            <a:endParaRPr lang="en-US" dirty="0"/>
          </a:p>
        </p:txBody>
      </p:sp>
      <p:pic>
        <p:nvPicPr>
          <p:cNvPr id="5" name="Picture 4">
            <a:extLst>
              <a:ext uri="{FF2B5EF4-FFF2-40B4-BE49-F238E27FC236}">
                <a16:creationId xmlns:a16="http://schemas.microsoft.com/office/drawing/2014/main" id="{EC116068-087E-A84F-85A9-9DE1805E8F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400" y="1675401"/>
            <a:ext cx="2530724" cy="2530724"/>
          </a:xfrm>
          <a:prstGeom prst="rect">
            <a:avLst/>
          </a:prstGeom>
        </p:spPr>
      </p:pic>
      <p:pic>
        <p:nvPicPr>
          <p:cNvPr id="7" name="Picture 6">
            <a:extLst>
              <a:ext uri="{FF2B5EF4-FFF2-40B4-BE49-F238E27FC236}">
                <a16:creationId xmlns:a16="http://schemas.microsoft.com/office/drawing/2014/main" id="{F3D79131-68F3-0D43-A651-1F6ED05660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500" y="4232525"/>
            <a:ext cx="3581400" cy="2273300"/>
          </a:xfrm>
          <a:prstGeom prst="rect">
            <a:avLst/>
          </a:prstGeom>
        </p:spPr>
      </p:pic>
      <p:pic>
        <p:nvPicPr>
          <p:cNvPr id="4" name="Picture 3">
            <a:extLst>
              <a:ext uri="{FF2B5EF4-FFF2-40B4-BE49-F238E27FC236}">
                <a16:creationId xmlns:a16="http://schemas.microsoft.com/office/drawing/2014/main" id="{D1E7BE22-CA8B-414D-A2DE-AF2953F9B1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9100" y="1905000"/>
            <a:ext cx="2946400" cy="2150984"/>
          </a:xfrm>
          <a:prstGeom prst="rect">
            <a:avLst/>
          </a:prstGeom>
        </p:spPr>
      </p:pic>
      <p:sp>
        <p:nvSpPr>
          <p:cNvPr id="6" name="TextBox 5">
            <a:extLst>
              <a:ext uri="{FF2B5EF4-FFF2-40B4-BE49-F238E27FC236}">
                <a16:creationId xmlns:a16="http://schemas.microsoft.com/office/drawing/2014/main" id="{A90BE609-8932-AA47-B8D0-D596437F3CEE}"/>
              </a:ext>
            </a:extLst>
          </p:cNvPr>
          <p:cNvSpPr txBox="1"/>
          <p:nvPr/>
        </p:nvSpPr>
        <p:spPr>
          <a:xfrm>
            <a:off x="529975" y="1399410"/>
            <a:ext cx="2933702" cy="369332"/>
          </a:xfrm>
          <a:prstGeom prst="rect">
            <a:avLst/>
          </a:prstGeom>
          <a:noFill/>
        </p:spPr>
        <p:txBody>
          <a:bodyPr wrap="square" rtlCol="0">
            <a:spAutoFit/>
          </a:bodyPr>
          <a:lstStyle/>
          <a:p>
            <a:pPr algn="ctr"/>
            <a:r>
              <a:rPr lang="en-US" b="1" dirty="0">
                <a:solidFill>
                  <a:schemeClr val="bg1"/>
                </a:solidFill>
              </a:rPr>
              <a:t>Tigers – Arrow of Light</a:t>
            </a:r>
          </a:p>
        </p:txBody>
      </p:sp>
      <p:sp>
        <p:nvSpPr>
          <p:cNvPr id="9" name="TextBox 8">
            <a:extLst>
              <a:ext uri="{FF2B5EF4-FFF2-40B4-BE49-F238E27FC236}">
                <a16:creationId xmlns:a16="http://schemas.microsoft.com/office/drawing/2014/main" id="{0636F114-C3C8-7243-9961-7B5DCDF02C0C}"/>
              </a:ext>
            </a:extLst>
          </p:cNvPr>
          <p:cNvSpPr txBox="1"/>
          <p:nvPr/>
        </p:nvSpPr>
        <p:spPr>
          <a:xfrm>
            <a:off x="5305746" y="1531261"/>
            <a:ext cx="2933702" cy="369332"/>
          </a:xfrm>
          <a:prstGeom prst="rect">
            <a:avLst/>
          </a:prstGeom>
          <a:noFill/>
        </p:spPr>
        <p:txBody>
          <a:bodyPr wrap="square" rtlCol="0">
            <a:spAutoFit/>
          </a:bodyPr>
          <a:lstStyle/>
          <a:p>
            <a:pPr algn="ctr"/>
            <a:r>
              <a:rPr lang="en-US" b="1" dirty="0">
                <a:solidFill>
                  <a:schemeClr val="bg1"/>
                </a:solidFill>
              </a:rPr>
              <a:t>Lions</a:t>
            </a:r>
          </a:p>
        </p:txBody>
      </p:sp>
    </p:spTree>
    <p:extLst>
      <p:ext uri="{BB962C8B-B14F-4D97-AF65-F5344CB8AC3E}">
        <p14:creationId xmlns:p14="http://schemas.microsoft.com/office/powerpoint/2010/main" val="3328273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56BF9-55AB-B843-9732-9AA0C7B83BF6}"/>
              </a:ext>
            </a:extLst>
          </p:cNvPr>
          <p:cNvSpPr>
            <a:spLocks noGrp="1"/>
          </p:cNvSpPr>
          <p:nvPr>
            <p:ph type="title"/>
          </p:nvPr>
        </p:nvSpPr>
        <p:spPr/>
        <p:txBody>
          <a:bodyPr/>
          <a:lstStyle/>
          <a:p>
            <a:r>
              <a:rPr lang="en-US" dirty="0"/>
              <a:t>SAVE THE WEEKS</a:t>
            </a:r>
            <a:br>
              <a:rPr lang="en-US" dirty="0"/>
            </a:br>
            <a:r>
              <a:rPr lang="en-US" sz="2400" dirty="0"/>
              <a:t>Cub Scout Summer Camps	</a:t>
            </a:r>
          </a:p>
        </p:txBody>
      </p:sp>
      <p:sp>
        <p:nvSpPr>
          <p:cNvPr id="3" name="Content Placeholder 2">
            <a:extLst>
              <a:ext uri="{FF2B5EF4-FFF2-40B4-BE49-F238E27FC236}">
                <a16:creationId xmlns:a16="http://schemas.microsoft.com/office/drawing/2014/main" id="{32B0A75E-AAFB-DD4A-A33D-2A67C1A70244}"/>
              </a:ext>
            </a:extLst>
          </p:cNvPr>
          <p:cNvSpPr>
            <a:spLocks noGrp="1"/>
          </p:cNvSpPr>
          <p:nvPr>
            <p:ph idx="1"/>
          </p:nvPr>
        </p:nvSpPr>
        <p:spPr>
          <a:xfrm>
            <a:off x="457200" y="1600200"/>
            <a:ext cx="5105400" cy="4114800"/>
          </a:xfrm>
        </p:spPr>
        <p:txBody>
          <a:bodyPr/>
          <a:lstStyle/>
          <a:p>
            <a:pPr>
              <a:buClr>
                <a:schemeClr val="bg1"/>
              </a:buClr>
            </a:pPr>
            <a:r>
              <a:rPr lang="en-US" sz="1800" dirty="0"/>
              <a:t>Day Camp (8:30am – 4:30pm) at Rotary (Down on the Farm Theme) </a:t>
            </a:r>
          </a:p>
          <a:p>
            <a:pPr lvl="1">
              <a:buClr>
                <a:schemeClr val="bg1"/>
              </a:buClr>
            </a:pPr>
            <a:r>
              <a:rPr lang="en-US" sz="1400" dirty="0"/>
              <a:t>Dates = 7/20 – 7/24</a:t>
            </a:r>
          </a:p>
          <a:p>
            <a:pPr lvl="1">
              <a:buClr>
                <a:schemeClr val="bg1"/>
              </a:buClr>
            </a:pPr>
            <a:r>
              <a:rPr lang="en-US" sz="1400" dirty="0"/>
              <a:t>Cost = $175/scout</a:t>
            </a:r>
          </a:p>
          <a:p>
            <a:pPr lvl="1">
              <a:buClr>
                <a:schemeClr val="bg1"/>
              </a:buClr>
            </a:pPr>
            <a:r>
              <a:rPr lang="en-US" sz="1400" dirty="0"/>
              <a:t>Bus Shuttle Option is TBD</a:t>
            </a:r>
          </a:p>
          <a:p>
            <a:pPr lvl="1">
              <a:buClr>
                <a:schemeClr val="bg1"/>
              </a:buClr>
            </a:pPr>
            <a:r>
              <a:rPr lang="en-US" sz="1400" dirty="0"/>
              <a:t>BSA Health Form Parts A&amp;B</a:t>
            </a:r>
          </a:p>
          <a:p>
            <a:pPr>
              <a:buClr>
                <a:schemeClr val="bg1"/>
              </a:buClr>
            </a:pPr>
            <a:r>
              <a:rPr lang="en-US" sz="1800" dirty="0"/>
              <a:t>Resident Camp (5 days / 4 nights) at Rotary (Theme TBD)</a:t>
            </a:r>
          </a:p>
          <a:p>
            <a:pPr lvl="1">
              <a:buClr>
                <a:schemeClr val="bg1"/>
              </a:buClr>
            </a:pPr>
            <a:r>
              <a:rPr lang="en-US" sz="1400" dirty="0"/>
              <a:t>Dates = 8/02 – 8/06</a:t>
            </a:r>
          </a:p>
          <a:p>
            <a:pPr lvl="1">
              <a:buClr>
                <a:schemeClr val="bg1"/>
              </a:buClr>
            </a:pPr>
            <a:r>
              <a:rPr lang="en-US" sz="1400" dirty="0"/>
              <a:t>Cost = $275/scout</a:t>
            </a:r>
          </a:p>
          <a:p>
            <a:pPr lvl="1">
              <a:buClr>
                <a:schemeClr val="bg1"/>
              </a:buClr>
            </a:pPr>
            <a:r>
              <a:rPr lang="en-US" sz="1400" dirty="0"/>
              <a:t>BSA Health Form Parts A, B &amp;C (Doctor Physical)</a:t>
            </a:r>
          </a:p>
          <a:p>
            <a:pPr lvl="1">
              <a:buClr>
                <a:schemeClr val="bg1"/>
              </a:buClr>
            </a:pPr>
            <a:r>
              <a:rPr lang="en-US" sz="1400" dirty="0"/>
              <a:t>At a minimum, at all times, the Pack must have two adults at Rotary</a:t>
            </a:r>
          </a:p>
          <a:p>
            <a:pPr lvl="1">
              <a:buClr>
                <a:schemeClr val="bg1"/>
              </a:buClr>
            </a:pPr>
            <a:r>
              <a:rPr lang="en-US" sz="1400" dirty="0"/>
              <a:t>Beyond 12 enrolled cub scouts, the Pack must provide 1 adult to 6 cub scouts coverage</a:t>
            </a:r>
          </a:p>
          <a:p>
            <a:pPr lvl="1">
              <a:buClr>
                <a:schemeClr val="bg1"/>
              </a:buClr>
            </a:pPr>
            <a:r>
              <a:rPr lang="en-US" sz="1400" dirty="0"/>
              <a:t>Adults who attend the entire camp </a:t>
            </a:r>
            <a:r>
              <a:rPr lang="en-US" sz="1400" b="1" dirty="0"/>
              <a:t>MUST</a:t>
            </a:r>
            <a:r>
              <a:rPr lang="en-US" sz="1400" dirty="0"/>
              <a:t> be registered with BSA</a:t>
            </a:r>
          </a:p>
        </p:txBody>
      </p:sp>
      <p:pic>
        <p:nvPicPr>
          <p:cNvPr id="6" name="Picture 5" descr="A group of people standing next to a body of water&#10;&#10;Description automatically generated">
            <a:extLst>
              <a:ext uri="{FF2B5EF4-FFF2-40B4-BE49-F238E27FC236}">
                <a16:creationId xmlns:a16="http://schemas.microsoft.com/office/drawing/2014/main" id="{7F863BDC-1748-054B-82EC-80DFA0716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7855" y="3581400"/>
            <a:ext cx="3454400" cy="2590800"/>
          </a:xfrm>
          <a:prstGeom prst="rect">
            <a:avLst/>
          </a:prstGeom>
        </p:spPr>
      </p:pic>
      <p:pic>
        <p:nvPicPr>
          <p:cNvPr id="8" name="Picture 7" descr="A group of people on a field&#10;&#10;Description automatically generated">
            <a:extLst>
              <a:ext uri="{FF2B5EF4-FFF2-40B4-BE49-F238E27FC236}">
                <a16:creationId xmlns:a16="http://schemas.microsoft.com/office/drawing/2014/main" id="{E4400942-9A04-3B4E-8E99-E45CF82F32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985345"/>
            <a:ext cx="3454400" cy="2590800"/>
          </a:xfrm>
          <a:prstGeom prst="rect">
            <a:avLst/>
          </a:prstGeom>
        </p:spPr>
      </p:pic>
    </p:spTree>
    <p:extLst>
      <p:ext uri="{BB962C8B-B14F-4D97-AF65-F5344CB8AC3E}">
        <p14:creationId xmlns:p14="http://schemas.microsoft.com/office/powerpoint/2010/main" val="2061955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EDF6-4D61-5B42-93B4-60C16FEFFBAD}"/>
              </a:ext>
            </a:extLst>
          </p:cNvPr>
          <p:cNvSpPr>
            <a:spLocks noGrp="1"/>
          </p:cNvSpPr>
          <p:nvPr>
            <p:ph type="title"/>
          </p:nvPr>
        </p:nvSpPr>
        <p:spPr/>
        <p:txBody>
          <a:bodyPr/>
          <a:lstStyle/>
          <a:p>
            <a:r>
              <a:rPr lang="en-US" dirty="0"/>
              <a:t>Other Pack Events</a:t>
            </a:r>
            <a:endParaRPr lang="en-US" sz="2800" dirty="0"/>
          </a:p>
        </p:txBody>
      </p:sp>
      <p:sp>
        <p:nvSpPr>
          <p:cNvPr id="3" name="Content Placeholder 2">
            <a:extLst>
              <a:ext uri="{FF2B5EF4-FFF2-40B4-BE49-F238E27FC236}">
                <a16:creationId xmlns:a16="http://schemas.microsoft.com/office/drawing/2014/main" id="{37030BC4-275A-8F41-870C-F52EFA64DE8D}"/>
              </a:ext>
            </a:extLst>
          </p:cNvPr>
          <p:cNvSpPr>
            <a:spLocks noGrp="1"/>
          </p:cNvSpPr>
          <p:nvPr>
            <p:ph idx="1"/>
          </p:nvPr>
        </p:nvSpPr>
        <p:spPr>
          <a:xfrm>
            <a:off x="0" y="1219200"/>
            <a:ext cx="7467600" cy="4114800"/>
          </a:xfrm>
        </p:spPr>
        <p:txBody>
          <a:bodyPr/>
          <a:lstStyle/>
          <a:p>
            <a:pPr>
              <a:buClr>
                <a:schemeClr val="bg1"/>
              </a:buClr>
            </a:pPr>
            <a:r>
              <a:rPr lang="en-US" sz="2000" dirty="0"/>
              <a:t>Howe Caverns = 3/28</a:t>
            </a:r>
          </a:p>
          <a:p>
            <a:pPr>
              <a:buClr>
                <a:schemeClr val="bg1"/>
              </a:buClr>
            </a:pPr>
            <a:r>
              <a:rPr lang="en-US" sz="2000" dirty="0"/>
              <a:t>Visit a Blacksmith Forge = 4/25 (To Be Confirmed)</a:t>
            </a:r>
          </a:p>
          <a:p>
            <a:pPr>
              <a:buClr>
                <a:schemeClr val="bg1"/>
              </a:buClr>
            </a:pPr>
            <a:r>
              <a:rPr lang="en-US" sz="2000" dirty="0"/>
              <a:t>Cub Scout Day at Rotary (Harry Potter Theme) = 5/02</a:t>
            </a:r>
          </a:p>
          <a:p>
            <a:pPr>
              <a:buClr>
                <a:schemeClr val="bg1"/>
              </a:buClr>
            </a:pPr>
            <a:r>
              <a:rPr lang="en-US" sz="2000" dirty="0"/>
              <a:t>Spring Hike = 5/17</a:t>
            </a:r>
          </a:p>
          <a:p>
            <a:pPr>
              <a:buClr>
                <a:schemeClr val="bg1"/>
              </a:buClr>
            </a:pPr>
            <a:r>
              <a:rPr lang="en-US" sz="2000" dirty="0"/>
              <a:t>USS Slater Sleepover = 6/05 – 6/06</a:t>
            </a:r>
          </a:p>
          <a:p>
            <a:pPr>
              <a:buClr>
                <a:schemeClr val="bg1"/>
              </a:buClr>
            </a:pPr>
            <a:r>
              <a:rPr lang="en-US" sz="2000" dirty="0"/>
              <a:t>Blue &amp; Gold = 6/07</a:t>
            </a:r>
          </a:p>
        </p:txBody>
      </p:sp>
    </p:spTree>
    <p:extLst>
      <p:ext uri="{BB962C8B-B14F-4D97-AF65-F5344CB8AC3E}">
        <p14:creationId xmlns:p14="http://schemas.microsoft.com/office/powerpoint/2010/main" val="2819897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B0A75E-AAFB-DD4A-A33D-2A67C1A70244}"/>
              </a:ext>
            </a:extLst>
          </p:cNvPr>
          <p:cNvSpPr>
            <a:spLocks noGrp="1"/>
          </p:cNvSpPr>
          <p:nvPr>
            <p:ph idx="1"/>
          </p:nvPr>
        </p:nvSpPr>
        <p:spPr>
          <a:xfrm>
            <a:off x="457200" y="3733800"/>
            <a:ext cx="7467600" cy="1981200"/>
          </a:xfrm>
        </p:spPr>
        <p:txBody>
          <a:bodyPr/>
          <a:lstStyle/>
          <a:p>
            <a:pPr>
              <a:buClr>
                <a:schemeClr val="bg1"/>
              </a:buClr>
            </a:pPr>
            <a:r>
              <a:rPr lang="en-US" sz="2000" dirty="0"/>
              <a:t>Pinewood Derby Team</a:t>
            </a:r>
          </a:p>
          <a:p>
            <a:pPr>
              <a:buClr>
                <a:schemeClr val="bg1"/>
              </a:buClr>
            </a:pPr>
            <a:r>
              <a:rPr lang="en-US" sz="2000" dirty="0"/>
              <a:t>Membership Team (being on a PTA at Glenmont or Eagle &amp; social media expertise is a plus)</a:t>
            </a:r>
          </a:p>
        </p:txBody>
      </p:sp>
      <p:pic>
        <p:nvPicPr>
          <p:cNvPr id="6" name="Picture 5" descr="A person wearing a hat&#10;&#10;Description automatically generated">
            <a:extLst>
              <a:ext uri="{FF2B5EF4-FFF2-40B4-BE49-F238E27FC236}">
                <a16:creationId xmlns:a16="http://schemas.microsoft.com/office/drawing/2014/main" id="{49DABE06-B426-1B45-AFDC-A939315F8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04800"/>
            <a:ext cx="4483100" cy="3302436"/>
          </a:xfrm>
          <a:prstGeom prst="rect">
            <a:avLst/>
          </a:prstGeom>
        </p:spPr>
      </p:pic>
    </p:spTree>
    <p:extLst>
      <p:ext uri="{BB962C8B-B14F-4D97-AF65-F5344CB8AC3E}">
        <p14:creationId xmlns:p14="http://schemas.microsoft.com/office/powerpoint/2010/main" val="346923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EDF6-4D61-5B42-93B4-60C16FEFFBAD}"/>
              </a:ext>
            </a:extLst>
          </p:cNvPr>
          <p:cNvSpPr>
            <a:spLocks noGrp="1"/>
          </p:cNvSpPr>
          <p:nvPr>
            <p:ph type="title"/>
          </p:nvPr>
        </p:nvSpPr>
        <p:spPr/>
        <p:txBody>
          <a:bodyPr/>
          <a:lstStyle/>
          <a:p>
            <a:r>
              <a:rPr lang="en-US" dirty="0"/>
              <a:t>Next Pack Meeting</a:t>
            </a:r>
            <a:br>
              <a:rPr lang="en-US" dirty="0"/>
            </a:br>
            <a:r>
              <a:rPr lang="en-US" sz="2800" dirty="0"/>
              <a:t>Tuesday, February 25 (6:30PM-8PM)</a:t>
            </a:r>
          </a:p>
        </p:txBody>
      </p:sp>
      <p:sp>
        <p:nvSpPr>
          <p:cNvPr id="3" name="Content Placeholder 2">
            <a:extLst>
              <a:ext uri="{FF2B5EF4-FFF2-40B4-BE49-F238E27FC236}">
                <a16:creationId xmlns:a16="http://schemas.microsoft.com/office/drawing/2014/main" id="{37030BC4-275A-8F41-870C-F52EFA64DE8D}"/>
              </a:ext>
            </a:extLst>
          </p:cNvPr>
          <p:cNvSpPr>
            <a:spLocks noGrp="1"/>
          </p:cNvSpPr>
          <p:nvPr>
            <p:ph idx="1"/>
          </p:nvPr>
        </p:nvSpPr>
        <p:spPr/>
        <p:txBody>
          <a:bodyPr/>
          <a:lstStyle/>
          <a:p>
            <a:pPr>
              <a:buClr>
                <a:schemeClr val="bg1"/>
              </a:buClr>
            </a:pPr>
            <a:r>
              <a:rPr lang="en-US" dirty="0"/>
              <a:t>Tigers (1</a:t>
            </a:r>
            <a:r>
              <a:rPr lang="en-US" baseline="30000" dirty="0"/>
              <a:t>st</a:t>
            </a:r>
            <a:r>
              <a:rPr lang="en-US" dirty="0"/>
              <a:t> Grade) Den is the Host</a:t>
            </a:r>
          </a:p>
          <a:p>
            <a:pPr>
              <a:buClr>
                <a:schemeClr val="bg1"/>
              </a:buClr>
            </a:pPr>
            <a:r>
              <a:rPr lang="en-US" dirty="0"/>
              <a:t>Gathering – Balloon Popping</a:t>
            </a:r>
          </a:p>
          <a:p>
            <a:pPr>
              <a:buClr>
                <a:schemeClr val="bg1"/>
              </a:buClr>
            </a:pPr>
            <a:r>
              <a:rPr lang="en-US" dirty="0"/>
              <a:t>Program – Knife Safety / Whittling</a:t>
            </a:r>
          </a:p>
          <a:p>
            <a:pPr>
              <a:buClr>
                <a:schemeClr val="bg1"/>
              </a:buClr>
            </a:pPr>
            <a:r>
              <a:rPr lang="en-US" dirty="0"/>
              <a:t>Game – Cubmaster Challenge</a:t>
            </a:r>
          </a:p>
          <a:p>
            <a:pPr>
              <a:buClr>
                <a:schemeClr val="bg1"/>
              </a:buClr>
            </a:pPr>
            <a:r>
              <a:rPr lang="en-US" dirty="0"/>
              <a:t>Awards</a:t>
            </a:r>
          </a:p>
          <a:p>
            <a:pPr>
              <a:buClr>
                <a:schemeClr val="bg1"/>
              </a:buClr>
            </a:pPr>
            <a:r>
              <a:rPr lang="en-US" dirty="0"/>
              <a:t>Snacks</a:t>
            </a:r>
          </a:p>
        </p:txBody>
      </p:sp>
    </p:spTree>
    <p:extLst>
      <p:ext uri="{BB962C8B-B14F-4D97-AF65-F5344CB8AC3E}">
        <p14:creationId xmlns:p14="http://schemas.microsoft.com/office/powerpoint/2010/main" val="3650246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A05A7-7F35-E241-9FA7-B8E8D4FF40CB}"/>
              </a:ext>
            </a:extLst>
          </p:cNvPr>
          <p:cNvSpPr>
            <a:spLocks noGrp="1"/>
          </p:cNvSpPr>
          <p:nvPr>
            <p:ph type="title"/>
          </p:nvPr>
        </p:nvSpPr>
        <p:spPr/>
        <p:txBody>
          <a:bodyPr/>
          <a:lstStyle/>
          <a:p>
            <a:r>
              <a:rPr lang="en-US" dirty="0"/>
              <a:t>Cubmaster’s Minute</a:t>
            </a:r>
          </a:p>
        </p:txBody>
      </p:sp>
      <p:sp>
        <p:nvSpPr>
          <p:cNvPr id="3" name="Content Placeholder 2">
            <a:extLst>
              <a:ext uri="{FF2B5EF4-FFF2-40B4-BE49-F238E27FC236}">
                <a16:creationId xmlns:a16="http://schemas.microsoft.com/office/drawing/2014/main" id="{5AFDE608-3018-E64B-A8A7-36C857BED010}"/>
              </a:ext>
            </a:extLst>
          </p:cNvPr>
          <p:cNvSpPr>
            <a:spLocks noGrp="1"/>
          </p:cNvSpPr>
          <p:nvPr>
            <p:ph idx="1"/>
          </p:nvPr>
        </p:nvSpPr>
        <p:spPr>
          <a:xfrm>
            <a:off x="228600" y="1219200"/>
            <a:ext cx="7467600" cy="4114800"/>
          </a:xfrm>
        </p:spPr>
        <p:txBody>
          <a:bodyPr/>
          <a:lstStyle/>
          <a:p>
            <a:r>
              <a:rPr lang="en-US" sz="2000" i="1" dirty="0"/>
              <a:t>Hibernation means to sleep through the winter.  In New York, black bears, woodchucks, some mice and some bats as well as turtles, frogs, salamanders and snakes hibernate.  That list is not complete since certain scouts and adults left to their own devices can “hibernate” too; they would rather stay home and watch tv and play video games than go outside when it is cold and there is snow on the ground.  Let’s leave hibernation to the animals!</a:t>
            </a:r>
          </a:p>
          <a:p>
            <a:r>
              <a:rPr lang="en-US" sz="2000" i="1" dirty="0"/>
              <a:t>On February 7, we are going to put the outing in Scouting! Pack 232 will show everyone that we know how to have fun outdoors even in winter weather.  We’re going to play on the ice, ice fish, sled, hike, build campfires and have lots of fun outside at Rotary Scout Reservation.</a:t>
            </a:r>
          </a:p>
        </p:txBody>
      </p:sp>
    </p:spTree>
    <p:extLst>
      <p:ext uri="{BB962C8B-B14F-4D97-AF65-F5344CB8AC3E}">
        <p14:creationId xmlns:p14="http://schemas.microsoft.com/office/powerpoint/2010/main" val="1520576004"/>
      </p:ext>
    </p:extLst>
  </p:cSld>
  <p:clrMapOvr>
    <a:masterClrMapping/>
  </p:clrMapOvr>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docProps/app.xml><?xml version="1.0" encoding="utf-8"?>
<Properties xmlns="http://schemas.openxmlformats.org/officeDocument/2006/extended-properties" xmlns:vt="http://schemas.openxmlformats.org/officeDocument/2006/docPropsVTypes">
  <Template>Theme1</Template>
  <TotalTime>9443</TotalTime>
  <Words>822</Words>
  <Application>Microsoft Macintosh PowerPoint</Application>
  <PresentationFormat>On-screen Show (4:3)</PresentationFormat>
  <Paragraphs>106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Franklin Gothic Book</vt:lpstr>
      <vt:lpstr>Wingdings 2</vt:lpstr>
      <vt:lpstr>Technic</vt:lpstr>
      <vt:lpstr>Pack Meeting Pack 232 </vt:lpstr>
      <vt:lpstr>Making Ice Fishing Tip-Ups</vt:lpstr>
      <vt:lpstr>Pack Meeting – Jan. 21st </vt:lpstr>
      <vt:lpstr>Ice Fishing Presentation</vt:lpstr>
      <vt:lpstr>M&amp;M Separation Anxiety</vt:lpstr>
      <vt:lpstr>Awards and Den Reports</vt:lpstr>
      <vt:lpstr>Winter Camping – 2/07-2/09 10 spots left! </vt:lpstr>
      <vt:lpstr>PowerPoint Presentation</vt:lpstr>
      <vt:lpstr>Bethlehem Cub Scout Winter Carnival Elm Ave Park, Sat. 2/29 10am-Noon  </vt:lpstr>
      <vt:lpstr>Pinewood Derby Sat. March 7 at Town Hall (9am) </vt:lpstr>
      <vt:lpstr>SAVE THE WEEKS Cub Scout Summer Camps </vt:lpstr>
      <vt:lpstr>Other Pack Events</vt:lpstr>
      <vt:lpstr>PowerPoint Presentation</vt:lpstr>
      <vt:lpstr>Next Pack Meeting Tuesday, February 25 (6:30PM-8PM)</vt:lpstr>
      <vt:lpstr>Cubmaster’s Minute</vt:lpstr>
    </vt:vector>
  </TitlesOfParts>
  <Company>Boy Scouts of America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Darin Kinn</dc:creator>
  <cp:lastModifiedBy>Microsoft Office User</cp:lastModifiedBy>
  <cp:revision>173</cp:revision>
  <cp:lastPrinted>2019-12-03T02:15:26Z</cp:lastPrinted>
  <dcterms:created xsi:type="dcterms:W3CDTF">2010-12-13T17:28:22Z</dcterms:created>
  <dcterms:modified xsi:type="dcterms:W3CDTF">2020-01-18T19:28:02Z</dcterms:modified>
</cp:coreProperties>
</file>