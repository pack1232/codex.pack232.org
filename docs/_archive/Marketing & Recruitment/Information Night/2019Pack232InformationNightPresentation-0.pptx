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Lst>
  <p:notesMasterIdLst>
    <p:notesMasterId r:id="rId23"/>
  </p:notesMasterIdLst>
  <p:handoutMasterIdLst>
    <p:handoutMasterId r:id="rId24"/>
  </p:handoutMasterIdLst>
  <p:sldIdLst>
    <p:sldId id="299" r:id="rId2"/>
    <p:sldId id="257" r:id="rId3"/>
    <p:sldId id="258" r:id="rId4"/>
    <p:sldId id="260" r:id="rId5"/>
    <p:sldId id="261" r:id="rId6"/>
    <p:sldId id="300" r:id="rId7"/>
    <p:sldId id="306" r:id="rId8"/>
    <p:sldId id="304" r:id="rId9"/>
    <p:sldId id="296" r:id="rId10"/>
    <p:sldId id="302" r:id="rId11"/>
    <p:sldId id="303" r:id="rId12"/>
    <p:sldId id="267" r:id="rId13"/>
    <p:sldId id="295" r:id="rId14"/>
    <p:sldId id="301" r:id="rId15"/>
    <p:sldId id="263" r:id="rId16"/>
    <p:sldId id="266" r:id="rId17"/>
    <p:sldId id="298" r:id="rId18"/>
    <p:sldId id="305" r:id="rId19"/>
    <p:sldId id="272" r:id="rId20"/>
    <p:sldId id="275" r:id="rId21"/>
    <p:sldId id="271" r:id="rId22"/>
  </p:sldIdLst>
  <p:sldSz cx="9144000" cy="6858000" type="screen4x3"/>
  <p:notesSz cx="7102475" cy="9388475"/>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87"/>
    <a:srgbClr val="FBD10F"/>
    <a:srgbClr val="CC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7" autoAdjust="0"/>
    <p:restoredTop sz="76463" autoAdjust="0"/>
  </p:normalViewPr>
  <p:slideViewPr>
    <p:cSldViewPr>
      <p:cViewPr varScale="1">
        <p:scale>
          <a:sx n="96" d="100"/>
          <a:sy n="96" d="100"/>
        </p:scale>
        <p:origin x="2408"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1" y="0"/>
            <a:ext cx="3077793" cy="469181"/>
          </a:xfrm>
          <a:prstGeom prst="rect">
            <a:avLst/>
          </a:prstGeom>
          <a:noFill/>
          <a:ln w="9525">
            <a:noFill/>
            <a:miter lim="800000"/>
            <a:headEnd/>
            <a:tailEnd/>
          </a:ln>
          <a:effectLst/>
        </p:spPr>
        <p:txBody>
          <a:bodyPr vert="horz" wrap="square" lIns="93799" tIns="46900" rIns="93799" bIns="46900" numCol="1" anchor="t" anchorCtr="0" compatLnSpc="1">
            <a:prstTxWarp prst="textNoShape">
              <a:avLst/>
            </a:prstTxWarp>
          </a:bodyPr>
          <a:lstStyle>
            <a:lvl1pPr eaLnBrk="1" hangingPunct="1">
              <a:defRPr sz="1200"/>
            </a:lvl1pPr>
          </a:lstStyle>
          <a:p>
            <a:pPr>
              <a:defRPr/>
            </a:pPr>
            <a:endParaRPr lang="en-US"/>
          </a:p>
        </p:txBody>
      </p:sp>
      <p:sp>
        <p:nvSpPr>
          <p:cNvPr id="24579" name="Rectangle 3"/>
          <p:cNvSpPr>
            <a:spLocks noGrp="1" noChangeArrowheads="1"/>
          </p:cNvSpPr>
          <p:nvPr>
            <p:ph type="dt" sz="quarter" idx="1"/>
          </p:nvPr>
        </p:nvSpPr>
        <p:spPr bwMode="auto">
          <a:xfrm>
            <a:off x="4024682" y="0"/>
            <a:ext cx="3077793" cy="469181"/>
          </a:xfrm>
          <a:prstGeom prst="rect">
            <a:avLst/>
          </a:prstGeom>
          <a:noFill/>
          <a:ln w="9525">
            <a:noFill/>
            <a:miter lim="800000"/>
            <a:headEnd/>
            <a:tailEnd/>
          </a:ln>
          <a:effectLst/>
        </p:spPr>
        <p:txBody>
          <a:bodyPr vert="horz" wrap="square" lIns="93799" tIns="46900" rIns="93799" bIns="46900" numCol="1" anchor="t" anchorCtr="0" compatLnSpc="1">
            <a:prstTxWarp prst="textNoShape">
              <a:avLst/>
            </a:prstTxWarp>
          </a:bodyPr>
          <a:lstStyle>
            <a:lvl1pPr algn="r" eaLnBrk="1" hangingPunct="1">
              <a:defRPr sz="1200"/>
            </a:lvl1pPr>
          </a:lstStyle>
          <a:p>
            <a:pPr>
              <a:defRPr/>
            </a:pPr>
            <a:endParaRPr lang="en-US"/>
          </a:p>
        </p:txBody>
      </p:sp>
      <p:sp>
        <p:nvSpPr>
          <p:cNvPr id="24580" name="Rectangle 4"/>
          <p:cNvSpPr>
            <a:spLocks noGrp="1" noChangeArrowheads="1"/>
          </p:cNvSpPr>
          <p:nvPr>
            <p:ph type="ftr" sz="quarter" idx="2"/>
          </p:nvPr>
        </p:nvSpPr>
        <p:spPr bwMode="auto">
          <a:xfrm>
            <a:off x="1" y="8919294"/>
            <a:ext cx="3077793" cy="469181"/>
          </a:xfrm>
          <a:prstGeom prst="rect">
            <a:avLst/>
          </a:prstGeom>
          <a:noFill/>
          <a:ln w="9525">
            <a:noFill/>
            <a:miter lim="800000"/>
            <a:headEnd/>
            <a:tailEnd/>
          </a:ln>
          <a:effectLst/>
        </p:spPr>
        <p:txBody>
          <a:bodyPr vert="horz" wrap="square" lIns="93799" tIns="46900" rIns="93799" bIns="46900" numCol="1" anchor="b" anchorCtr="0" compatLnSpc="1">
            <a:prstTxWarp prst="textNoShape">
              <a:avLst/>
            </a:prstTxWarp>
          </a:bodyPr>
          <a:lstStyle>
            <a:lvl1pPr eaLnBrk="1" hangingPunct="1">
              <a:defRPr sz="1200"/>
            </a:lvl1pPr>
          </a:lstStyle>
          <a:p>
            <a:pPr>
              <a:defRPr/>
            </a:pPr>
            <a:endParaRPr lang="en-US"/>
          </a:p>
        </p:txBody>
      </p:sp>
      <p:sp>
        <p:nvSpPr>
          <p:cNvPr id="24581" name="Rectangle 5"/>
          <p:cNvSpPr>
            <a:spLocks noGrp="1" noChangeArrowheads="1"/>
          </p:cNvSpPr>
          <p:nvPr>
            <p:ph type="sldNum" sz="quarter" idx="3"/>
          </p:nvPr>
        </p:nvSpPr>
        <p:spPr bwMode="auto">
          <a:xfrm>
            <a:off x="4024682" y="8919294"/>
            <a:ext cx="3077793" cy="469181"/>
          </a:xfrm>
          <a:prstGeom prst="rect">
            <a:avLst/>
          </a:prstGeom>
          <a:noFill/>
          <a:ln w="9525">
            <a:noFill/>
            <a:miter lim="800000"/>
            <a:headEnd/>
            <a:tailEnd/>
          </a:ln>
          <a:effectLst/>
        </p:spPr>
        <p:txBody>
          <a:bodyPr vert="horz" wrap="square" lIns="93799" tIns="46900" rIns="93799" bIns="46900" numCol="1" anchor="b" anchorCtr="0" compatLnSpc="1">
            <a:prstTxWarp prst="textNoShape">
              <a:avLst/>
            </a:prstTxWarp>
          </a:bodyPr>
          <a:lstStyle>
            <a:lvl1pPr algn="r" eaLnBrk="1" hangingPunct="1">
              <a:defRPr sz="1200"/>
            </a:lvl1pPr>
          </a:lstStyle>
          <a:p>
            <a:pPr>
              <a:defRPr/>
            </a:pPr>
            <a:fld id="{39C5D8AD-3A07-4055-93DC-2A5EC401CBA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1" y="0"/>
            <a:ext cx="3077793" cy="469181"/>
          </a:xfrm>
          <a:prstGeom prst="rect">
            <a:avLst/>
          </a:prstGeom>
          <a:noFill/>
          <a:ln w="9525">
            <a:noFill/>
            <a:miter lim="800000"/>
            <a:headEnd/>
            <a:tailEnd/>
          </a:ln>
          <a:effectLst/>
        </p:spPr>
        <p:txBody>
          <a:bodyPr vert="horz" wrap="square" lIns="93799" tIns="46900" rIns="93799" bIns="46900" numCol="1" anchor="t" anchorCtr="0" compatLnSpc="1">
            <a:prstTxWarp prst="textNoShape">
              <a:avLst/>
            </a:prstTxWarp>
          </a:bodyPr>
          <a:lstStyle>
            <a:lvl1pPr eaLnBrk="1" hangingPunct="1">
              <a:defRPr sz="1200"/>
            </a:lvl1pPr>
          </a:lstStyle>
          <a:p>
            <a:pPr>
              <a:defRPr/>
            </a:pPr>
            <a:endParaRPr lang="en-US"/>
          </a:p>
        </p:txBody>
      </p:sp>
      <p:sp>
        <p:nvSpPr>
          <p:cNvPr id="53251" name="Rectangle 3"/>
          <p:cNvSpPr>
            <a:spLocks noGrp="1" noChangeArrowheads="1"/>
          </p:cNvSpPr>
          <p:nvPr>
            <p:ph type="dt" idx="1"/>
          </p:nvPr>
        </p:nvSpPr>
        <p:spPr bwMode="auto">
          <a:xfrm>
            <a:off x="4023046" y="0"/>
            <a:ext cx="3077793" cy="469181"/>
          </a:xfrm>
          <a:prstGeom prst="rect">
            <a:avLst/>
          </a:prstGeom>
          <a:noFill/>
          <a:ln w="9525">
            <a:noFill/>
            <a:miter lim="800000"/>
            <a:headEnd/>
            <a:tailEnd/>
          </a:ln>
          <a:effectLst/>
        </p:spPr>
        <p:txBody>
          <a:bodyPr vert="horz" wrap="square" lIns="93799" tIns="46900" rIns="93799" bIns="46900" numCol="1" anchor="t" anchorCtr="0" compatLnSpc="1">
            <a:prstTxWarp prst="textNoShape">
              <a:avLst/>
            </a:prstTxWarp>
          </a:bodyPr>
          <a:lstStyle>
            <a:lvl1pPr algn="r" eaLnBrk="1" hangingPunct="1">
              <a:defRPr sz="1200"/>
            </a:lvl1pPr>
          </a:lstStyle>
          <a:p>
            <a:pPr>
              <a:defRPr/>
            </a:pPr>
            <a:endParaRPr lang="en-US"/>
          </a:p>
        </p:txBody>
      </p:sp>
      <p:sp>
        <p:nvSpPr>
          <p:cNvPr id="2052" name="Rectangle 4"/>
          <p:cNvSpPr>
            <a:spLocks noGrp="1" noRot="1" noChangeAspect="1" noChangeArrowheads="1" noTextEdit="1"/>
          </p:cNvSpPr>
          <p:nvPr>
            <p:ph type="sldImg" idx="2"/>
          </p:nvPr>
        </p:nvSpPr>
        <p:spPr bwMode="auto">
          <a:xfrm>
            <a:off x="1204913" y="704850"/>
            <a:ext cx="4692650" cy="35194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709758" y="4459648"/>
            <a:ext cx="5682961" cy="4224245"/>
          </a:xfrm>
          <a:prstGeom prst="rect">
            <a:avLst/>
          </a:prstGeom>
          <a:noFill/>
          <a:ln w="9525">
            <a:noFill/>
            <a:miter lim="800000"/>
            <a:headEnd/>
            <a:tailEnd/>
          </a:ln>
          <a:effectLst/>
        </p:spPr>
        <p:txBody>
          <a:bodyPr vert="horz" wrap="square" lIns="93799" tIns="46900" rIns="93799" bIns="4690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1" y="8917672"/>
            <a:ext cx="3077793" cy="469180"/>
          </a:xfrm>
          <a:prstGeom prst="rect">
            <a:avLst/>
          </a:prstGeom>
          <a:noFill/>
          <a:ln w="9525">
            <a:noFill/>
            <a:miter lim="800000"/>
            <a:headEnd/>
            <a:tailEnd/>
          </a:ln>
          <a:effectLst/>
        </p:spPr>
        <p:txBody>
          <a:bodyPr vert="horz" wrap="square" lIns="93799" tIns="46900" rIns="93799" bIns="46900" numCol="1" anchor="b" anchorCtr="0" compatLnSpc="1">
            <a:prstTxWarp prst="textNoShape">
              <a:avLst/>
            </a:prstTxWarp>
          </a:bodyPr>
          <a:lstStyle>
            <a:lvl1pPr eaLnBrk="1" hangingPunct="1">
              <a:defRPr sz="1200"/>
            </a:lvl1pPr>
          </a:lstStyle>
          <a:p>
            <a:pPr>
              <a:defRPr/>
            </a:pPr>
            <a:endParaRPr lang="en-US"/>
          </a:p>
        </p:txBody>
      </p:sp>
      <p:sp>
        <p:nvSpPr>
          <p:cNvPr id="53255" name="Rectangle 7"/>
          <p:cNvSpPr>
            <a:spLocks noGrp="1" noChangeArrowheads="1"/>
          </p:cNvSpPr>
          <p:nvPr>
            <p:ph type="sldNum" sz="quarter" idx="5"/>
          </p:nvPr>
        </p:nvSpPr>
        <p:spPr bwMode="auto">
          <a:xfrm>
            <a:off x="4023046" y="8917672"/>
            <a:ext cx="3077793" cy="469180"/>
          </a:xfrm>
          <a:prstGeom prst="rect">
            <a:avLst/>
          </a:prstGeom>
          <a:noFill/>
          <a:ln w="9525">
            <a:noFill/>
            <a:miter lim="800000"/>
            <a:headEnd/>
            <a:tailEnd/>
          </a:ln>
          <a:effectLst/>
        </p:spPr>
        <p:txBody>
          <a:bodyPr vert="horz" wrap="square" lIns="93799" tIns="46900" rIns="93799" bIns="46900" numCol="1" anchor="b" anchorCtr="0" compatLnSpc="1">
            <a:prstTxWarp prst="textNoShape">
              <a:avLst/>
            </a:prstTxWarp>
          </a:bodyPr>
          <a:lstStyle>
            <a:lvl1pPr algn="r" eaLnBrk="1" hangingPunct="1">
              <a:defRPr sz="1200"/>
            </a:lvl1pPr>
          </a:lstStyle>
          <a:p>
            <a:pPr>
              <a:defRPr/>
            </a:pPr>
            <a:fld id="{559EB7A3-1A7B-4799-AE93-FA9311676F1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B76A91A-84F8-47FE-9349-2550559C4219}" type="slidenum">
              <a:rPr lang="en-US" altLang="en-US" smtClean="0"/>
              <a:pPr>
                <a:spcBef>
                  <a:spcPct val="0"/>
                </a:spcBef>
              </a:pPr>
              <a:t>2</a:t>
            </a:fld>
            <a:endParaRPr lang="en-US" alt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565685-808B-4716-AC39-647E67DDB59B}" type="slidenum">
              <a:rPr lang="en-US" altLang="en-US" smtClean="0"/>
              <a:pPr>
                <a:spcBef>
                  <a:spcPct val="0"/>
                </a:spcBef>
              </a:pPr>
              <a:t>3</a:t>
            </a:fld>
            <a:endParaRPr lang="en-US" altLang="en-US"/>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EFA79EA-5285-4ED5-84B9-25861333281A}" type="slidenum">
              <a:rPr lang="en-US" altLang="en-US" smtClean="0"/>
              <a:pPr>
                <a:spcBef>
                  <a:spcPct val="0"/>
                </a:spcBef>
              </a:pPr>
              <a:t>4</a:t>
            </a:fld>
            <a:endParaRPr lang="en-US" alt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FC3F8EB-3DEE-488F-ADEF-3B677AF818FE}" type="slidenum">
              <a:rPr lang="en-US" altLang="en-US" smtClean="0"/>
              <a:pPr>
                <a:spcBef>
                  <a:spcPct val="0"/>
                </a:spcBef>
              </a:pPr>
              <a:t>5</a:t>
            </a:fld>
            <a:endParaRPr lang="en-US" alt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FC3F8EB-3DEE-488F-ADEF-3B677AF818FE}" type="slidenum">
              <a:rPr lang="en-US" altLang="en-US" smtClean="0"/>
              <a:pPr>
                <a:spcBef>
                  <a:spcPct val="0"/>
                </a:spcBef>
              </a:pPr>
              <a:t>6</a:t>
            </a:fld>
            <a:endParaRPr lang="en-US" altLang="en-US"/>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526136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88A6D8-8A79-499E-8281-6ED559113151}" type="slidenum">
              <a:rPr lang="en-US" altLang="en-US" smtClean="0"/>
              <a:pPr>
                <a:spcBef>
                  <a:spcPct val="0"/>
                </a:spcBef>
              </a:pPr>
              <a:t>9</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704239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88A6D8-8A79-499E-8281-6ED559113151}" type="slidenum">
              <a:rPr lang="en-US" altLang="en-US" smtClean="0"/>
              <a:pPr>
                <a:spcBef>
                  <a:spcPct val="0"/>
                </a:spcBef>
              </a:pPr>
              <a:t>10</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940236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88A6D8-8A79-499E-8281-6ED559113151}" type="slidenum">
              <a:rPr lang="en-US" altLang="en-US" smtClean="0"/>
              <a:pPr>
                <a:spcBef>
                  <a:spcPct val="0"/>
                </a:spcBef>
              </a:pPr>
              <a:t>11</a:t>
            </a:fld>
            <a:endParaRPr lang="en-US" altLang="en-US"/>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966070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2F287F2-3EC8-4757-9706-F6785BE43003}" type="slidenum">
              <a:rPr lang="en-US" altLang="en-US" smtClean="0"/>
              <a:pPr>
                <a:spcBef>
                  <a:spcPct val="0"/>
                </a:spcBef>
              </a:pPr>
              <a:t>12</a:t>
            </a:fld>
            <a:endParaRPr lang="en-US" altLang="en-US"/>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6AC0BB2-86A7-4EFA-A17D-EABD75418A63}" type="slidenum">
              <a:rPr lang="en-US" altLang="en-US" smtClean="0"/>
              <a:pPr>
                <a:spcBef>
                  <a:spcPct val="0"/>
                </a:spcBef>
              </a:pPr>
              <a:t>15</a:t>
            </a:fld>
            <a:endParaRPr lang="en-US" alt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5442FAB-FE56-4211-924A-31FFAB59640E}" type="slidenum">
              <a:rPr lang="en-US" altLang="en-US" smtClean="0"/>
              <a:pPr>
                <a:spcBef>
                  <a:spcPct val="0"/>
                </a:spcBef>
              </a:pPr>
              <a:t>16</a:t>
            </a:fld>
            <a:endParaRPr lang="en-US" altLang="en-US"/>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B3903D-7BB2-4123-B89F-99239C29B676}" type="slidenum">
              <a:rPr lang="en-US" altLang="en-US" smtClean="0"/>
              <a:pPr>
                <a:spcBef>
                  <a:spcPct val="0"/>
                </a:spcBef>
              </a:pPr>
              <a:t>19</a:t>
            </a:fld>
            <a:endParaRPr lang="en-US" altLang="en-US"/>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BFAE6D2-B6FE-4E1C-89A5-55150663E7E9}" type="slidenum">
              <a:rPr lang="en-US" altLang="en-US" smtClean="0"/>
              <a:pPr>
                <a:spcBef>
                  <a:spcPct val="0"/>
                </a:spcBef>
              </a:pPr>
              <a:t>20</a:t>
            </a:fld>
            <a:endParaRPr lang="en-US" altLang="en-US"/>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t>Get your parents to commit.  Collecting money is a good sign that your parents are going to continue with the program.  If you don’t collect money and applications at the night of your presentation, then set up another meeting time to collect applications and money.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62118" indent="-293122">
              <a:spcBef>
                <a:spcPct val="30000"/>
              </a:spcBef>
              <a:defRPr sz="1200">
                <a:solidFill>
                  <a:schemeClr val="tx1"/>
                </a:solidFill>
                <a:latin typeface="Times New Roman" panose="02020603050405020304" pitchFamily="18" charset="0"/>
              </a:defRPr>
            </a:lvl2pPr>
            <a:lvl3pPr marL="1172489" indent="-234498">
              <a:spcBef>
                <a:spcPct val="30000"/>
              </a:spcBef>
              <a:defRPr sz="1200">
                <a:solidFill>
                  <a:schemeClr val="tx1"/>
                </a:solidFill>
                <a:latin typeface="Times New Roman" panose="02020603050405020304" pitchFamily="18" charset="0"/>
              </a:defRPr>
            </a:lvl3pPr>
            <a:lvl4pPr marL="1641485" indent="-234498">
              <a:spcBef>
                <a:spcPct val="30000"/>
              </a:spcBef>
              <a:defRPr sz="1200">
                <a:solidFill>
                  <a:schemeClr val="tx1"/>
                </a:solidFill>
                <a:latin typeface="Times New Roman" panose="02020603050405020304" pitchFamily="18" charset="0"/>
              </a:defRPr>
            </a:lvl4pPr>
            <a:lvl5pPr marL="2110481" indent="-234498">
              <a:spcBef>
                <a:spcPct val="30000"/>
              </a:spcBef>
              <a:defRPr sz="1200">
                <a:solidFill>
                  <a:schemeClr val="tx1"/>
                </a:solidFill>
                <a:latin typeface="Times New Roman" panose="02020603050405020304" pitchFamily="18" charset="0"/>
              </a:defRPr>
            </a:lvl5pPr>
            <a:lvl6pPr marL="2579477" indent="-234498" eaLnBrk="0" fontAlgn="base" hangingPunct="0">
              <a:spcBef>
                <a:spcPct val="30000"/>
              </a:spcBef>
              <a:spcAft>
                <a:spcPct val="0"/>
              </a:spcAft>
              <a:defRPr sz="1200">
                <a:solidFill>
                  <a:schemeClr val="tx1"/>
                </a:solidFill>
                <a:latin typeface="Times New Roman" panose="02020603050405020304" pitchFamily="18" charset="0"/>
              </a:defRPr>
            </a:lvl6pPr>
            <a:lvl7pPr marL="3048472" indent="-234498" eaLnBrk="0" fontAlgn="base" hangingPunct="0">
              <a:spcBef>
                <a:spcPct val="30000"/>
              </a:spcBef>
              <a:spcAft>
                <a:spcPct val="0"/>
              </a:spcAft>
              <a:defRPr sz="1200">
                <a:solidFill>
                  <a:schemeClr val="tx1"/>
                </a:solidFill>
                <a:latin typeface="Times New Roman" panose="02020603050405020304" pitchFamily="18" charset="0"/>
              </a:defRPr>
            </a:lvl7pPr>
            <a:lvl8pPr marL="3517468" indent="-234498" eaLnBrk="0" fontAlgn="base" hangingPunct="0">
              <a:spcBef>
                <a:spcPct val="30000"/>
              </a:spcBef>
              <a:spcAft>
                <a:spcPct val="0"/>
              </a:spcAft>
              <a:defRPr sz="1200">
                <a:solidFill>
                  <a:schemeClr val="tx1"/>
                </a:solidFill>
                <a:latin typeface="Times New Roman" panose="02020603050405020304" pitchFamily="18" charset="0"/>
              </a:defRPr>
            </a:lvl8pPr>
            <a:lvl9pPr marL="3986464" indent="-23449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546C3DC-18CB-4F0C-AD00-FE2C1001C1FC}" type="slidenum">
              <a:rPr lang="en-US" altLang="en-US" smtClean="0"/>
              <a:pPr>
                <a:spcBef>
                  <a:spcPct val="0"/>
                </a:spcBef>
              </a:pPr>
              <a:t>21</a:t>
            </a:fld>
            <a:endParaRPr lang="en-US" altLang="en-US"/>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image" Target="../media/image7.jpg"/><Relationship Id="rId7" Type="http://schemas.openxmlformats.org/officeDocument/2006/relationships/image" Target="../media/image11.jpg"/><Relationship Id="rId2" Type="http://schemas.openxmlformats.org/officeDocument/2006/relationships/image" Target="../media/image6.gif"/><Relationship Id="rId1" Type="http://schemas.openxmlformats.org/officeDocument/2006/relationships/slideMaster" Target="../slideMasters/slideMaster1.xml"/><Relationship Id="rId6" Type="http://schemas.openxmlformats.org/officeDocument/2006/relationships/image" Target="../media/image10.jpg"/><Relationship Id="rId5" Type="http://schemas.openxmlformats.org/officeDocument/2006/relationships/image" Target="../media/image9.jpg"/><Relationship Id="rId4" Type="http://schemas.openxmlformats.org/officeDocument/2006/relationships/image" Target="../media/image8.jpg"/><Relationship Id="rId9"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16075"/>
            <a:ext cx="7772400" cy="1470025"/>
          </a:xfrm>
        </p:spPr>
        <p:txBody>
          <a:bodyPr/>
          <a:lstStyle>
            <a:lvl1pPr>
              <a:defRPr>
                <a:solidFill>
                  <a:srgbClr val="003F87"/>
                </a:solidFill>
              </a:defRPr>
            </a:lvl1pPr>
          </a:lstStyle>
          <a:p>
            <a:r>
              <a:rPr lang="en-US" dirty="0"/>
              <a:t>Click to edit Master title style</a:t>
            </a:r>
          </a:p>
        </p:txBody>
      </p:sp>
      <p:sp>
        <p:nvSpPr>
          <p:cNvPr id="3" name="Subtitle 2"/>
          <p:cNvSpPr>
            <a:spLocks noGrp="1"/>
          </p:cNvSpPr>
          <p:nvPr>
            <p:ph type="subTitle" idx="1"/>
          </p:nvPr>
        </p:nvSpPr>
        <p:spPr>
          <a:xfrm>
            <a:off x="1371600" y="337185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230946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3F87"/>
                </a:solidFill>
              </a:defRPr>
            </a:lvl1pPr>
          </a:lstStyle>
          <a:p>
            <a:r>
              <a:rPr lang="en-US" dirty="0"/>
              <a:t>Click to edit Master title style</a:t>
            </a:r>
          </a:p>
        </p:txBody>
      </p:sp>
      <p:sp>
        <p:nvSpPr>
          <p:cNvPr id="3" name="Content Placeholder 2"/>
          <p:cNvSpPr>
            <a:spLocks noGrp="1"/>
          </p:cNvSpPr>
          <p:nvPr>
            <p:ph idx="1"/>
          </p:nvPr>
        </p:nvSpPr>
        <p:spPr>
          <a:xfrm>
            <a:off x="457200" y="1619250"/>
            <a:ext cx="8229600" cy="426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FCABC537-1A32-3B44-8DFE-670A4C9CA766}"/>
              </a:ext>
            </a:extLst>
          </p:cNvPr>
          <p:cNvSpPr/>
          <p:nvPr userDrawn="1"/>
        </p:nvSpPr>
        <p:spPr>
          <a:xfrm>
            <a:off x="0" y="0"/>
            <a:ext cx="9144000" cy="304800"/>
          </a:xfrm>
          <a:prstGeom prst="rect">
            <a:avLst/>
          </a:prstGeom>
          <a:solidFill>
            <a:srgbClr val="FBD10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8A98529-E0AC-8A42-8862-F93DE6781E9F}"/>
              </a:ext>
            </a:extLst>
          </p:cNvPr>
          <p:cNvSpPr/>
          <p:nvPr userDrawn="1"/>
        </p:nvSpPr>
        <p:spPr>
          <a:xfrm>
            <a:off x="0" y="6767287"/>
            <a:ext cx="9144000" cy="81118"/>
          </a:xfrm>
          <a:prstGeom prst="rect">
            <a:avLst/>
          </a:prstGeom>
          <a:solidFill>
            <a:srgbClr val="003F8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7FE7F98F-EEE9-524C-AF48-D0953C6A2B3F}"/>
              </a:ext>
            </a:extLst>
          </p:cNvPr>
          <p:cNvPicPr/>
          <p:nvPr userDrawn="1"/>
        </p:nvPicPr>
        <p:blipFill>
          <a:blip r:embed="rId2">
            <a:extLst>
              <a:ext uri="{28A0092B-C50C-407E-A947-70E740481C1C}">
                <a14:useLocalDpi xmlns:a14="http://schemas.microsoft.com/office/drawing/2010/main" val="0"/>
              </a:ext>
            </a:extLst>
          </a:blip>
          <a:stretch>
            <a:fillRect/>
          </a:stretch>
        </p:blipFill>
        <p:spPr>
          <a:xfrm>
            <a:off x="0" y="5867400"/>
            <a:ext cx="2730500" cy="760959"/>
          </a:xfrm>
          <a:prstGeom prst="rect">
            <a:avLst/>
          </a:prstGeom>
        </p:spPr>
      </p:pic>
      <p:pic>
        <p:nvPicPr>
          <p:cNvPr id="11" name="Picture 10">
            <a:extLst>
              <a:ext uri="{FF2B5EF4-FFF2-40B4-BE49-F238E27FC236}">
                <a16:creationId xmlns:a16="http://schemas.microsoft.com/office/drawing/2014/main" id="{71EDB5DD-8FDE-7F46-972C-67E1D5ABE3D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720134" y="6028247"/>
            <a:ext cx="1198598" cy="515397"/>
          </a:xfrm>
          <a:prstGeom prst="rect">
            <a:avLst/>
          </a:prstGeom>
        </p:spPr>
      </p:pic>
      <p:pic>
        <p:nvPicPr>
          <p:cNvPr id="13" name="Picture 12">
            <a:extLst>
              <a:ext uri="{FF2B5EF4-FFF2-40B4-BE49-F238E27FC236}">
                <a16:creationId xmlns:a16="http://schemas.microsoft.com/office/drawing/2014/main" id="{F287AED7-8216-F64F-A08D-6D1D57864BF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926076" y="5913205"/>
            <a:ext cx="795507" cy="799059"/>
          </a:xfrm>
          <a:prstGeom prst="rect">
            <a:avLst/>
          </a:prstGeom>
        </p:spPr>
      </p:pic>
      <p:pic>
        <p:nvPicPr>
          <p:cNvPr id="15" name="Picture 14">
            <a:extLst>
              <a:ext uri="{FF2B5EF4-FFF2-40B4-BE49-F238E27FC236}">
                <a16:creationId xmlns:a16="http://schemas.microsoft.com/office/drawing/2014/main" id="{57467496-E159-9E44-AACA-8E3C00672FD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709328" y="5926638"/>
            <a:ext cx="827634" cy="827634"/>
          </a:xfrm>
          <a:prstGeom prst="rect">
            <a:avLst/>
          </a:prstGeom>
        </p:spPr>
      </p:pic>
      <p:pic>
        <p:nvPicPr>
          <p:cNvPr id="17" name="Picture 16">
            <a:extLst>
              <a:ext uri="{FF2B5EF4-FFF2-40B4-BE49-F238E27FC236}">
                <a16:creationId xmlns:a16="http://schemas.microsoft.com/office/drawing/2014/main" id="{13418690-3818-F44F-B458-60C2A4A1C7E9}"/>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6286704" y="5901718"/>
            <a:ext cx="850300" cy="850300"/>
          </a:xfrm>
          <a:prstGeom prst="rect">
            <a:avLst/>
          </a:prstGeom>
        </p:spPr>
      </p:pic>
      <p:pic>
        <p:nvPicPr>
          <p:cNvPr id="19" name="Picture 18">
            <a:extLst>
              <a:ext uri="{FF2B5EF4-FFF2-40B4-BE49-F238E27FC236}">
                <a16:creationId xmlns:a16="http://schemas.microsoft.com/office/drawing/2014/main" id="{8330A5AC-8D96-AC47-AD0D-2BE85FC33EFB}"/>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5497829" y="5927320"/>
            <a:ext cx="799896" cy="782277"/>
          </a:xfrm>
          <a:prstGeom prst="rect">
            <a:avLst/>
          </a:prstGeom>
        </p:spPr>
      </p:pic>
      <p:pic>
        <p:nvPicPr>
          <p:cNvPr id="21" name="Picture 20">
            <a:extLst>
              <a:ext uri="{FF2B5EF4-FFF2-40B4-BE49-F238E27FC236}">
                <a16:creationId xmlns:a16="http://schemas.microsoft.com/office/drawing/2014/main" id="{2C0CF3E4-28D4-A047-9132-64E41E1FEE83}"/>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7086226" y="5952513"/>
            <a:ext cx="696511" cy="778647"/>
          </a:xfrm>
          <a:prstGeom prst="rect">
            <a:avLst/>
          </a:prstGeom>
        </p:spPr>
      </p:pic>
      <p:pic>
        <p:nvPicPr>
          <p:cNvPr id="23" name="Picture 22">
            <a:extLst>
              <a:ext uri="{FF2B5EF4-FFF2-40B4-BE49-F238E27FC236}">
                <a16:creationId xmlns:a16="http://schemas.microsoft.com/office/drawing/2014/main" id="{19B35CD9-2DF5-4440-AEEF-2ED5C080FD21}"/>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782737" y="6125829"/>
            <a:ext cx="1270056" cy="402078"/>
          </a:xfrm>
          <a:prstGeom prst="rect">
            <a:avLst/>
          </a:prstGeom>
        </p:spPr>
      </p:pic>
    </p:spTree>
    <p:extLst>
      <p:ext uri="{BB962C8B-B14F-4D97-AF65-F5344CB8AC3E}">
        <p14:creationId xmlns:p14="http://schemas.microsoft.com/office/powerpoint/2010/main" val="2758047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pic>
        <p:nvPicPr>
          <p:cNvPr id="4" name="Picture 3"/>
          <p:cNvPicPr>
            <a:picLocks noChangeAspect="1"/>
          </p:cNvPicPr>
          <p:nvPr userDrawn="1"/>
        </p:nvPicPr>
        <p:blipFill rotWithShape="1">
          <a:blip r:embed="rId2"/>
          <a:srcRect l="24166" r="24979"/>
          <a:stretch/>
        </p:blipFill>
        <p:spPr>
          <a:xfrm>
            <a:off x="3282037" y="5420336"/>
            <a:ext cx="1123903" cy="1133352"/>
          </a:xfrm>
          <a:prstGeom prst="rect">
            <a:avLst/>
          </a:prstGeom>
        </p:spPr>
      </p:pic>
    </p:spTree>
    <p:extLst>
      <p:ext uri="{BB962C8B-B14F-4D97-AF65-F5344CB8AC3E}">
        <p14:creationId xmlns:p14="http://schemas.microsoft.com/office/powerpoint/2010/main" val="4273300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3F87"/>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p:cNvPicPr>
            <a:picLocks noChangeAspect="1"/>
          </p:cNvPicPr>
          <p:nvPr userDrawn="1"/>
        </p:nvPicPr>
        <p:blipFill rotWithShape="1">
          <a:blip r:embed="rId2"/>
          <a:srcRect l="24166" r="24979"/>
          <a:stretch/>
        </p:blipFill>
        <p:spPr>
          <a:xfrm>
            <a:off x="3294184" y="5427785"/>
            <a:ext cx="1123903" cy="1133352"/>
          </a:xfrm>
          <a:prstGeom prst="rect">
            <a:avLst/>
          </a:prstGeom>
        </p:spPr>
      </p:pic>
    </p:spTree>
    <p:extLst>
      <p:ext uri="{BB962C8B-B14F-4D97-AF65-F5344CB8AC3E}">
        <p14:creationId xmlns:p14="http://schemas.microsoft.com/office/powerpoint/2010/main" val="3024527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3F87"/>
                </a:solidFill>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6925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6925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416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3F87"/>
                </a:solidFill>
              </a:defRPr>
            </a:lvl1pPr>
          </a:lstStyle>
          <a:p>
            <a:r>
              <a:rPr lang="en-US" dirty="0"/>
              <a:t>Click to edit Master title style</a:t>
            </a:r>
          </a:p>
        </p:txBody>
      </p:sp>
      <p:pic>
        <p:nvPicPr>
          <p:cNvPr id="3" name="Picture 2"/>
          <p:cNvPicPr>
            <a:picLocks noChangeAspect="1"/>
          </p:cNvPicPr>
          <p:nvPr userDrawn="1"/>
        </p:nvPicPr>
        <p:blipFill rotWithShape="1">
          <a:blip r:embed="rId2"/>
          <a:srcRect l="24166" r="24979"/>
          <a:stretch/>
        </p:blipFill>
        <p:spPr>
          <a:xfrm>
            <a:off x="3294184" y="5427785"/>
            <a:ext cx="1123903" cy="1133352"/>
          </a:xfrm>
          <a:prstGeom prst="rect">
            <a:avLst/>
          </a:prstGeom>
        </p:spPr>
      </p:pic>
    </p:spTree>
    <p:extLst>
      <p:ext uri="{BB962C8B-B14F-4D97-AF65-F5344CB8AC3E}">
        <p14:creationId xmlns:p14="http://schemas.microsoft.com/office/powerpoint/2010/main" val="2872896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l="24166" r="24979"/>
          <a:stretch/>
        </p:blipFill>
        <p:spPr>
          <a:xfrm>
            <a:off x="3294184" y="5427785"/>
            <a:ext cx="1123903" cy="1133352"/>
          </a:xfrm>
          <a:prstGeom prst="rect">
            <a:avLst/>
          </a:prstGeom>
        </p:spPr>
      </p:pic>
    </p:spTree>
    <p:extLst>
      <p:ext uri="{BB962C8B-B14F-4D97-AF65-F5344CB8AC3E}">
        <p14:creationId xmlns:p14="http://schemas.microsoft.com/office/powerpoint/2010/main" val="3183940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3008313" cy="90170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533399"/>
            <a:ext cx="5111750" cy="533400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1"/>
            <a:ext cx="3008313"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p:cNvPicPr>
            <a:picLocks noChangeAspect="1"/>
          </p:cNvPicPr>
          <p:nvPr userDrawn="1"/>
        </p:nvPicPr>
        <p:blipFill rotWithShape="1">
          <a:blip r:embed="rId2"/>
          <a:srcRect l="24166" r="24979"/>
          <a:stretch/>
        </p:blipFill>
        <p:spPr>
          <a:xfrm>
            <a:off x="3294184" y="5427785"/>
            <a:ext cx="1123903" cy="1133352"/>
          </a:xfrm>
          <a:prstGeom prst="rect">
            <a:avLst/>
          </a:prstGeom>
        </p:spPr>
      </p:pic>
    </p:spTree>
    <p:extLst>
      <p:ext uri="{BB962C8B-B14F-4D97-AF65-F5344CB8AC3E}">
        <p14:creationId xmlns:p14="http://schemas.microsoft.com/office/powerpoint/2010/main" val="2144528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5762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p:cNvPicPr>
            <a:picLocks noChangeAspect="1"/>
          </p:cNvPicPr>
          <p:nvPr userDrawn="1"/>
        </p:nvPicPr>
        <p:blipFill rotWithShape="1">
          <a:blip r:embed="rId2"/>
          <a:srcRect l="24166" r="24979"/>
          <a:stretch/>
        </p:blipFill>
        <p:spPr>
          <a:xfrm>
            <a:off x="3294184" y="5427785"/>
            <a:ext cx="1123903" cy="1133352"/>
          </a:xfrm>
          <a:prstGeom prst="rect">
            <a:avLst/>
          </a:prstGeom>
        </p:spPr>
      </p:pic>
    </p:spTree>
    <p:extLst>
      <p:ext uri="{BB962C8B-B14F-4D97-AF65-F5344CB8AC3E}">
        <p14:creationId xmlns:p14="http://schemas.microsoft.com/office/powerpoint/2010/main" val="2012853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3F87"/>
                </a:solidFill>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p:cNvPicPr>
            <a:picLocks noChangeAspect="1"/>
          </p:cNvPicPr>
          <p:nvPr userDrawn="1"/>
        </p:nvPicPr>
        <p:blipFill rotWithShape="1">
          <a:blip r:embed="rId2"/>
          <a:srcRect l="24166" r="24979"/>
          <a:stretch/>
        </p:blipFill>
        <p:spPr>
          <a:xfrm>
            <a:off x="3294184" y="5427785"/>
            <a:ext cx="1123903" cy="1133352"/>
          </a:xfrm>
          <a:prstGeom prst="rect">
            <a:avLst/>
          </a:prstGeom>
        </p:spPr>
      </p:pic>
    </p:spTree>
    <p:extLst>
      <p:ext uri="{BB962C8B-B14F-4D97-AF65-F5344CB8AC3E}">
        <p14:creationId xmlns:p14="http://schemas.microsoft.com/office/powerpoint/2010/main" val="291972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1"/>
            <a:ext cx="2057400" cy="5334000"/>
          </a:xfrm>
        </p:spPr>
        <p:txBody>
          <a:bodyPr vert="eaVert"/>
          <a:lstStyle>
            <a:lvl1pPr>
              <a:defRPr>
                <a:solidFill>
                  <a:srgbClr val="003F87"/>
                </a:solidFill>
              </a:defRPr>
            </a:lvl1pPr>
          </a:lstStyle>
          <a:p>
            <a:r>
              <a:rPr lang="en-US" dirty="0"/>
              <a:t>Click to edit Master title style</a:t>
            </a:r>
          </a:p>
        </p:txBody>
      </p:sp>
      <p:sp>
        <p:nvSpPr>
          <p:cNvPr id="3" name="Vertical Text Placeholder 2"/>
          <p:cNvSpPr>
            <a:spLocks noGrp="1"/>
          </p:cNvSpPr>
          <p:nvPr>
            <p:ph type="body" orient="vert" idx="1"/>
          </p:nvPr>
        </p:nvSpPr>
        <p:spPr>
          <a:xfrm>
            <a:off x="457200" y="533401"/>
            <a:ext cx="6019800" cy="533400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rotWithShape="1">
          <a:blip r:embed="rId2"/>
          <a:srcRect l="24166" r="24979"/>
          <a:stretch/>
        </p:blipFill>
        <p:spPr>
          <a:xfrm>
            <a:off x="3294184" y="5427785"/>
            <a:ext cx="1123903" cy="1133352"/>
          </a:xfrm>
          <a:prstGeom prst="rect">
            <a:avLst/>
          </a:prstGeom>
        </p:spPr>
      </p:pic>
    </p:spTree>
    <p:extLst>
      <p:ext uri="{BB962C8B-B14F-4D97-AF65-F5344CB8AC3E}">
        <p14:creationId xmlns:p14="http://schemas.microsoft.com/office/powerpoint/2010/main" val="3129924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jpeg"/><Relationship Id="rId2" Type="http://schemas.openxmlformats.org/officeDocument/2006/relationships/slideLayout" Target="../slideLayouts/slideLayout2.xml"/><Relationship Id="rId16"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533400"/>
            <a:ext cx="8229600"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p:cNvSpPr/>
          <p:nvPr/>
        </p:nvSpPr>
        <p:spPr>
          <a:xfrm>
            <a:off x="0" y="0"/>
            <a:ext cx="9144000" cy="228600"/>
          </a:xfrm>
          <a:prstGeom prst="rect">
            <a:avLst/>
          </a:prstGeom>
          <a:solidFill>
            <a:srgbClr val="FBD10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Freeform 7"/>
          <p:cNvSpPr/>
          <p:nvPr/>
        </p:nvSpPr>
        <p:spPr>
          <a:xfrm>
            <a:off x="0" y="6629400"/>
            <a:ext cx="9144000" cy="228600"/>
          </a:xfrm>
          <a:custGeom>
            <a:avLst/>
            <a:gdLst>
              <a:gd name="connsiteX0" fmla="*/ 0 w 9144000"/>
              <a:gd name="connsiteY0" fmla="*/ 0 h 990600"/>
              <a:gd name="connsiteX1" fmla="*/ 9144000 w 9144000"/>
              <a:gd name="connsiteY1" fmla="*/ 0 h 990600"/>
              <a:gd name="connsiteX2" fmla="*/ 9144000 w 9144000"/>
              <a:gd name="connsiteY2" fmla="*/ 990600 h 990600"/>
              <a:gd name="connsiteX3" fmla="*/ 0 w 9144000"/>
              <a:gd name="connsiteY3" fmla="*/ 990600 h 990600"/>
              <a:gd name="connsiteX4" fmla="*/ 0 w 9144000"/>
              <a:gd name="connsiteY4" fmla="*/ 0 h 990600"/>
              <a:gd name="connsiteX0" fmla="*/ 0 w 9144000"/>
              <a:gd name="connsiteY0" fmla="*/ 0 h 990600"/>
              <a:gd name="connsiteX1" fmla="*/ 4607626 w 9144000"/>
              <a:gd name="connsiteY1" fmla="*/ 215735 h 990600"/>
              <a:gd name="connsiteX2" fmla="*/ 9144000 w 9144000"/>
              <a:gd name="connsiteY2" fmla="*/ 0 h 990600"/>
              <a:gd name="connsiteX3" fmla="*/ 9144000 w 9144000"/>
              <a:gd name="connsiteY3" fmla="*/ 990600 h 990600"/>
              <a:gd name="connsiteX4" fmla="*/ 0 w 9144000"/>
              <a:gd name="connsiteY4" fmla="*/ 990600 h 990600"/>
              <a:gd name="connsiteX5" fmla="*/ 0 w 9144000"/>
              <a:gd name="connsiteY5"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000" h="990600">
                <a:moveTo>
                  <a:pt x="0" y="0"/>
                </a:moveTo>
                <a:lnTo>
                  <a:pt x="4607626" y="215735"/>
                </a:lnTo>
                <a:lnTo>
                  <a:pt x="9144000" y="0"/>
                </a:lnTo>
                <a:lnTo>
                  <a:pt x="9144000" y="990600"/>
                </a:lnTo>
                <a:lnTo>
                  <a:pt x="0" y="990600"/>
                </a:lnTo>
                <a:lnTo>
                  <a:pt x="0" y="0"/>
                </a:lnTo>
                <a:close/>
              </a:path>
            </a:pathLst>
          </a:custGeom>
          <a:solidFill>
            <a:srgbClr val="003F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1030" name="Group 119"/>
          <p:cNvGrpSpPr>
            <a:grpSpLocks/>
          </p:cNvGrpSpPr>
          <p:nvPr userDrawn="1"/>
        </p:nvGrpSpPr>
        <p:grpSpPr bwMode="auto">
          <a:xfrm>
            <a:off x="4419600" y="5410200"/>
            <a:ext cx="4572000" cy="1152525"/>
            <a:chOff x="1488" y="3504"/>
            <a:chExt cx="2880" cy="726"/>
          </a:xfrm>
        </p:grpSpPr>
        <p:pic>
          <p:nvPicPr>
            <p:cNvPr id="1032" name="Picture 113" descr="tiger_c"/>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488" y="3510"/>
              <a:ext cx="72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3" name="Picture 114" descr="wolf_c"/>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2208" y="3504"/>
              <a:ext cx="72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15" descr="bear_c"/>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2928" y="3504"/>
              <a:ext cx="72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5" name="Picture 116" descr="webd_c"/>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3648" y="3504"/>
              <a:ext cx="72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31" name="Picture 8" descr="cub scout"/>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52400" y="5943600"/>
            <a:ext cx="2590800"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3.jp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jpg"/></Relationships>
</file>

<file path=ppt/slides/_rels/slide1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jpg"/><Relationship Id="rId5" Type="http://schemas.openxmlformats.org/officeDocument/2006/relationships/image" Target="../media/image28.jpg"/><Relationship Id="rId4" Type="http://schemas.openxmlformats.org/officeDocument/2006/relationships/image" Target="../media/image27.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10.jpg"/><Relationship Id="rId5" Type="http://schemas.openxmlformats.org/officeDocument/2006/relationships/image" Target="../media/image11.jpg"/><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jp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pack232.com/"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1281FD98-0D7F-5947-A018-AA97F0D72568}"/>
              </a:ext>
            </a:extLst>
          </p:cNvPr>
          <p:cNvSpPr txBox="1">
            <a:spLocks noChangeArrowheads="1"/>
          </p:cNvSpPr>
          <p:nvPr/>
        </p:nvSpPr>
        <p:spPr bwMode="auto">
          <a:xfrm>
            <a:off x="3924300" y="2133600"/>
            <a:ext cx="5067300"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b="1" kern="1200">
                <a:solidFill>
                  <a:srgbClr val="003F87"/>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a:lstStyle>
          <a:p>
            <a:pPr eaLnBrk="1" hangingPunct="1"/>
            <a:r>
              <a:rPr lang="en-US" altLang="en-US" sz="9600" dirty="0"/>
              <a:t>Welcome</a:t>
            </a:r>
          </a:p>
          <a:p>
            <a:pPr eaLnBrk="1" hangingPunct="1"/>
            <a:r>
              <a:rPr lang="en-US" altLang="en-US" sz="9600" dirty="0"/>
              <a:t>To</a:t>
            </a:r>
          </a:p>
          <a:p>
            <a:pPr eaLnBrk="1" hangingPunct="1"/>
            <a:r>
              <a:rPr lang="en-US" altLang="en-US" sz="9600" dirty="0"/>
              <a:t>Pack 232!</a:t>
            </a:r>
          </a:p>
        </p:txBody>
      </p:sp>
      <p:pic>
        <p:nvPicPr>
          <p:cNvPr id="3" name="Picture 2">
            <a:extLst>
              <a:ext uri="{FF2B5EF4-FFF2-40B4-BE49-F238E27FC236}">
                <a16:creationId xmlns:a16="http://schemas.microsoft.com/office/drawing/2014/main" id="{E15A89ED-2439-694E-AE9D-0E6A148449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609600"/>
            <a:ext cx="3771900" cy="5029200"/>
          </a:xfrm>
          <a:prstGeom prst="rect">
            <a:avLst/>
          </a:prstGeom>
        </p:spPr>
      </p:pic>
    </p:spTree>
    <p:extLst>
      <p:ext uri="{BB962C8B-B14F-4D97-AF65-F5344CB8AC3E}">
        <p14:creationId xmlns:p14="http://schemas.microsoft.com/office/powerpoint/2010/main" val="1891649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4"/>
          <p:cNvSpPr>
            <a:spLocks noGrp="1" noChangeArrowheads="1"/>
          </p:cNvSpPr>
          <p:nvPr>
            <p:ph type="title"/>
          </p:nvPr>
        </p:nvSpPr>
        <p:spPr/>
        <p:txBody>
          <a:bodyPr/>
          <a:lstStyle/>
          <a:p>
            <a:pPr eaLnBrk="1" hangingPunct="1"/>
            <a:r>
              <a:rPr lang="en-US" altLang="en-US" dirty="0"/>
              <a:t>Purpose of Tonight’s Meeting</a:t>
            </a:r>
          </a:p>
        </p:txBody>
      </p:sp>
      <p:sp>
        <p:nvSpPr>
          <p:cNvPr id="3097" name="Rectangle 25"/>
          <p:cNvSpPr>
            <a:spLocks noGrp="1" noChangeArrowheads="1"/>
          </p:cNvSpPr>
          <p:nvPr>
            <p:ph idx="1"/>
          </p:nvPr>
        </p:nvSpPr>
        <p:spPr/>
        <p:txBody>
          <a:bodyPr/>
          <a:lstStyle/>
          <a:p>
            <a:pPr eaLnBrk="1" hangingPunct="1"/>
            <a:r>
              <a:rPr lang="en-US" altLang="en-US" dirty="0"/>
              <a:t>Introduce the Cub Scout program</a:t>
            </a:r>
          </a:p>
          <a:p>
            <a:pPr eaLnBrk="1" hangingPunct="1"/>
            <a:r>
              <a:rPr lang="en-US" altLang="en-US" dirty="0"/>
              <a:t>Present Pack 232’s plan for 2019/20</a:t>
            </a:r>
          </a:p>
          <a:p>
            <a:pPr eaLnBrk="1" hangingPunct="1"/>
            <a:r>
              <a:rPr lang="en-US" altLang="en-US" dirty="0"/>
              <a:t>Identify how you and your child participate in Scouting</a:t>
            </a:r>
          </a:p>
          <a:p>
            <a:pPr eaLnBrk="1" hangingPunct="1"/>
            <a:r>
              <a:rPr lang="en-US" altLang="en-US" dirty="0"/>
              <a:t>Complete Registration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9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7" grpId="0" uiExpand="1"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7"/>
          <p:cNvSpPr>
            <a:spLocks noGrp="1" noChangeArrowheads="1"/>
          </p:cNvSpPr>
          <p:nvPr>
            <p:ph type="title"/>
          </p:nvPr>
        </p:nvSpPr>
        <p:spPr/>
        <p:txBody>
          <a:bodyPr/>
          <a:lstStyle/>
          <a:p>
            <a:pPr eaLnBrk="1" hangingPunct="1"/>
            <a:r>
              <a:rPr lang="en-US" altLang="en-US" dirty="0"/>
              <a:t>Scouting’s Mission</a:t>
            </a:r>
          </a:p>
        </p:txBody>
      </p:sp>
      <p:sp>
        <p:nvSpPr>
          <p:cNvPr id="8195" name="Rectangle 18"/>
          <p:cNvSpPr>
            <a:spLocks noGrp="1" noChangeArrowheads="1"/>
          </p:cNvSpPr>
          <p:nvPr>
            <p:ph idx="1"/>
          </p:nvPr>
        </p:nvSpPr>
        <p:spPr/>
        <p:txBody>
          <a:bodyPr/>
          <a:lstStyle/>
          <a:p>
            <a:pPr marL="0" indent="0" algn="ctr" eaLnBrk="1" hangingPunct="1">
              <a:lnSpc>
                <a:spcPct val="90000"/>
              </a:lnSpc>
              <a:buFont typeface="Wingdings" panose="05000000000000000000" pitchFamily="2" charset="2"/>
              <a:buNone/>
            </a:pPr>
            <a:r>
              <a:rPr lang="en-US" altLang="en-US" sz="4400" dirty="0"/>
              <a:t>To prepare young people to make ethical and moral choices over their lifetimes by instilling in them the values of the Scout Oath and Law.</a:t>
            </a:r>
          </a:p>
          <a:p>
            <a:pPr marL="0" indent="0" algn="ctr" eaLnBrk="1" hangingPunct="1">
              <a:lnSpc>
                <a:spcPct val="90000"/>
              </a:lnSpc>
              <a:buFont typeface="Wingdings" panose="05000000000000000000" pitchFamily="2" charset="2"/>
              <a:buNone/>
            </a:pPr>
            <a:r>
              <a:rPr lang="en-US" altLang="en-US" sz="4400" u="sng" dirty="0"/>
              <a:t>“Fun with a Purpose”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9"/>
          <p:cNvSpPr>
            <a:spLocks noGrp="1" noChangeArrowheads="1"/>
          </p:cNvSpPr>
          <p:nvPr>
            <p:ph type="title"/>
          </p:nvPr>
        </p:nvSpPr>
        <p:spPr/>
        <p:txBody>
          <a:bodyPr/>
          <a:lstStyle/>
          <a:p>
            <a:pPr eaLnBrk="1" hangingPunct="1"/>
            <a:r>
              <a:rPr lang="en-US" altLang="en-US" dirty="0"/>
              <a:t>The Scout Oath</a:t>
            </a:r>
          </a:p>
        </p:txBody>
      </p:sp>
      <p:sp>
        <p:nvSpPr>
          <p:cNvPr id="14339" name="Rectangle 20"/>
          <p:cNvSpPr>
            <a:spLocks noGrp="1" noChangeArrowheads="1"/>
          </p:cNvSpPr>
          <p:nvPr>
            <p:ph idx="1"/>
          </p:nvPr>
        </p:nvSpPr>
        <p:spPr/>
        <p:txBody>
          <a:bodyPr/>
          <a:lstStyle/>
          <a:p>
            <a:pPr marL="0" indent="0" eaLnBrk="1" hangingPunct="1">
              <a:buFont typeface="Wingdings" panose="05000000000000000000" pitchFamily="2" charset="2"/>
              <a:buNone/>
            </a:pPr>
            <a:r>
              <a:rPr lang="en-US" altLang="en-US" dirty="0"/>
              <a:t>On my honor I will </a:t>
            </a:r>
            <a:r>
              <a:rPr lang="en-US" altLang="en-US" u="sng" dirty="0"/>
              <a:t>do my best</a:t>
            </a:r>
            <a:r>
              <a:rPr lang="en-US" altLang="en-US" dirty="0"/>
              <a:t> to do my duty to God and my country and to obey the Scout Law; to help other people at all times; to keep myself physically strong, mentally awake, and morally straight.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9"/>
          <p:cNvSpPr>
            <a:spLocks noGrp="1" noChangeArrowheads="1"/>
          </p:cNvSpPr>
          <p:nvPr>
            <p:ph type="title"/>
          </p:nvPr>
        </p:nvSpPr>
        <p:spPr/>
        <p:txBody>
          <a:bodyPr/>
          <a:lstStyle/>
          <a:p>
            <a:pPr eaLnBrk="1" hangingPunct="1"/>
            <a:r>
              <a:rPr lang="en-US" altLang="en-US" dirty="0"/>
              <a:t>The Scout Law</a:t>
            </a:r>
          </a:p>
        </p:txBody>
      </p:sp>
      <p:sp>
        <p:nvSpPr>
          <p:cNvPr id="16387" name="Rectangle 20"/>
          <p:cNvSpPr>
            <a:spLocks noGrp="1" noChangeArrowheads="1"/>
          </p:cNvSpPr>
          <p:nvPr>
            <p:ph idx="1"/>
          </p:nvPr>
        </p:nvSpPr>
        <p:spPr/>
        <p:txBody>
          <a:bodyPr/>
          <a:lstStyle/>
          <a:p>
            <a:pPr marL="0" indent="0" algn="ctr" eaLnBrk="1" hangingPunct="1">
              <a:buNone/>
            </a:pPr>
            <a:r>
              <a:rPr lang="en-US" altLang="en-US" sz="3600" dirty="0"/>
              <a:t>A Scout is trustworthy, loyal, helpful, friendly, courteous, kind, obedient, cheerful, thrifty, brave, clean, and reverent.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9"/>
          <p:cNvSpPr>
            <a:spLocks noGrp="1" noChangeArrowheads="1"/>
          </p:cNvSpPr>
          <p:nvPr>
            <p:ph type="title"/>
          </p:nvPr>
        </p:nvSpPr>
        <p:spPr/>
        <p:txBody>
          <a:bodyPr/>
          <a:lstStyle/>
          <a:p>
            <a:pPr eaLnBrk="1" hangingPunct="1"/>
            <a:r>
              <a:rPr lang="en-US" altLang="en-US" dirty="0"/>
              <a:t>The Outdoor Code</a:t>
            </a:r>
          </a:p>
        </p:txBody>
      </p:sp>
      <p:sp>
        <p:nvSpPr>
          <p:cNvPr id="16387" name="Rectangle 20"/>
          <p:cNvSpPr>
            <a:spLocks noGrp="1" noChangeArrowheads="1"/>
          </p:cNvSpPr>
          <p:nvPr>
            <p:ph idx="1"/>
          </p:nvPr>
        </p:nvSpPr>
        <p:spPr/>
        <p:txBody>
          <a:bodyPr/>
          <a:lstStyle/>
          <a:p>
            <a:pPr marL="0" indent="0" algn="ctr" eaLnBrk="1" hangingPunct="1">
              <a:buNone/>
            </a:pPr>
            <a:r>
              <a:rPr lang="en-US" altLang="en-US" sz="3600" dirty="0"/>
              <a:t>As an American, I will do my best to – </a:t>
            </a:r>
          </a:p>
          <a:p>
            <a:pPr marL="0" indent="0" algn="ctr" eaLnBrk="1" hangingPunct="1">
              <a:buNone/>
            </a:pPr>
            <a:r>
              <a:rPr lang="en-US" altLang="en-US" sz="3600" dirty="0"/>
              <a:t>Be clean in my outdoor manners. </a:t>
            </a:r>
          </a:p>
          <a:p>
            <a:pPr marL="0" indent="0" algn="ctr" eaLnBrk="1" hangingPunct="1">
              <a:buNone/>
            </a:pPr>
            <a:r>
              <a:rPr lang="en-US" altLang="en-US" sz="3600" dirty="0"/>
              <a:t>Be careful with fire.</a:t>
            </a:r>
          </a:p>
          <a:p>
            <a:pPr marL="0" indent="0" algn="ctr" eaLnBrk="1" hangingPunct="1">
              <a:buNone/>
            </a:pPr>
            <a:r>
              <a:rPr lang="en-US" altLang="en-US" sz="3600" dirty="0"/>
              <a:t>Be considerate in the outdoors.</a:t>
            </a:r>
          </a:p>
          <a:p>
            <a:pPr marL="0" indent="0" algn="ctr" eaLnBrk="1" hangingPunct="1">
              <a:buNone/>
            </a:pPr>
            <a:r>
              <a:rPr lang="en-US" altLang="en-US" sz="3600" dirty="0"/>
              <a:t>Be conservation minded.</a:t>
            </a:r>
          </a:p>
        </p:txBody>
      </p:sp>
    </p:spTree>
    <p:extLst>
      <p:ext uri="{BB962C8B-B14F-4D97-AF65-F5344CB8AC3E}">
        <p14:creationId xmlns:p14="http://schemas.microsoft.com/office/powerpoint/2010/main" val="3046005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FF9FB-638B-CE49-8C1B-DAB14695B6BE}"/>
              </a:ext>
            </a:extLst>
          </p:cNvPr>
          <p:cNvSpPr>
            <a:spLocks noGrp="1"/>
          </p:cNvSpPr>
          <p:nvPr>
            <p:ph type="title"/>
          </p:nvPr>
        </p:nvSpPr>
        <p:spPr/>
        <p:txBody>
          <a:bodyPr/>
          <a:lstStyle/>
          <a:p>
            <a:r>
              <a:rPr lang="en-US" dirty="0"/>
              <a:t>Famous Scouts</a:t>
            </a:r>
          </a:p>
        </p:txBody>
      </p:sp>
      <p:pic>
        <p:nvPicPr>
          <p:cNvPr id="5" name="Content Placeholder 4">
            <a:extLst>
              <a:ext uri="{FF2B5EF4-FFF2-40B4-BE49-F238E27FC236}">
                <a16:creationId xmlns:a16="http://schemas.microsoft.com/office/drawing/2014/main" id="{09294817-19DF-634E-9B0E-C9560FDBC9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 y="1219200"/>
            <a:ext cx="1981200" cy="2971800"/>
          </a:xfrm>
        </p:spPr>
      </p:pic>
      <p:pic>
        <p:nvPicPr>
          <p:cNvPr id="7" name="Picture 6">
            <a:extLst>
              <a:ext uri="{FF2B5EF4-FFF2-40B4-BE49-F238E27FC236}">
                <a16:creationId xmlns:a16="http://schemas.microsoft.com/office/drawing/2014/main" id="{A4DEC3B5-886C-CA40-84F2-EA4359EB2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9800" y="1386681"/>
            <a:ext cx="2201459" cy="2804319"/>
          </a:xfrm>
          <a:prstGeom prst="rect">
            <a:avLst/>
          </a:prstGeom>
        </p:spPr>
      </p:pic>
      <p:pic>
        <p:nvPicPr>
          <p:cNvPr id="9" name="Picture 8">
            <a:extLst>
              <a:ext uri="{FF2B5EF4-FFF2-40B4-BE49-F238E27FC236}">
                <a16:creationId xmlns:a16="http://schemas.microsoft.com/office/drawing/2014/main" id="{B348C297-5FEA-C146-9B1B-6A8B1499A7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86893" y="381000"/>
            <a:ext cx="2120794" cy="2505800"/>
          </a:xfrm>
          <a:prstGeom prst="rect">
            <a:avLst/>
          </a:prstGeom>
        </p:spPr>
      </p:pic>
      <p:pic>
        <p:nvPicPr>
          <p:cNvPr id="11" name="Picture 10">
            <a:extLst>
              <a:ext uri="{FF2B5EF4-FFF2-40B4-BE49-F238E27FC236}">
                <a16:creationId xmlns:a16="http://schemas.microsoft.com/office/drawing/2014/main" id="{B259F7FB-6C05-544E-84CC-1AE70FF5F6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85252" y="1219200"/>
            <a:ext cx="2402384" cy="3581400"/>
          </a:xfrm>
          <a:prstGeom prst="rect">
            <a:avLst/>
          </a:prstGeom>
        </p:spPr>
      </p:pic>
      <p:pic>
        <p:nvPicPr>
          <p:cNvPr id="13" name="Picture 12">
            <a:extLst>
              <a:ext uri="{FF2B5EF4-FFF2-40B4-BE49-F238E27FC236}">
                <a16:creationId xmlns:a16="http://schemas.microsoft.com/office/drawing/2014/main" id="{AFF1A302-95CB-EE4F-85E1-47D82F2F54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16840" y="3039200"/>
            <a:ext cx="2090847" cy="2505800"/>
          </a:xfrm>
          <a:prstGeom prst="rect">
            <a:avLst/>
          </a:prstGeom>
        </p:spPr>
      </p:pic>
    </p:spTree>
    <p:extLst>
      <p:ext uri="{BB962C8B-B14F-4D97-AF65-F5344CB8AC3E}">
        <p14:creationId xmlns:p14="http://schemas.microsoft.com/office/powerpoint/2010/main" val="1740139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EFF9E-A50B-6941-8BFC-D0BF7673CB18}"/>
              </a:ext>
            </a:extLst>
          </p:cNvPr>
          <p:cNvSpPr>
            <a:spLocks noGrp="1"/>
          </p:cNvSpPr>
          <p:nvPr>
            <p:ph type="title"/>
          </p:nvPr>
        </p:nvSpPr>
        <p:spPr/>
        <p:txBody>
          <a:bodyPr/>
          <a:lstStyle/>
          <a:p>
            <a:r>
              <a:rPr lang="en-US" altLang="en-US" dirty="0"/>
              <a:t>Pack 232’s Program for 2019-20</a:t>
            </a:r>
            <a:endParaRPr lang="en-US" dirty="0"/>
          </a:p>
        </p:txBody>
      </p:sp>
      <p:sp>
        <p:nvSpPr>
          <p:cNvPr id="5" name="Rectangle 15">
            <a:extLst>
              <a:ext uri="{FF2B5EF4-FFF2-40B4-BE49-F238E27FC236}">
                <a16:creationId xmlns:a16="http://schemas.microsoft.com/office/drawing/2014/main" id="{DE6BD2ED-858A-584D-BAF7-15973CA87D15}"/>
              </a:ext>
            </a:extLst>
          </p:cNvPr>
          <p:cNvSpPr>
            <a:spLocks noGrp="1" noChangeArrowheads="1"/>
          </p:cNvSpPr>
          <p:nvPr>
            <p:ph sz="half" idx="1"/>
          </p:nvPr>
        </p:nvSpPr>
        <p:spPr>
          <a:xfrm>
            <a:off x="-26504" y="1676400"/>
            <a:ext cx="4876800" cy="4191000"/>
          </a:xfrm>
        </p:spPr>
        <p:txBody>
          <a:bodyPr/>
          <a:lstStyle/>
          <a:p>
            <a:pPr eaLnBrk="1" hangingPunct="1"/>
            <a:r>
              <a:rPr lang="en-US" altLang="en-US" sz="2800" dirty="0"/>
              <a:t>Outings</a:t>
            </a:r>
          </a:p>
          <a:p>
            <a:pPr lvl="1" eaLnBrk="1" hangingPunct="1"/>
            <a:r>
              <a:rPr lang="en-US" altLang="en-US" sz="2000" dirty="0"/>
              <a:t>Family Hikes (Fall/Spring)</a:t>
            </a:r>
          </a:p>
          <a:p>
            <a:pPr lvl="1" eaLnBrk="1" hangingPunct="1"/>
            <a:r>
              <a:rPr lang="en-US" altLang="en-US" sz="2000" dirty="0"/>
              <a:t>District Camporee (Oct)</a:t>
            </a:r>
          </a:p>
          <a:p>
            <a:pPr lvl="1" eaLnBrk="1" hangingPunct="1"/>
            <a:r>
              <a:rPr lang="en-US" altLang="en-US" sz="2000" b="1" dirty="0">
                <a:solidFill>
                  <a:srgbClr val="FF0000"/>
                </a:solidFill>
              </a:rPr>
              <a:t>HEATED CABIN </a:t>
            </a:r>
            <a:r>
              <a:rPr lang="en-US" altLang="en-US" sz="2000" dirty="0"/>
              <a:t>Camping (Feb)</a:t>
            </a:r>
          </a:p>
          <a:p>
            <a:pPr lvl="1" eaLnBrk="1" hangingPunct="1"/>
            <a:r>
              <a:rPr lang="en-US" altLang="en-US" sz="2000" dirty="0"/>
              <a:t>USS Slater Sleepover (May)</a:t>
            </a:r>
          </a:p>
          <a:p>
            <a:pPr lvl="1" eaLnBrk="1" hangingPunct="1"/>
            <a:r>
              <a:rPr lang="en-US" altLang="en-US" sz="2000" dirty="0"/>
              <a:t>Summer Camps (July)</a:t>
            </a:r>
          </a:p>
          <a:p>
            <a:pPr lvl="1" eaLnBrk="1" hangingPunct="1"/>
            <a:r>
              <a:rPr lang="en-US" altLang="en-US" sz="2000" dirty="0"/>
              <a:t>ValleyCats Sleepover (August)</a:t>
            </a:r>
          </a:p>
          <a:p>
            <a:pPr eaLnBrk="1" hangingPunct="1"/>
            <a:r>
              <a:rPr lang="en-US" altLang="en-US" sz="2800" dirty="0"/>
              <a:t>Gatherings</a:t>
            </a:r>
          </a:p>
          <a:p>
            <a:pPr lvl="1" eaLnBrk="1" hangingPunct="1"/>
            <a:r>
              <a:rPr lang="en-US" altLang="en-US" sz="2000" dirty="0"/>
              <a:t>Pinewood Derby (March)</a:t>
            </a:r>
          </a:p>
          <a:p>
            <a:pPr lvl="1" eaLnBrk="1" hangingPunct="1"/>
            <a:r>
              <a:rPr lang="en-US" altLang="en-US" sz="2000" dirty="0"/>
              <a:t>Blue &amp; Gold Picnic (June)</a:t>
            </a:r>
          </a:p>
          <a:p>
            <a:pPr lvl="1" eaLnBrk="1" hangingPunct="1"/>
            <a:endParaRPr lang="en-US" altLang="en-US" dirty="0"/>
          </a:p>
          <a:p>
            <a:pPr lvl="1" eaLnBrk="1" hangingPunct="1"/>
            <a:endParaRPr lang="en-US" altLang="en-US" dirty="0"/>
          </a:p>
        </p:txBody>
      </p:sp>
      <p:sp>
        <p:nvSpPr>
          <p:cNvPr id="7" name="Content Placeholder 1">
            <a:extLst>
              <a:ext uri="{FF2B5EF4-FFF2-40B4-BE49-F238E27FC236}">
                <a16:creationId xmlns:a16="http://schemas.microsoft.com/office/drawing/2014/main" id="{028A6F7E-3EB6-7142-BD33-B466CD1B8BCD}"/>
              </a:ext>
            </a:extLst>
          </p:cNvPr>
          <p:cNvSpPr txBox="1">
            <a:spLocks/>
          </p:cNvSpPr>
          <p:nvPr/>
        </p:nvSpPr>
        <p:spPr>
          <a:xfrm>
            <a:off x="4426226" y="1676400"/>
            <a:ext cx="4267200" cy="4190999"/>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r>
              <a:rPr lang="en-US" altLang="en-US" sz="2800" dirty="0"/>
              <a:t>Community Involvement</a:t>
            </a:r>
          </a:p>
          <a:p>
            <a:pPr lvl="1" eaLnBrk="1" hangingPunct="1"/>
            <a:r>
              <a:rPr lang="en-US" altLang="en-US" sz="2000" dirty="0"/>
              <a:t>Scouting for Food (Nov)</a:t>
            </a:r>
          </a:p>
          <a:p>
            <a:pPr lvl="1" eaLnBrk="1" hangingPunct="1"/>
            <a:r>
              <a:rPr lang="en-US" altLang="en-US" sz="2000" dirty="0"/>
              <a:t>Caroling for RMH</a:t>
            </a:r>
          </a:p>
          <a:p>
            <a:pPr lvl="1" eaLnBrk="1" hangingPunct="1"/>
            <a:r>
              <a:rPr lang="en-US" altLang="en-US" sz="2000" dirty="0"/>
              <a:t>Memorial Day Flag Laying</a:t>
            </a:r>
          </a:p>
          <a:p>
            <a:pPr lvl="1" eaLnBrk="1" hangingPunct="1"/>
            <a:r>
              <a:rPr lang="en-US" altLang="en-US" sz="2000" dirty="0"/>
              <a:t>Memorial Day Parade</a:t>
            </a:r>
          </a:p>
        </p:txBody>
      </p:sp>
    </p:spTree>
    <p:extLst>
      <p:ext uri="{BB962C8B-B14F-4D97-AF65-F5344CB8AC3E}">
        <p14:creationId xmlns:p14="http://schemas.microsoft.com/office/powerpoint/2010/main" val="1470109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6969D1-60F3-424B-A7E2-603E32ED7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2443" y="1295400"/>
            <a:ext cx="4165600" cy="3124200"/>
          </a:xfrm>
          <a:prstGeom prst="rect">
            <a:avLst/>
          </a:prstGeom>
        </p:spPr>
      </p:pic>
      <p:sp>
        <p:nvSpPr>
          <p:cNvPr id="33794" name="Rectangle 14"/>
          <p:cNvSpPr>
            <a:spLocks noGrp="1" noChangeArrowheads="1"/>
          </p:cNvSpPr>
          <p:nvPr>
            <p:ph type="title"/>
          </p:nvPr>
        </p:nvSpPr>
        <p:spPr/>
        <p:txBody>
          <a:bodyPr/>
          <a:lstStyle/>
          <a:p>
            <a:pPr eaLnBrk="1" hangingPunct="1"/>
            <a:r>
              <a:rPr lang="en-US" altLang="en-US" dirty="0"/>
              <a:t>Pack 232 Outings</a:t>
            </a:r>
          </a:p>
        </p:txBody>
      </p:sp>
      <p:pic>
        <p:nvPicPr>
          <p:cNvPr id="3" name="Picture 2">
            <a:extLst>
              <a:ext uri="{FF2B5EF4-FFF2-40B4-BE49-F238E27FC236}">
                <a16:creationId xmlns:a16="http://schemas.microsoft.com/office/drawing/2014/main" id="{3D827A17-1A46-BA4A-87D6-D5B03B2E78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957" y="1295400"/>
            <a:ext cx="2628900" cy="3505200"/>
          </a:xfrm>
          <a:prstGeom prst="rect">
            <a:avLst/>
          </a:prstGeom>
        </p:spPr>
      </p:pic>
      <p:pic>
        <p:nvPicPr>
          <p:cNvPr id="7" name="Picture 6">
            <a:extLst>
              <a:ext uri="{FF2B5EF4-FFF2-40B4-BE49-F238E27FC236}">
                <a16:creationId xmlns:a16="http://schemas.microsoft.com/office/drawing/2014/main" id="{6FF0730A-0130-374F-BD73-F748388BEB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6745" y="3067878"/>
            <a:ext cx="3962400" cy="2971800"/>
          </a:xfrm>
          <a:prstGeom prst="rect">
            <a:avLst/>
          </a:prstGeom>
        </p:spPr>
      </p:pic>
    </p:spTree>
    <p:extLst>
      <p:ext uri="{BB962C8B-B14F-4D97-AF65-F5344CB8AC3E}">
        <p14:creationId xmlns:p14="http://schemas.microsoft.com/office/powerpoint/2010/main" val="3658923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4"/>
          <p:cNvSpPr>
            <a:spLocks noGrp="1" noChangeArrowheads="1"/>
          </p:cNvSpPr>
          <p:nvPr>
            <p:ph type="title"/>
          </p:nvPr>
        </p:nvSpPr>
        <p:spPr/>
        <p:txBody>
          <a:bodyPr/>
          <a:lstStyle/>
          <a:p>
            <a:pPr eaLnBrk="1" hangingPunct="1"/>
            <a:r>
              <a:rPr lang="en-US" altLang="en-US" dirty="0"/>
              <a:t>Pack 232 Gatherings</a:t>
            </a:r>
          </a:p>
        </p:txBody>
      </p:sp>
      <p:pic>
        <p:nvPicPr>
          <p:cNvPr id="3" name="Picture 2">
            <a:extLst>
              <a:ext uri="{FF2B5EF4-FFF2-40B4-BE49-F238E27FC236}">
                <a16:creationId xmlns:a16="http://schemas.microsoft.com/office/drawing/2014/main" id="{18AC5CC3-0683-B84B-9732-05AD29F8E3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17638"/>
            <a:ext cx="4907757" cy="3271838"/>
          </a:xfrm>
          <a:prstGeom prst="rect">
            <a:avLst/>
          </a:prstGeom>
        </p:spPr>
      </p:pic>
      <p:pic>
        <p:nvPicPr>
          <p:cNvPr id="9" name="Picture 8">
            <a:extLst>
              <a:ext uri="{FF2B5EF4-FFF2-40B4-BE49-F238E27FC236}">
                <a16:creationId xmlns:a16="http://schemas.microsoft.com/office/drawing/2014/main" id="{C33BCD58-5182-494B-A0C1-9183E1B007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743" y="2438400"/>
            <a:ext cx="4502943" cy="3001962"/>
          </a:xfrm>
          <a:prstGeom prst="rect">
            <a:avLst/>
          </a:prstGeom>
        </p:spPr>
      </p:pic>
    </p:spTree>
    <p:extLst>
      <p:ext uri="{BB962C8B-B14F-4D97-AF65-F5344CB8AC3E}">
        <p14:creationId xmlns:p14="http://schemas.microsoft.com/office/powerpoint/2010/main" val="3345997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552388E-EE5F-EC44-9233-C0008F84A0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4958" y="1285392"/>
            <a:ext cx="3538433" cy="2358955"/>
          </a:xfrm>
          <a:prstGeom prst="rect">
            <a:avLst/>
          </a:prstGeom>
        </p:spPr>
      </p:pic>
      <p:sp>
        <p:nvSpPr>
          <p:cNvPr id="33794" name="Rectangle 14"/>
          <p:cNvSpPr>
            <a:spLocks noGrp="1" noChangeArrowheads="1"/>
          </p:cNvSpPr>
          <p:nvPr>
            <p:ph type="title"/>
          </p:nvPr>
        </p:nvSpPr>
        <p:spPr/>
        <p:txBody>
          <a:bodyPr/>
          <a:lstStyle/>
          <a:p>
            <a:pPr eaLnBrk="1" hangingPunct="1"/>
            <a:r>
              <a:rPr lang="en-US" altLang="en-US" dirty="0"/>
              <a:t>Pack 232 Community Involvement</a:t>
            </a:r>
          </a:p>
        </p:txBody>
      </p:sp>
      <p:pic>
        <p:nvPicPr>
          <p:cNvPr id="5" name="Picture 4">
            <a:extLst>
              <a:ext uri="{FF2B5EF4-FFF2-40B4-BE49-F238E27FC236}">
                <a16:creationId xmlns:a16="http://schemas.microsoft.com/office/drawing/2014/main" id="{FA962A34-7FB8-084B-8B2F-E5BCAAB13C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15" y="1404387"/>
            <a:ext cx="3618029" cy="2713522"/>
          </a:xfrm>
          <a:prstGeom prst="rect">
            <a:avLst/>
          </a:prstGeom>
        </p:spPr>
      </p:pic>
      <p:pic>
        <p:nvPicPr>
          <p:cNvPr id="7" name="Picture 6">
            <a:extLst>
              <a:ext uri="{FF2B5EF4-FFF2-40B4-BE49-F238E27FC236}">
                <a16:creationId xmlns:a16="http://schemas.microsoft.com/office/drawing/2014/main" id="{7E8DC390-829E-2C4E-B5E9-EBFD8232F0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77868" y="3200400"/>
            <a:ext cx="3775117" cy="2831338"/>
          </a:xfrm>
          <a:prstGeom prst="rect">
            <a:avLst/>
          </a:prstGeom>
        </p:spPr>
      </p:pic>
      <p:pic>
        <p:nvPicPr>
          <p:cNvPr id="11" name="Picture 10">
            <a:extLst>
              <a:ext uri="{FF2B5EF4-FFF2-40B4-BE49-F238E27FC236}">
                <a16:creationId xmlns:a16="http://schemas.microsoft.com/office/drawing/2014/main" id="{472E824B-A413-A240-B8D8-B22BE1C1E3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1546" y="3318215"/>
            <a:ext cx="4070285" cy="2713523"/>
          </a:xfrm>
          <a:prstGeom prst="rect">
            <a:avLst/>
          </a:prstGeom>
        </p:spPr>
      </p:pic>
    </p:spTree>
    <p:extLst>
      <p:ext uri="{BB962C8B-B14F-4D97-AF65-F5344CB8AC3E}">
        <p14:creationId xmlns:p14="http://schemas.microsoft.com/office/powerpoint/2010/main" val="2497416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12"/>
          <p:cNvSpPr>
            <a:spLocks noGrp="1" noChangeArrowheads="1"/>
          </p:cNvSpPr>
          <p:nvPr>
            <p:ph type="title"/>
          </p:nvPr>
        </p:nvSpPr>
        <p:spPr/>
        <p:txBody>
          <a:bodyPr/>
          <a:lstStyle/>
          <a:p>
            <a:pPr eaLnBrk="1" hangingPunct="1"/>
            <a:r>
              <a:rPr lang="en-US" altLang="en-US" dirty="0"/>
              <a:t>Cub Scout Advancement Plan</a:t>
            </a:r>
          </a:p>
        </p:txBody>
      </p:sp>
      <p:sp>
        <p:nvSpPr>
          <p:cNvPr id="16397" name="Rectangle 13"/>
          <p:cNvSpPr>
            <a:spLocks noGrp="1" noChangeArrowheads="1"/>
          </p:cNvSpPr>
          <p:nvPr>
            <p:ph idx="1"/>
          </p:nvPr>
        </p:nvSpPr>
        <p:spPr/>
        <p:txBody>
          <a:bodyPr/>
          <a:lstStyle/>
          <a:p>
            <a:pPr eaLnBrk="1" hangingPunct="1"/>
            <a:r>
              <a:rPr lang="en-US" altLang="en-US" dirty="0"/>
              <a:t>Opportunity for parents to be involved</a:t>
            </a:r>
          </a:p>
          <a:p>
            <a:pPr eaLnBrk="1" hangingPunct="1"/>
            <a:r>
              <a:rPr lang="en-US" altLang="en-US" dirty="0"/>
              <a:t>Scouts learn</a:t>
            </a:r>
          </a:p>
          <a:p>
            <a:pPr eaLnBrk="1" hangingPunct="1"/>
            <a:r>
              <a:rPr lang="en-US" altLang="en-US" dirty="0"/>
              <a:t>Scouts are tested</a:t>
            </a:r>
          </a:p>
          <a:p>
            <a:pPr eaLnBrk="1" hangingPunct="1"/>
            <a:r>
              <a:rPr lang="en-US" altLang="en-US" dirty="0"/>
              <a:t>Scouts are recognized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3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9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39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9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7" grpId="0" uiExpand="1"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altLang="en-US" dirty="0"/>
              <a:t>Cub Scout Rank Advancement</a:t>
            </a:r>
          </a:p>
        </p:txBody>
      </p:sp>
      <p:sp>
        <p:nvSpPr>
          <p:cNvPr id="7" name="TextBox 6">
            <a:extLst>
              <a:ext uri="{FF2B5EF4-FFF2-40B4-BE49-F238E27FC236}">
                <a16:creationId xmlns:a16="http://schemas.microsoft.com/office/drawing/2014/main" id="{9AC6F0FC-5437-7740-9C72-E43E6CCD8F30}"/>
              </a:ext>
            </a:extLst>
          </p:cNvPr>
          <p:cNvSpPr txBox="1"/>
          <p:nvPr/>
        </p:nvSpPr>
        <p:spPr>
          <a:xfrm>
            <a:off x="4934976" y="2948873"/>
            <a:ext cx="1830879" cy="738664"/>
          </a:xfrm>
          <a:prstGeom prst="rect">
            <a:avLst/>
          </a:prstGeom>
          <a:noFill/>
        </p:spPr>
        <p:txBody>
          <a:bodyPr wrap="square" rtlCol="0">
            <a:spAutoFit/>
          </a:bodyPr>
          <a:lstStyle/>
          <a:p>
            <a:pPr algn="ctr"/>
            <a:r>
              <a:rPr lang="en-US" dirty="0">
                <a:latin typeface="+mj-lt"/>
              </a:rPr>
              <a:t>Tiger</a:t>
            </a:r>
          </a:p>
          <a:p>
            <a:pPr algn="ctr"/>
            <a:r>
              <a:rPr lang="en-US" sz="1800" dirty="0">
                <a:latin typeface="+mj-lt"/>
              </a:rPr>
              <a:t>1</a:t>
            </a:r>
            <a:r>
              <a:rPr lang="en-US" sz="1800" baseline="30000" dirty="0">
                <a:latin typeface="+mj-lt"/>
              </a:rPr>
              <a:t>st</a:t>
            </a:r>
            <a:r>
              <a:rPr lang="en-US" sz="1800" dirty="0">
                <a:latin typeface="+mj-lt"/>
              </a:rPr>
              <a:t> Grade</a:t>
            </a:r>
          </a:p>
        </p:txBody>
      </p:sp>
      <p:pic>
        <p:nvPicPr>
          <p:cNvPr id="8" name="Picture 7">
            <a:extLst>
              <a:ext uri="{FF2B5EF4-FFF2-40B4-BE49-F238E27FC236}">
                <a16:creationId xmlns:a16="http://schemas.microsoft.com/office/drawing/2014/main" id="{D5A844FF-6260-4547-B644-2651C60E4C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978" y="1679527"/>
            <a:ext cx="2056367" cy="884238"/>
          </a:xfrm>
          <a:prstGeom prst="rect">
            <a:avLst/>
          </a:prstGeom>
        </p:spPr>
      </p:pic>
      <p:sp>
        <p:nvSpPr>
          <p:cNvPr id="9" name="TextBox 8">
            <a:extLst>
              <a:ext uri="{FF2B5EF4-FFF2-40B4-BE49-F238E27FC236}">
                <a16:creationId xmlns:a16="http://schemas.microsoft.com/office/drawing/2014/main" id="{FD79A8F8-7802-B44C-9BC8-3A91C4BAD89D}"/>
              </a:ext>
            </a:extLst>
          </p:cNvPr>
          <p:cNvSpPr txBox="1"/>
          <p:nvPr/>
        </p:nvSpPr>
        <p:spPr>
          <a:xfrm>
            <a:off x="537474" y="2872888"/>
            <a:ext cx="2145330" cy="738664"/>
          </a:xfrm>
          <a:prstGeom prst="rect">
            <a:avLst/>
          </a:prstGeom>
          <a:noFill/>
        </p:spPr>
        <p:txBody>
          <a:bodyPr wrap="square" rtlCol="0">
            <a:spAutoFit/>
          </a:bodyPr>
          <a:lstStyle/>
          <a:p>
            <a:pPr algn="ctr"/>
            <a:r>
              <a:rPr lang="en-US" dirty="0">
                <a:latin typeface="+mj-lt"/>
              </a:rPr>
              <a:t>Lion</a:t>
            </a:r>
          </a:p>
          <a:p>
            <a:pPr algn="ctr"/>
            <a:r>
              <a:rPr lang="en-US" sz="1800" dirty="0">
                <a:latin typeface="+mj-lt"/>
              </a:rPr>
              <a:t>Kindergarten</a:t>
            </a:r>
          </a:p>
        </p:txBody>
      </p:sp>
      <p:pic>
        <p:nvPicPr>
          <p:cNvPr id="4" name="Picture 3">
            <a:extLst>
              <a:ext uri="{FF2B5EF4-FFF2-40B4-BE49-F238E27FC236}">
                <a16:creationId xmlns:a16="http://schemas.microsoft.com/office/drawing/2014/main" id="{16063943-FF76-D241-9ECF-63569D019C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3397" y="1491539"/>
            <a:ext cx="1375209" cy="1381349"/>
          </a:xfrm>
          <a:prstGeom prst="rect">
            <a:avLst/>
          </a:prstGeom>
        </p:spPr>
      </p:pic>
      <p:sp>
        <p:nvSpPr>
          <p:cNvPr id="23" name="TextBox 22">
            <a:extLst>
              <a:ext uri="{FF2B5EF4-FFF2-40B4-BE49-F238E27FC236}">
                <a16:creationId xmlns:a16="http://schemas.microsoft.com/office/drawing/2014/main" id="{A79038FC-0B2A-1A48-87FF-EDD28165CA78}"/>
              </a:ext>
            </a:extLst>
          </p:cNvPr>
          <p:cNvSpPr txBox="1"/>
          <p:nvPr/>
        </p:nvSpPr>
        <p:spPr>
          <a:xfrm>
            <a:off x="6338085" y="5193352"/>
            <a:ext cx="1950300" cy="738664"/>
          </a:xfrm>
          <a:prstGeom prst="rect">
            <a:avLst/>
          </a:prstGeom>
          <a:noFill/>
        </p:spPr>
        <p:txBody>
          <a:bodyPr wrap="square" rtlCol="0">
            <a:spAutoFit/>
          </a:bodyPr>
          <a:lstStyle/>
          <a:p>
            <a:pPr algn="ctr"/>
            <a:r>
              <a:rPr lang="en-US" dirty="0">
                <a:latin typeface="+mj-lt"/>
              </a:rPr>
              <a:t>Arrow of Light</a:t>
            </a:r>
          </a:p>
          <a:p>
            <a:pPr algn="ctr"/>
            <a:r>
              <a:rPr lang="en-US" sz="1800" dirty="0">
                <a:latin typeface="+mj-lt"/>
              </a:rPr>
              <a:t>5</a:t>
            </a:r>
            <a:r>
              <a:rPr lang="en-US" sz="1800" baseline="30000" dirty="0">
                <a:latin typeface="+mj-lt"/>
              </a:rPr>
              <a:t>th</a:t>
            </a:r>
            <a:r>
              <a:rPr lang="en-US" sz="1800" dirty="0">
                <a:latin typeface="+mj-lt"/>
              </a:rPr>
              <a:t> Grade</a:t>
            </a:r>
          </a:p>
        </p:txBody>
      </p:sp>
      <p:sp>
        <p:nvSpPr>
          <p:cNvPr id="24" name="TextBox 23">
            <a:extLst>
              <a:ext uri="{FF2B5EF4-FFF2-40B4-BE49-F238E27FC236}">
                <a16:creationId xmlns:a16="http://schemas.microsoft.com/office/drawing/2014/main" id="{51B55CB7-1164-C94A-8A10-B534342F7991}"/>
              </a:ext>
            </a:extLst>
          </p:cNvPr>
          <p:cNvSpPr txBox="1"/>
          <p:nvPr/>
        </p:nvSpPr>
        <p:spPr>
          <a:xfrm>
            <a:off x="3336046" y="5203291"/>
            <a:ext cx="2145330" cy="738664"/>
          </a:xfrm>
          <a:prstGeom prst="rect">
            <a:avLst/>
          </a:prstGeom>
          <a:noFill/>
        </p:spPr>
        <p:txBody>
          <a:bodyPr wrap="square" rtlCol="0">
            <a:spAutoFit/>
          </a:bodyPr>
          <a:lstStyle/>
          <a:p>
            <a:pPr algn="ctr"/>
            <a:r>
              <a:rPr lang="en-US" dirty="0" err="1">
                <a:latin typeface="+mj-lt"/>
              </a:rPr>
              <a:t>Webelos</a:t>
            </a:r>
            <a:endParaRPr lang="en-US" dirty="0">
              <a:latin typeface="+mj-lt"/>
            </a:endParaRPr>
          </a:p>
          <a:p>
            <a:pPr algn="ctr"/>
            <a:r>
              <a:rPr lang="en-US" sz="1800" dirty="0">
                <a:latin typeface="+mj-lt"/>
              </a:rPr>
              <a:t>4</a:t>
            </a:r>
            <a:r>
              <a:rPr lang="en-US" sz="1800" baseline="30000" dirty="0">
                <a:latin typeface="+mj-lt"/>
              </a:rPr>
              <a:t>th</a:t>
            </a:r>
            <a:r>
              <a:rPr lang="en-US" sz="1800" dirty="0">
                <a:latin typeface="+mj-lt"/>
              </a:rPr>
              <a:t> Grade</a:t>
            </a:r>
          </a:p>
        </p:txBody>
      </p:sp>
      <p:sp>
        <p:nvSpPr>
          <p:cNvPr id="25" name="TextBox 24">
            <a:extLst>
              <a:ext uri="{FF2B5EF4-FFF2-40B4-BE49-F238E27FC236}">
                <a16:creationId xmlns:a16="http://schemas.microsoft.com/office/drawing/2014/main" id="{5B26A04F-0342-CF48-A6F8-F29825D1F9AD}"/>
              </a:ext>
            </a:extLst>
          </p:cNvPr>
          <p:cNvSpPr txBox="1"/>
          <p:nvPr/>
        </p:nvSpPr>
        <p:spPr>
          <a:xfrm>
            <a:off x="519496" y="5220995"/>
            <a:ext cx="2145330" cy="738664"/>
          </a:xfrm>
          <a:prstGeom prst="rect">
            <a:avLst/>
          </a:prstGeom>
          <a:noFill/>
        </p:spPr>
        <p:txBody>
          <a:bodyPr wrap="square" rtlCol="0">
            <a:spAutoFit/>
          </a:bodyPr>
          <a:lstStyle/>
          <a:p>
            <a:pPr algn="ctr"/>
            <a:r>
              <a:rPr lang="en-US" dirty="0">
                <a:latin typeface="+mj-lt"/>
              </a:rPr>
              <a:t>Bear</a:t>
            </a:r>
          </a:p>
          <a:p>
            <a:pPr algn="ctr"/>
            <a:r>
              <a:rPr lang="en-US" sz="1800" dirty="0">
                <a:latin typeface="+mj-lt"/>
              </a:rPr>
              <a:t>3</a:t>
            </a:r>
            <a:r>
              <a:rPr lang="en-US" sz="1800" baseline="30000" dirty="0">
                <a:latin typeface="+mj-lt"/>
              </a:rPr>
              <a:t>rd</a:t>
            </a:r>
            <a:r>
              <a:rPr lang="en-US" sz="1800" dirty="0">
                <a:latin typeface="+mj-lt"/>
              </a:rPr>
              <a:t> Grade</a:t>
            </a:r>
          </a:p>
        </p:txBody>
      </p:sp>
      <p:sp>
        <p:nvSpPr>
          <p:cNvPr id="26" name="TextBox 25">
            <a:extLst>
              <a:ext uri="{FF2B5EF4-FFF2-40B4-BE49-F238E27FC236}">
                <a16:creationId xmlns:a16="http://schemas.microsoft.com/office/drawing/2014/main" id="{E2BDE300-F172-0748-91C7-3D045A744879}"/>
              </a:ext>
            </a:extLst>
          </p:cNvPr>
          <p:cNvSpPr txBox="1"/>
          <p:nvPr/>
        </p:nvSpPr>
        <p:spPr>
          <a:xfrm>
            <a:off x="6708027" y="3018526"/>
            <a:ext cx="2145330" cy="738664"/>
          </a:xfrm>
          <a:prstGeom prst="rect">
            <a:avLst/>
          </a:prstGeom>
          <a:noFill/>
        </p:spPr>
        <p:txBody>
          <a:bodyPr wrap="square" rtlCol="0">
            <a:spAutoFit/>
          </a:bodyPr>
          <a:lstStyle/>
          <a:p>
            <a:pPr algn="ctr"/>
            <a:r>
              <a:rPr lang="en-US" dirty="0">
                <a:latin typeface="+mj-lt"/>
              </a:rPr>
              <a:t>Wolf</a:t>
            </a:r>
          </a:p>
          <a:p>
            <a:pPr algn="ctr"/>
            <a:r>
              <a:rPr lang="en-US" sz="1800" dirty="0">
                <a:latin typeface="+mj-lt"/>
              </a:rPr>
              <a:t>2</a:t>
            </a:r>
            <a:r>
              <a:rPr lang="en-US" sz="1800" baseline="30000" dirty="0">
                <a:latin typeface="+mj-lt"/>
              </a:rPr>
              <a:t>nd</a:t>
            </a:r>
            <a:r>
              <a:rPr lang="en-US" sz="1800" dirty="0">
                <a:latin typeface="+mj-lt"/>
              </a:rPr>
              <a:t> Grade</a:t>
            </a:r>
          </a:p>
        </p:txBody>
      </p:sp>
      <p:sp>
        <p:nvSpPr>
          <p:cNvPr id="27" name="TextBox 26">
            <a:extLst>
              <a:ext uri="{FF2B5EF4-FFF2-40B4-BE49-F238E27FC236}">
                <a16:creationId xmlns:a16="http://schemas.microsoft.com/office/drawing/2014/main" id="{695C7A94-D0D8-0449-A64D-3AC1D3BED0AE}"/>
              </a:ext>
            </a:extLst>
          </p:cNvPr>
          <p:cNvSpPr txBox="1"/>
          <p:nvPr/>
        </p:nvSpPr>
        <p:spPr>
          <a:xfrm>
            <a:off x="2993093" y="2913713"/>
            <a:ext cx="2145330" cy="738664"/>
          </a:xfrm>
          <a:prstGeom prst="rect">
            <a:avLst/>
          </a:prstGeom>
          <a:noFill/>
        </p:spPr>
        <p:txBody>
          <a:bodyPr wrap="square" rtlCol="0">
            <a:spAutoFit/>
          </a:bodyPr>
          <a:lstStyle/>
          <a:p>
            <a:pPr algn="ctr"/>
            <a:r>
              <a:rPr lang="en-US" dirty="0">
                <a:latin typeface="+mj-lt"/>
              </a:rPr>
              <a:t>Bobcat</a:t>
            </a:r>
          </a:p>
          <a:p>
            <a:pPr algn="ctr"/>
            <a:r>
              <a:rPr lang="en-US" sz="1800" dirty="0">
                <a:latin typeface="+mj-lt"/>
              </a:rPr>
              <a:t>1st Advancement</a:t>
            </a:r>
          </a:p>
        </p:txBody>
      </p:sp>
      <p:pic>
        <p:nvPicPr>
          <p:cNvPr id="11" name="Picture 10">
            <a:extLst>
              <a:ext uri="{FF2B5EF4-FFF2-40B4-BE49-F238E27FC236}">
                <a16:creationId xmlns:a16="http://schemas.microsoft.com/office/drawing/2014/main" id="{2AB5E635-B809-6149-B2DD-61CB639331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9624" y="1433119"/>
            <a:ext cx="1569926" cy="1569926"/>
          </a:xfrm>
          <a:prstGeom prst="rect">
            <a:avLst/>
          </a:prstGeom>
        </p:spPr>
      </p:pic>
      <p:pic>
        <p:nvPicPr>
          <p:cNvPr id="13" name="Picture 12">
            <a:extLst>
              <a:ext uri="{FF2B5EF4-FFF2-40B4-BE49-F238E27FC236}">
                <a16:creationId xmlns:a16="http://schemas.microsoft.com/office/drawing/2014/main" id="{C61273C2-0374-4A40-9E50-F8FACE6D2B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78049" y="1448824"/>
            <a:ext cx="1605286" cy="1569927"/>
          </a:xfrm>
          <a:prstGeom prst="rect">
            <a:avLst/>
          </a:prstGeom>
        </p:spPr>
      </p:pic>
      <p:pic>
        <p:nvPicPr>
          <p:cNvPr id="15" name="Picture 14">
            <a:extLst>
              <a:ext uri="{FF2B5EF4-FFF2-40B4-BE49-F238E27FC236}">
                <a16:creationId xmlns:a16="http://schemas.microsoft.com/office/drawing/2014/main" id="{DCA1CFBB-6607-C64F-942A-3E328BC238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4513" y="3710071"/>
            <a:ext cx="1635007" cy="1635007"/>
          </a:xfrm>
          <a:prstGeom prst="rect">
            <a:avLst/>
          </a:prstGeom>
        </p:spPr>
      </p:pic>
      <p:pic>
        <p:nvPicPr>
          <p:cNvPr id="17" name="Picture 16">
            <a:extLst>
              <a:ext uri="{FF2B5EF4-FFF2-40B4-BE49-F238E27FC236}">
                <a16:creationId xmlns:a16="http://schemas.microsoft.com/office/drawing/2014/main" id="{86184719-DDCF-BE4E-8BA9-1ECBD52B66A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30455" y="3757190"/>
            <a:ext cx="1420389" cy="1587888"/>
          </a:xfrm>
          <a:prstGeom prst="rect">
            <a:avLst/>
          </a:prstGeom>
        </p:spPr>
      </p:pic>
      <p:pic>
        <p:nvPicPr>
          <p:cNvPr id="19" name="Picture 18">
            <a:extLst>
              <a:ext uri="{FF2B5EF4-FFF2-40B4-BE49-F238E27FC236}">
                <a16:creationId xmlns:a16="http://schemas.microsoft.com/office/drawing/2014/main" id="{44F63F75-589F-E54B-92B1-43C27AB9A5B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77282" y="4181525"/>
            <a:ext cx="2976075" cy="94217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4800" y="533400"/>
            <a:ext cx="8382000" cy="884238"/>
          </a:xfrm>
        </p:spPr>
        <p:txBody>
          <a:bodyPr/>
          <a:lstStyle/>
          <a:p>
            <a:pPr eaLnBrk="1" hangingPunct="1"/>
            <a:r>
              <a:rPr lang="en-US" altLang="en-US" dirty="0"/>
              <a:t>Monthly Adventures Advancement</a:t>
            </a:r>
          </a:p>
        </p:txBody>
      </p:sp>
      <p:pic>
        <p:nvPicPr>
          <p:cNvPr id="8" name="Picture 7">
            <a:extLst>
              <a:ext uri="{FF2B5EF4-FFF2-40B4-BE49-F238E27FC236}">
                <a16:creationId xmlns:a16="http://schemas.microsoft.com/office/drawing/2014/main" id="{AE11445E-FDB4-1840-9435-8BDF4D55FF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2957" y="1432878"/>
            <a:ext cx="2392362" cy="2392362"/>
          </a:xfrm>
          <a:prstGeom prst="rect">
            <a:avLst/>
          </a:prstGeom>
        </p:spPr>
      </p:pic>
      <p:pic>
        <p:nvPicPr>
          <p:cNvPr id="10" name="Picture 9">
            <a:extLst>
              <a:ext uri="{FF2B5EF4-FFF2-40B4-BE49-F238E27FC236}">
                <a16:creationId xmlns:a16="http://schemas.microsoft.com/office/drawing/2014/main" id="{85C4DAEA-4815-7D49-80A1-C6C977EDF8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8739" y="1432878"/>
            <a:ext cx="2440940" cy="2440940"/>
          </a:xfrm>
          <a:prstGeom prst="rect">
            <a:avLst/>
          </a:prstGeom>
        </p:spPr>
      </p:pic>
      <p:pic>
        <p:nvPicPr>
          <p:cNvPr id="12" name="Picture 11">
            <a:extLst>
              <a:ext uri="{FF2B5EF4-FFF2-40B4-BE49-F238E27FC236}">
                <a16:creationId xmlns:a16="http://schemas.microsoft.com/office/drawing/2014/main" id="{BB24805C-2358-BA45-AFDD-2DB54AB9A5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3091" y="1483315"/>
            <a:ext cx="2370909" cy="2370909"/>
          </a:xfrm>
          <a:prstGeom prst="rect">
            <a:avLst/>
          </a:prstGeom>
        </p:spPr>
      </p:pic>
      <p:pic>
        <p:nvPicPr>
          <p:cNvPr id="14" name="Picture 13">
            <a:extLst>
              <a:ext uri="{FF2B5EF4-FFF2-40B4-BE49-F238E27FC236}">
                <a16:creationId xmlns:a16="http://schemas.microsoft.com/office/drawing/2014/main" id="{FE237694-F9E3-F04E-9752-2D825E5066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7103" y="3874499"/>
            <a:ext cx="1885950" cy="1877568"/>
          </a:xfrm>
          <a:prstGeom prst="rect">
            <a:avLst/>
          </a:prstGeom>
        </p:spPr>
      </p:pic>
      <p:pic>
        <p:nvPicPr>
          <p:cNvPr id="18" name="Picture 17">
            <a:extLst>
              <a:ext uri="{FF2B5EF4-FFF2-40B4-BE49-F238E27FC236}">
                <a16:creationId xmlns:a16="http://schemas.microsoft.com/office/drawing/2014/main" id="{891634A9-7D27-5443-B3B1-DEA5E25436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607" y="1415461"/>
            <a:ext cx="2108001" cy="2462712"/>
          </a:xfrm>
          <a:prstGeom prst="rect">
            <a:avLst/>
          </a:prstGeom>
        </p:spPr>
      </p:pic>
    </p:spTree>
    <p:extLst>
      <p:ext uri="{BB962C8B-B14F-4D97-AF65-F5344CB8AC3E}">
        <p14:creationId xmlns:p14="http://schemas.microsoft.com/office/powerpoint/2010/main" val="26679334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11"/>
          <p:cNvSpPr>
            <a:spLocks noGrp="1" noChangeArrowheads="1"/>
          </p:cNvSpPr>
          <p:nvPr>
            <p:ph type="title"/>
          </p:nvPr>
        </p:nvSpPr>
        <p:spPr/>
        <p:txBody>
          <a:bodyPr/>
          <a:lstStyle/>
          <a:p>
            <a:pPr eaLnBrk="1" hangingPunct="1"/>
            <a:r>
              <a:rPr lang="en-US" altLang="en-US" dirty="0"/>
              <a:t>Cub Scout Membership</a:t>
            </a:r>
          </a:p>
        </p:txBody>
      </p:sp>
      <p:sp>
        <p:nvSpPr>
          <p:cNvPr id="12300" name="Rectangle 12"/>
          <p:cNvSpPr>
            <a:spLocks noGrp="1" noChangeArrowheads="1"/>
          </p:cNvSpPr>
          <p:nvPr>
            <p:ph idx="1"/>
          </p:nvPr>
        </p:nvSpPr>
        <p:spPr>
          <a:xfrm>
            <a:off x="0" y="1295400"/>
            <a:ext cx="8915400" cy="4267200"/>
          </a:xfrm>
        </p:spPr>
        <p:txBody>
          <a:bodyPr/>
          <a:lstStyle/>
          <a:p>
            <a:pPr eaLnBrk="1" hangingPunct="1"/>
            <a:r>
              <a:rPr lang="en-US" altLang="en-US" sz="2800" dirty="0"/>
              <a:t>Boys and Girls join Pack 232</a:t>
            </a:r>
          </a:p>
          <a:p>
            <a:pPr lvl="1" eaLnBrk="1" hangingPunct="1"/>
            <a:r>
              <a:rPr lang="en-US" altLang="en-US" sz="2000" dirty="0"/>
              <a:t>Pack 232 is chartered by the Selkirk Volunteer Fire Company #2</a:t>
            </a:r>
          </a:p>
          <a:p>
            <a:pPr lvl="1" eaLnBrk="1" hangingPunct="1"/>
            <a:r>
              <a:rPr lang="en-US" altLang="en-US" sz="2000" dirty="0"/>
              <a:t>Pack 232 is part of the Fort Orange District in the Twin Rivers Council</a:t>
            </a:r>
          </a:p>
          <a:p>
            <a:pPr lvl="1" eaLnBrk="1" hangingPunct="1"/>
            <a:r>
              <a:rPr lang="en-US" altLang="en-US" sz="2000" dirty="0"/>
              <a:t>Pack 232 was chartered in 1979 but can trace its history back over 85 years</a:t>
            </a:r>
          </a:p>
          <a:p>
            <a:pPr lvl="1" eaLnBrk="1" hangingPunct="1"/>
            <a:r>
              <a:rPr lang="en-US" altLang="en-US" sz="2000" dirty="0"/>
              <a:t>Pack 232 has 47 active scouts and 12 adult leaders (all are BSA trained)</a:t>
            </a:r>
          </a:p>
          <a:p>
            <a:pPr lvl="1" eaLnBrk="1" hangingPunct="1"/>
            <a:r>
              <a:rPr lang="en-US" altLang="en-US" sz="2000" dirty="0"/>
              <a:t>Pack 232 meets monthly on a Tuesday at the Glenmont Elementary School Cafeteria from 6:30-8pm</a:t>
            </a:r>
          </a:p>
          <a:p>
            <a:pPr lvl="1" eaLnBrk="1" hangingPunct="1"/>
            <a:r>
              <a:rPr lang="en-US" altLang="en-US" sz="2000" dirty="0"/>
              <a:t>Meeting activities include: Gathering Activity/Craft, Opening, Special Guest, Game, Awards, Refreshments, and Closing</a:t>
            </a:r>
          </a:p>
          <a:p>
            <a:pPr eaLnBrk="1" hangingPunct="1"/>
            <a:r>
              <a:rPr lang="en-US" altLang="en-US" sz="2800" dirty="0"/>
              <a:t>Members are assigned to a den (same gender and generally same grade).  </a:t>
            </a:r>
          </a:p>
          <a:p>
            <a:pPr lvl="1" eaLnBrk="1" hangingPunct="1"/>
            <a:r>
              <a:rPr lang="en-US" altLang="en-US" sz="2000" dirty="0"/>
              <a:t>Meets once or twice a month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11"/>
          <p:cNvSpPr>
            <a:spLocks noGrp="1" noChangeArrowheads="1"/>
          </p:cNvSpPr>
          <p:nvPr>
            <p:ph type="title"/>
          </p:nvPr>
        </p:nvSpPr>
        <p:spPr/>
        <p:txBody>
          <a:bodyPr/>
          <a:lstStyle/>
          <a:p>
            <a:pPr eaLnBrk="1" hangingPunct="1"/>
            <a:r>
              <a:rPr lang="en-US" altLang="en-US" dirty="0"/>
              <a:t>Annual Registration Fees</a:t>
            </a:r>
          </a:p>
        </p:txBody>
      </p:sp>
      <p:sp>
        <p:nvSpPr>
          <p:cNvPr id="15372" name="Rectangle 12"/>
          <p:cNvSpPr>
            <a:spLocks noGrp="1" noChangeArrowheads="1"/>
          </p:cNvSpPr>
          <p:nvPr>
            <p:ph idx="1"/>
          </p:nvPr>
        </p:nvSpPr>
        <p:spPr/>
        <p:txBody>
          <a:bodyPr/>
          <a:lstStyle/>
          <a:p>
            <a:pPr eaLnBrk="1" hangingPunct="1"/>
            <a:r>
              <a:rPr lang="en-US" altLang="en-US" sz="2800" dirty="0"/>
              <a:t>1</a:t>
            </a:r>
            <a:r>
              <a:rPr lang="en-US" altLang="en-US" sz="2800" baseline="30000" dirty="0"/>
              <a:t>st</a:t>
            </a:r>
            <a:r>
              <a:rPr lang="en-US" altLang="en-US" sz="2800" dirty="0"/>
              <a:t> Year Cub Scout Registration Fee - $50</a:t>
            </a:r>
          </a:p>
          <a:p>
            <a:pPr lvl="1" eaLnBrk="1" hangingPunct="1"/>
            <a:r>
              <a:rPr lang="en-US" altLang="en-US" sz="2400" dirty="0"/>
              <a:t>Pack is Subsidizing Actual Cost</a:t>
            </a:r>
          </a:p>
          <a:p>
            <a:pPr eaLnBrk="1" hangingPunct="1"/>
            <a:r>
              <a:rPr lang="en-US" altLang="en-US" sz="2800" dirty="0"/>
              <a:t>Returning Cub Scout Registration Fee - $95</a:t>
            </a:r>
          </a:p>
          <a:p>
            <a:pPr eaLnBrk="1" hangingPunct="1"/>
            <a:r>
              <a:rPr lang="en-US" altLang="en-US" sz="2800" dirty="0"/>
              <a:t>Optional - Boy’s Life Magazine Subscription - $12</a:t>
            </a:r>
          </a:p>
          <a:p>
            <a:pPr eaLnBrk="1" hangingPunct="1"/>
            <a:r>
              <a:rPr lang="en-US" altLang="en-US" sz="2800" dirty="0"/>
              <a:t>There can be additional fees for outings</a:t>
            </a:r>
          </a:p>
          <a:p>
            <a:pPr eaLnBrk="1" hangingPunct="1"/>
            <a:r>
              <a:rPr lang="en-US" altLang="en-US" sz="2800" u="sng" dirty="0"/>
              <a:t>There is financial support for families in need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72">
                                            <p:txEl>
                                              <p:pRg st="0" end="0"/>
                                            </p:txEl>
                                          </p:spTgt>
                                        </p:tgtEl>
                                        <p:attrNameLst>
                                          <p:attrName>style.visibility</p:attrName>
                                        </p:attrNameLst>
                                      </p:cBhvr>
                                      <p:to>
                                        <p:strVal val="visible"/>
                                      </p:to>
                                    </p:set>
                                    <p:anim calcmode="lin" valueType="num">
                                      <p:cBhvr additive="base">
                                        <p:cTn id="7" dur="500" fill="hold"/>
                                        <p:tgtEl>
                                          <p:spTgt spid="153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7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5372">
                                            <p:txEl>
                                              <p:pRg st="1" end="1"/>
                                            </p:txEl>
                                          </p:spTgt>
                                        </p:tgtEl>
                                        <p:attrNameLst>
                                          <p:attrName>style.visibility</p:attrName>
                                        </p:attrNameLst>
                                      </p:cBhvr>
                                      <p:to>
                                        <p:strVal val="visible"/>
                                      </p:to>
                                    </p:set>
                                    <p:anim calcmode="lin" valueType="num">
                                      <p:cBhvr additive="base">
                                        <p:cTn id="11" dur="500" fill="hold"/>
                                        <p:tgtEl>
                                          <p:spTgt spid="1537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537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5372">
                                            <p:txEl>
                                              <p:pRg st="2" end="2"/>
                                            </p:txEl>
                                          </p:spTgt>
                                        </p:tgtEl>
                                        <p:attrNameLst>
                                          <p:attrName>style.visibility</p:attrName>
                                        </p:attrNameLst>
                                      </p:cBhvr>
                                      <p:to>
                                        <p:strVal val="visible"/>
                                      </p:to>
                                    </p:set>
                                    <p:anim calcmode="lin" valueType="num">
                                      <p:cBhvr additive="base">
                                        <p:cTn id="17" dur="500" fill="hold"/>
                                        <p:tgtEl>
                                          <p:spTgt spid="15372">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537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5372">
                                            <p:txEl>
                                              <p:pRg st="3" end="3"/>
                                            </p:txEl>
                                          </p:spTgt>
                                        </p:tgtEl>
                                        <p:attrNameLst>
                                          <p:attrName>style.visibility</p:attrName>
                                        </p:attrNameLst>
                                      </p:cBhvr>
                                      <p:to>
                                        <p:strVal val="visible"/>
                                      </p:to>
                                    </p:set>
                                    <p:anim calcmode="lin" valueType="num">
                                      <p:cBhvr additive="base">
                                        <p:cTn id="23" dur="500" fill="hold"/>
                                        <p:tgtEl>
                                          <p:spTgt spid="15372">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537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15372">
                                            <p:txEl>
                                              <p:pRg st="4" end="4"/>
                                            </p:txEl>
                                          </p:spTgt>
                                        </p:tgtEl>
                                        <p:attrNameLst>
                                          <p:attrName>style.visibility</p:attrName>
                                        </p:attrNameLst>
                                      </p:cBhvr>
                                      <p:to>
                                        <p:strVal val="visible"/>
                                      </p:to>
                                    </p:set>
                                    <p:anim calcmode="lin" valueType="num">
                                      <p:cBhvr additive="base">
                                        <p:cTn id="29" dur="500" fill="hold"/>
                                        <p:tgtEl>
                                          <p:spTgt spid="15372">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1537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15372">
                                            <p:txEl>
                                              <p:pRg st="5" end="5"/>
                                            </p:txEl>
                                          </p:spTgt>
                                        </p:tgtEl>
                                        <p:attrNameLst>
                                          <p:attrName>style.visibility</p:attrName>
                                        </p:attrNameLst>
                                      </p:cBhvr>
                                      <p:to>
                                        <p:strVal val="visible"/>
                                      </p:to>
                                    </p:set>
                                    <p:anim calcmode="lin" valueType="num">
                                      <p:cBhvr additive="base">
                                        <p:cTn id="35" dur="500" fill="hold"/>
                                        <p:tgtEl>
                                          <p:spTgt spid="15372">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1537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2"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533400"/>
            <a:ext cx="8915400" cy="884238"/>
          </a:xfrm>
        </p:spPr>
        <p:txBody>
          <a:bodyPr/>
          <a:lstStyle/>
          <a:p>
            <a:r>
              <a:rPr lang="en-US" dirty="0"/>
              <a:t>Fundraising Requirement - Popcorn!</a:t>
            </a:r>
          </a:p>
        </p:txBody>
      </p:sp>
      <p:sp>
        <p:nvSpPr>
          <p:cNvPr id="3" name="Content Placeholder 2"/>
          <p:cNvSpPr>
            <a:spLocks noGrp="1"/>
          </p:cNvSpPr>
          <p:nvPr>
            <p:ph idx="1"/>
          </p:nvPr>
        </p:nvSpPr>
        <p:spPr>
          <a:xfrm>
            <a:off x="76200" y="1295400"/>
            <a:ext cx="4648200" cy="4267200"/>
          </a:xfrm>
        </p:spPr>
        <p:txBody>
          <a:bodyPr/>
          <a:lstStyle/>
          <a:p>
            <a:pPr>
              <a:buClrTx/>
              <a:buFont typeface="Arial" panose="020B0604020202020204" pitchFamily="34" charset="0"/>
              <a:buChar char="•"/>
            </a:pPr>
            <a:r>
              <a:rPr lang="en-US" sz="2800" dirty="0"/>
              <a:t>1</a:t>
            </a:r>
            <a:r>
              <a:rPr lang="en-US" sz="2800" baseline="30000" dirty="0"/>
              <a:t>st</a:t>
            </a:r>
            <a:r>
              <a:rPr lang="en-US" sz="2800" dirty="0"/>
              <a:t> Year Cub Scouts do NOT have to sell popcorn</a:t>
            </a:r>
          </a:p>
          <a:p>
            <a:pPr>
              <a:buClrTx/>
              <a:buFont typeface="Arial" panose="020B0604020202020204" pitchFamily="34" charset="0"/>
              <a:buChar char="•"/>
            </a:pPr>
            <a:r>
              <a:rPr lang="en-US" sz="2800" dirty="0"/>
              <a:t>Returning Cub Scouts must sell:</a:t>
            </a:r>
          </a:p>
          <a:p>
            <a:pPr lvl="1">
              <a:buFont typeface="Arial" panose="020B0604020202020204" pitchFamily="34" charset="0"/>
              <a:buChar char="•"/>
            </a:pPr>
            <a:r>
              <a:rPr lang="en-US" sz="2400" dirty="0"/>
              <a:t>$250 per Scout or</a:t>
            </a:r>
          </a:p>
          <a:p>
            <a:pPr lvl="1">
              <a:buFont typeface="Arial" panose="020B0604020202020204" pitchFamily="34" charset="0"/>
              <a:buChar char="•"/>
            </a:pPr>
            <a:r>
              <a:rPr lang="en-US" sz="2400" dirty="0"/>
              <a:t>$350 per Scout family</a:t>
            </a:r>
          </a:p>
          <a:p>
            <a:pPr lvl="1">
              <a:buFont typeface="Arial" panose="020B0604020202020204" pitchFamily="34" charset="0"/>
              <a:buChar char="•"/>
            </a:pPr>
            <a:r>
              <a:rPr lang="en-US" sz="2400" dirty="0"/>
              <a:t>However, there is an option to buy out:</a:t>
            </a:r>
          </a:p>
          <a:p>
            <a:pPr lvl="2"/>
            <a:r>
              <a:rPr lang="en-US" sz="2000" dirty="0"/>
              <a:t>Single Cub Scout - $100</a:t>
            </a:r>
          </a:p>
          <a:p>
            <a:pPr lvl="2"/>
            <a:r>
              <a:rPr lang="en-US" sz="2000" dirty="0"/>
              <a:t>2 or more Cub Scouts in a family - $125 for the family</a:t>
            </a:r>
          </a:p>
        </p:txBody>
      </p:sp>
      <p:sp>
        <p:nvSpPr>
          <p:cNvPr id="5" name="Content Placeholder 2">
            <a:extLst>
              <a:ext uri="{FF2B5EF4-FFF2-40B4-BE49-F238E27FC236}">
                <a16:creationId xmlns:a16="http://schemas.microsoft.com/office/drawing/2014/main" id="{076380FA-480C-D744-8C02-30F3C909D851}"/>
              </a:ext>
            </a:extLst>
          </p:cNvPr>
          <p:cNvSpPr txBox="1">
            <a:spLocks/>
          </p:cNvSpPr>
          <p:nvPr/>
        </p:nvSpPr>
        <p:spPr bwMode="auto">
          <a:xfrm>
            <a:off x="4572000" y="1292087"/>
            <a:ext cx="46482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b="1"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t>Cub Scouts sell:</a:t>
            </a:r>
          </a:p>
          <a:p>
            <a:pPr lvl="1"/>
            <a:r>
              <a:rPr lang="en-US" sz="2400" dirty="0"/>
              <a:t>Online,</a:t>
            </a:r>
          </a:p>
          <a:p>
            <a:pPr lvl="1"/>
            <a:r>
              <a:rPr lang="en-US" sz="2400" dirty="0"/>
              <a:t>Door to door, and </a:t>
            </a:r>
          </a:p>
          <a:p>
            <a:pPr lvl="1"/>
            <a:r>
              <a:rPr lang="en-US" sz="2400" dirty="0"/>
              <a:t>Show and Sells</a:t>
            </a:r>
          </a:p>
          <a:p>
            <a:r>
              <a:rPr lang="en-US" sz="2400" dirty="0"/>
              <a:t>Cub Scout Prizes!!!!:</a:t>
            </a:r>
          </a:p>
          <a:p>
            <a:pPr lvl="1"/>
            <a:r>
              <a:rPr lang="en-US" sz="2000" b="1" dirty="0"/>
              <a:t>Pack</a:t>
            </a:r>
            <a:r>
              <a:rPr lang="en-US" sz="2000" dirty="0"/>
              <a:t> - Stewarts ice cream cone cert, trampoline outing, bowling outing and rock climbing outing</a:t>
            </a:r>
          </a:p>
          <a:p>
            <a:pPr lvl="1"/>
            <a:r>
              <a:rPr lang="en-US" sz="2000" b="1" dirty="0"/>
              <a:t>Council</a:t>
            </a:r>
            <a:r>
              <a:rPr lang="en-US" sz="2000" dirty="0"/>
              <a:t> – Great Escape Lodge day</a:t>
            </a:r>
          </a:p>
          <a:p>
            <a:pPr lvl="1"/>
            <a:r>
              <a:rPr lang="en-US" sz="2000" b="1" dirty="0"/>
              <a:t>BSA</a:t>
            </a:r>
            <a:r>
              <a:rPr lang="en-US" sz="2000" dirty="0"/>
              <a:t> – Amazon Gift Cards</a:t>
            </a:r>
          </a:p>
        </p:txBody>
      </p:sp>
    </p:spTree>
    <p:extLst>
      <p:ext uri="{BB962C8B-B14F-4D97-AF65-F5344CB8AC3E}">
        <p14:creationId xmlns:p14="http://schemas.microsoft.com/office/powerpoint/2010/main" val="2292172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23970-F9D7-984C-86A1-A5C8EC4B6FD8}"/>
              </a:ext>
            </a:extLst>
          </p:cNvPr>
          <p:cNvSpPr>
            <a:spLocks noGrp="1"/>
          </p:cNvSpPr>
          <p:nvPr>
            <p:ph type="title"/>
          </p:nvPr>
        </p:nvSpPr>
        <p:spPr>
          <a:xfrm>
            <a:off x="76200" y="588942"/>
            <a:ext cx="8001000" cy="884238"/>
          </a:xfrm>
        </p:spPr>
        <p:txBody>
          <a:bodyPr/>
          <a:lstStyle/>
          <a:p>
            <a:r>
              <a:rPr lang="en-US" altLang="en-US" dirty="0"/>
              <a:t>Cub Scout Uniform</a:t>
            </a:r>
            <a:endParaRPr lang="en-US" dirty="0"/>
          </a:p>
        </p:txBody>
      </p:sp>
      <p:sp>
        <p:nvSpPr>
          <p:cNvPr id="4" name="TextBox 3">
            <a:extLst>
              <a:ext uri="{FF2B5EF4-FFF2-40B4-BE49-F238E27FC236}">
                <a16:creationId xmlns:a16="http://schemas.microsoft.com/office/drawing/2014/main" id="{4F720F28-56B9-6646-87F3-7504AEE67B80}"/>
              </a:ext>
            </a:extLst>
          </p:cNvPr>
          <p:cNvSpPr txBox="1"/>
          <p:nvPr/>
        </p:nvSpPr>
        <p:spPr>
          <a:xfrm>
            <a:off x="304800" y="1676400"/>
            <a:ext cx="5638800" cy="830997"/>
          </a:xfrm>
          <a:prstGeom prst="rect">
            <a:avLst/>
          </a:prstGeom>
          <a:noFill/>
        </p:spPr>
        <p:txBody>
          <a:bodyPr wrap="square" rtlCol="0">
            <a:spAutoFit/>
          </a:bodyPr>
          <a:lstStyle/>
          <a:p>
            <a:r>
              <a:rPr lang="en-US" dirty="0"/>
              <a:t>Items may be purchased at 253 Washington Ave Ext in Albany or </a:t>
            </a:r>
            <a:r>
              <a:rPr lang="en-US" dirty="0" err="1"/>
              <a:t>scoutshop.org</a:t>
            </a:r>
            <a:endParaRPr lang="en-US" dirty="0"/>
          </a:p>
        </p:txBody>
      </p:sp>
      <p:pic>
        <p:nvPicPr>
          <p:cNvPr id="6" name="Picture 5">
            <a:extLst>
              <a:ext uri="{FF2B5EF4-FFF2-40B4-BE49-F238E27FC236}">
                <a16:creationId xmlns:a16="http://schemas.microsoft.com/office/drawing/2014/main" id="{72F6782E-D5E7-E74C-90C0-380B59D35C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4138" y="609600"/>
            <a:ext cx="2899862" cy="2583070"/>
          </a:xfrm>
          <a:prstGeom prst="rect">
            <a:avLst/>
          </a:prstGeom>
        </p:spPr>
      </p:pic>
      <p:graphicFrame>
        <p:nvGraphicFramePr>
          <p:cNvPr id="7" name="Table 6">
            <a:extLst>
              <a:ext uri="{FF2B5EF4-FFF2-40B4-BE49-F238E27FC236}">
                <a16:creationId xmlns:a16="http://schemas.microsoft.com/office/drawing/2014/main" id="{056C317B-7F87-2C45-9851-FADA720B23D8}"/>
              </a:ext>
            </a:extLst>
          </p:cNvPr>
          <p:cNvGraphicFramePr>
            <a:graphicFrameLocks noGrp="1"/>
          </p:cNvGraphicFramePr>
          <p:nvPr>
            <p:extLst>
              <p:ext uri="{D42A27DB-BD31-4B8C-83A1-F6EECF244321}">
                <p14:modId xmlns:p14="http://schemas.microsoft.com/office/powerpoint/2010/main" val="1951095350"/>
              </p:ext>
            </p:extLst>
          </p:nvPr>
        </p:nvGraphicFramePr>
        <p:xfrm>
          <a:off x="355600" y="2507397"/>
          <a:ext cx="4064000" cy="2841610"/>
        </p:xfrm>
        <a:graphic>
          <a:graphicData uri="http://schemas.openxmlformats.org/drawingml/2006/table">
            <a:tbl>
              <a:tblPr bandRow="1">
                <a:tableStyleId>{5C22544A-7EE6-4342-B048-85BDC9FD1C3A}</a:tableStyleId>
              </a:tblPr>
              <a:tblGrid>
                <a:gridCol w="2910463">
                  <a:extLst>
                    <a:ext uri="{9D8B030D-6E8A-4147-A177-3AD203B41FA5}">
                      <a16:colId xmlns:a16="http://schemas.microsoft.com/office/drawing/2014/main" val="3915538563"/>
                    </a:ext>
                  </a:extLst>
                </a:gridCol>
                <a:gridCol w="1153537">
                  <a:extLst>
                    <a:ext uri="{9D8B030D-6E8A-4147-A177-3AD203B41FA5}">
                      <a16:colId xmlns:a16="http://schemas.microsoft.com/office/drawing/2014/main" val="862336112"/>
                    </a:ext>
                  </a:extLst>
                </a:gridCol>
              </a:tblGrid>
              <a:tr h="299175">
                <a:tc>
                  <a:txBody>
                    <a:bodyPr/>
                    <a:lstStyle/>
                    <a:p>
                      <a:pPr algn="l" fontAlgn="ctr"/>
                      <a:r>
                        <a:rPr lang="en-US" sz="2000" u="none" strike="noStrike" dirty="0">
                          <a:effectLst/>
                        </a:rPr>
                        <a:t>Lion’s Book </a:t>
                      </a:r>
                      <a:endParaRPr lang="en-US" sz="2000" b="0" i="0" u="none" strike="noStrike" dirty="0">
                        <a:solidFill>
                          <a:srgbClr val="2F75B5"/>
                        </a:solidFill>
                        <a:effectLst/>
                        <a:latin typeface="Calibri" panose="020F0502020204030204" pitchFamily="34" charset="0"/>
                      </a:endParaRPr>
                    </a:p>
                  </a:txBody>
                  <a:tcPr marL="7620" marR="7620" marT="7620" marB="0" anchor="ctr"/>
                </a:tc>
                <a:tc>
                  <a:txBody>
                    <a:bodyPr/>
                    <a:lstStyle/>
                    <a:p>
                      <a:pPr algn="r" fontAlgn="ctr"/>
                      <a:r>
                        <a:rPr lang="en-US" sz="2000" u="none" strike="noStrike" dirty="0">
                          <a:effectLst/>
                        </a:rPr>
                        <a:t>9.99</a:t>
                      </a:r>
                      <a:endParaRPr lang="en-US" sz="2000" b="0" i="0" u="none" strike="noStrike" dirty="0">
                        <a:solidFill>
                          <a:srgbClr val="2F75B5"/>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529631135"/>
                  </a:ext>
                </a:extLst>
              </a:tr>
              <a:tr h="299175">
                <a:tc>
                  <a:txBody>
                    <a:bodyPr/>
                    <a:lstStyle/>
                    <a:p>
                      <a:pPr algn="l" fontAlgn="ctr"/>
                      <a:r>
                        <a:rPr lang="en-US" sz="2000" u="none" strike="noStrike" dirty="0">
                          <a:effectLst/>
                        </a:rPr>
                        <a:t>Lion’s T-Shirt</a:t>
                      </a:r>
                      <a:endParaRPr lang="en-US" sz="2000" b="0" i="0" u="none" strike="noStrike" dirty="0">
                        <a:solidFill>
                          <a:srgbClr val="2F75B5"/>
                        </a:solidFill>
                        <a:effectLst/>
                        <a:latin typeface="Calibri" panose="020F0502020204030204" pitchFamily="34" charset="0"/>
                      </a:endParaRPr>
                    </a:p>
                  </a:txBody>
                  <a:tcPr marL="7620" marR="7620" marT="7620" marB="0" anchor="ctr"/>
                </a:tc>
                <a:tc>
                  <a:txBody>
                    <a:bodyPr/>
                    <a:lstStyle/>
                    <a:p>
                      <a:pPr algn="r" fontAlgn="ctr"/>
                      <a:r>
                        <a:rPr lang="en-US" sz="2000" u="none" strike="noStrike" dirty="0">
                          <a:effectLst/>
                        </a:rPr>
                        <a:t>9.99</a:t>
                      </a:r>
                      <a:endParaRPr lang="en-US" sz="2000" b="0" i="0" u="none" strike="noStrike" dirty="0">
                        <a:solidFill>
                          <a:srgbClr val="2F75B5"/>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670612968"/>
                  </a:ext>
                </a:extLst>
              </a:tr>
              <a:tr h="299175">
                <a:tc>
                  <a:txBody>
                    <a:bodyPr/>
                    <a:lstStyle/>
                    <a:p>
                      <a:pPr algn="l" fontAlgn="b"/>
                      <a:r>
                        <a:rPr lang="en-US" sz="2000" u="none" strike="noStrike" dirty="0">
                          <a:effectLst/>
                        </a:rPr>
                        <a:t>Short-Sleeve Shirt (plain)</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24.99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66374293"/>
                  </a:ext>
                </a:extLst>
              </a:tr>
              <a:tr h="327335">
                <a:tc>
                  <a:txBody>
                    <a:bodyPr/>
                    <a:lstStyle/>
                    <a:p>
                      <a:pPr algn="l" fontAlgn="b"/>
                      <a:r>
                        <a:rPr lang="en-US" sz="2000" u="none" strike="noStrike" dirty="0">
                          <a:effectLst/>
                        </a:rPr>
                        <a:t>Short-Sleeve Shirt (loaded*)</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41.96</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35343025"/>
                  </a:ext>
                </a:extLst>
              </a:tr>
              <a:tr h="327335">
                <a:tc>
                  <a:txBody>
                    <a:bodyPr/>
                    <a:lstStyle/>
                    <a:p>
                      <a:pPr algn="l" fontAlgn="b"/>
                      <a:r>
                        <a:rPr lang="en-US" sz="2000" u="none" strike="noStrike" dirty="0">
                          <a:effectLst/>
                        </a:rPr>
                        <a:t>World Crest Emblem</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2.29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741071419"/>
                  </a:ext>
                </a:extLst>
              </a:tr>
              <a:tr h="299175">
                <a:tc>
                  <a:txBody>
                    <a:bodyPr/>
                    <a:lstStyle/>
                    <a:p>
                      <a:pPr algn="l" fontAlgn="b"/>
                      <a:r>
                        <a:rPr lang="en-US" sz="2000" u="none" strike="noStrike" dirty="0">
                          <a:effectLst/>
                        </a:rPr>
                        <a:t>World Crest Emblem Ring</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1.99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954142368"/>
                  </a:ext>
                </a:extLst>
              </a:tr>
              <a:tr h="299175">
                <a:tc>
                  <a:txBody>
                    <a:bodyPr/>
                    <a:lstStyle/>
                    <a:p>
                      <a:pPr algn="l" fontAlgn="b"/>
                      <a:r>
                        <a:rPr lang="en-US" sz="2000" u="none" strike="noStrike" dirty="0">
                          <a:effectLst/>
                        </a:rPr>
                        <a:t>Neckerchief</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9.99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06615397"/>
                  </a:ext>
                </a:extLst>
              </a:tr>
              <a:tr h="299175">
                <a:tc>
                  <a:txBody>
                    <a:bodyPr/>
                    <a:lstStyle/>
                    <a:p>
                      <a:pPr algn="l" fontAlgn="b"/>
                      <a:r>
                        <a:rPr lang="en-US" sz="2000" u="none" strike="noStrike" dirty="0">
                          <a:effectLst/>
                        </a:rPr>
                        <a:t>Slide</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5.99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776831287"/>
                  </a:ext>
                </a:extLst>
              </a:tr>
              <a:tr h="247019">
                <a:tc>
                  <a:txBody>
                    <a:bodyPr/>
                    <a:lstStyle/>
                    <a:p>
                      <a:pPr algn="l" fontAlgn="b"/>
                      <a:r>
                        <a:rPr lang="en-US" sz="2000" u="none" strike="noStrike" dirty="0">
                          <a:effectLst/>
                        </a:rPr>
                        <a:t>Cap</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14.99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99881627"/>
                  </a:ext>
                </a:extLst>
              </a:tr>
            </a:tbl>
          </a:graphicData>
        </a:graphic>
      </p:graphicFrame>
      <p:graphicFrame>
        <p:nvGraphicFramePr>
          <p:cNvPr id="8" name="Table 7">
            <a:extLst>
              <a:ext uri="{FF2B5EF4-FFF2-40B4-BE49-F238E27FC236}">
                <a16:creationId xmlns:a16="http://schemas.microsoft.com/office/drawing/2014/main" id="{D0FA9978-AF7B-DA43-B0D8-D4CB15A99B41}"/>
              </a:ext>
            </a:extLst>
          </p:cNvPr>
          <p:cNvGraphicFramePr>
            <a:graphicFrameLocks noGrp="1"/>
          </p:cNvGraphicFramePr>
          <p:nvPr>
            <p:extLst>
              <p:ext uri="{D42A27DB-BD31-4B8C-83A1-F6EECF244321}">
                <p14:modId xmlns:p14="http://schemas.microsoft.com/office/powerpoint/2010/main" val="2827860887"/>
              </p:ext>
            </p:extLst>
          </p:nvPr>
        </p:nvGraphicFramePr>
        <p:xfrm>
          <a:off x="4800600" y="3167388"/>
          <a:ext cx="4064000" cy="1315960"/>
        </p:xfrm>
        <a:graphic>
          <a:graphicData uri="http://schemas.openxmlformats.org/drawingml/2006/table">
            <a:tbl>
              <a:tblPr bandRow="1">
                <a:tableStyleId>{5C22544A-7EE6-4342-B048-85BDC9FD1C3A}</a:tableStyleId>
              </a:tblPr>
              <a:tblGrid>
                <a:gridCol w="2910463">
                  <a:extLst>
                    <a:ext uri="{9D8B030D-6E8A-4147-A177-3AD203B41FA5}">
                      <a16:colId xmlns:a16="http://schemas.microsoft.com/office/drawing/2014/main" val="3915538563"/>
                    </a:ext>
                  </a:extLst>
                </a:gridCol>
                <a:gridCol w="1153537">
                  <a:extLst>
                    <a:ext uri="{9D8B030D-6E8A-4147-A177-3AD203B41FA5}">
                      <a16:colId xmlns:a16="http://schemas.microsoft.com/office/drawing/2014/main" val="862336112"/>
                    </a:ext>
                  </a:extLst>
                </a:gridCol>
              </a:tblGrid>
              <a:tr h="328990">
                <a:tc>
                  <a:txBody>
                    <a:bodyPr/>
                    <a:lstStyle/>
                    <a:p>
                      <a:pPr algn="l" fontAlgn="b"/>
                      <a:r>
                        <a:rPr lang="en-US" sz="2000" u="none" strike="noStrike" dirty="0">
                          <a:effectLst/>
                        </a:rPr>
                        <a:t>Web Belt</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9.99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847119865"/>
                  </a:ext>
                </a:extLst>
              </a:tr>
              <a:tr h="328990">
                <a:tc>
                  <a:txBody>
                    <a:bodyPr/>
                    <a:lstStyle/>
                    <a:p>
                      <a:pPr algn="l" fontAlgn="b"/>
                      <a:r>
                        <a:rPr lang="en-US" sz="2000" u="none" strike="noStrike" dirty="0">
                          <a:effectLst/>
                        </a:rPr>
                        <a:t>Unit Numerals (232)</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4.47</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152858765"/>
                  </a:ext>
                </a:extLst>
              </a:tr>
              <a:tr h="328990">
                <a:tc>
                  <a:txBody>
                    <a:bodyPr/>
                    <a:lstStyle/>
                    <a:p>
                      <a:pPr algn="l" fontAlgn="b"/>
                      <a:r>
                        <a:rPr lang="en-US" sz="2000" u="none" strike="noStrike" dirty="0">
                          <a:effectLst/>
                        </a:rPr>
                        <a:t>Scout Spiral Handbook</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16.99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750828208"/>
                  </a:ext>
                </a:extLst>
              </a:tr>
              <a:tr h="328990">
                <a:tc>
                  <a:txBody>
                    <a:bodyPr/>
                    <a:lstStyle/>
                    <a:p>
                      <a:pPr algn="l" fontAlgn="b"/>
                      <a:r>
                        <a:rPr lang="en-US" sz="2000" u="none" strike="noStrike" dirty="0">
                          <a:effectLst/>
                        </a:rPr>
                        <a:t>Council Strip Patch</a:t>
                      </a:r>
                      <a:endParaRPr lang="en-US" sz="2000" b="0" i="0" u="none" strike="noStrike" dirty="0">
                        <a:solidFill>
                          <a:srgbClr val="2F75B5"/>
                        </a:solidFill>
                        <a:effectLst/>
                        <a:latin typeface="Calibri" panose="020F0502020204030204" pitchFamily="34" charset="0"/>
                      </a:endParaRPr>
                    </a:p>
                  </a:txBody>
                  <a:tcPr marL="7620" marR="7620" marT="7620" marB="0" anchor="b"/>
                </a:tc>
                <a:tc>
                  <a:txBody>
                    <a:bodyPr/>
                    <a:lstStyle/>
                    <a:p>
                      <a:pPr algn="r" fontAlgn="b"/>
                      <a:r>
                        <a:rPr lang="en-US" sz="2000" u="none" strike="noStrike" dirty="0">
                          <a:effectLst/>
                        </a:rPr>
                        <a:t>3.99</a:t>
                      </a:r>
                      <a:endParaRPr lang="en-US" sz="2000" b="0" i="0" u="none" strike="noStrike" dirty="0">
                        <a:solidFill>
                          <a:srgbClr val="2F75B5"/>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27458770"/>
                  </a:ext>
                </a:extLst>
              </a:tr>
            </a:tbl>
          </a:graphicData>
        </a:graphic>
      </p:graphicFrame>
      <p:sp>
        <p:nvSpPr>
          <p:cNvPr id="9" name="TextBox 8">
            <a:extLst>
              <a:ext uri="{FF2B5EF4-FFF2-40B4-BE49-F238E27FC236}">
                <a16:creationId xmlns:a16="http://schemas.microsoft.com/office/drawing/2014/main" id="{86C68A6B-7F6D-564F-A348-59ABB8BA6F82}"/>
              </a:ext>
            </a:extLst>
          </p:cNvPr>
          <p:cNvSpPr txBox="1"/>
          <p:nvPr/>
        </p:nvSpPr>
        <p:spPr>
          <a:xfrm>
            <a:off x="4902200" y="4483348"/>
            <a:ext cx="3962400" cy="830997"/>
          </a:xfrm>
          <a:prstGeom prst="rect">
            <a:avLst/>
          </a:prstGeom>
          <a:noFill/>
        </p:spPr>
        <p:txBody>
          <a:bodyPr wrap="square" rtlCol="0">
            <a:spAutoFit/>
          </a:bodyPr>
          <a:lstStyle/>
          <a:p>
            <a:r>
              <a:rPr lang="en-US" b="1" dirty="0"/>
              <a:t>We pass down uniform parts each Fall</a:t>
            </a:r>
          </a:p>
        </p:txBody>
      </p:sp>
    </p:spTree>
    <p:extLst>
      <p:ext uri="{BB962C8B-B14F-4D97-AF65-F5344CB8AC3E}">
        <p14:creationId xmlns:p14="http://schemas.microsoft.com/office/powerpoint/2010/main" val="17956594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13"/>
          <p:cNvSpPr>
            <a:spLocks noGrp="1" noChangeArrowheads="1"/>
          </p:cNvSpPr>
          <p:nvPr>
            <p:ph type="title"/>
          </p:nvPr>
        </p:nvSpPr>
        <p:spPr/>
        <p:txBody>
          <a:bodyPr/>
          <a:lstStyle/>
          <a:p>
            <a:pPr eaLnBrk="1" hangingPunct="1"/>
            <a:r>
              <a:rPr lang="en-US" altLang="en-US" dirty="0"/>
              <a:t>Where to Get More Info</a:t>
            </a:r>
          </a:p>
        </p:txBody>
      </p:sp>
      <p:sp>
        <p:nvSpPr>
          <p:cNvPr id="21518" name="Rectangle 14"/>
          <p:cNvSpPr>
            <a:spLocks noGrp="1" noChangeArrowheads="1"/>
          </p:cNvSpPr>
          <p:nvPr>
            <p:ph idx="1"/>
          </p:nvPr>
        </p:nvSpPr>
        <p:spPr>
          <a:xfrm>
            <a:off x="457200" y="1600200"/>
            <a:ext cx="7086600" cy="4267200"/>
          </a:xfrm>
        </p:spPr>
        <p:txBody>
          <a:bodyPr>
            <a:normAutofit lnSpcReduction="10000"/>
          </a:bodyPr>
          <a:lstStyle/>
          <a:p>
            <a:pPr eaLnBrk="1" hangingPunct="1">
              <a:lnSpc>
                <a:spcPct val="90000"/>
              </a:lnSpc>
              <a:defRPr/>
            </a:pPr>
            <a:r>
              <a:rPr lang="en-US" dirty="0"/>
              <a:t>The Pack website </a:t>
            </a:r>
            <a:r>
              <a:rPr lang="en-US" u="sng" dirty="0">
                <a:hlinkClick r:id="rId3"/>
              </a:rPr>
              <a:t>www.pack232.com</a:t>
            </a:r>
            <a:r>
              <a:rPr lang="en-US" dirty="0"/>
              <a:t> provides information such as: </a:t>
            </a:r>
            <a:endParaRPr lang="en-US" u="sng" dirty="0"/>
          </a:p>
          <a:p>
            <a:pPr lvl="1" eaLnBrk="1" hangingPunct="1">
              <a:lnSpc>
                <a:spcPct val="90000"/>
              </a:lnSpc>
              <a:buFont typeface="Arial" charset="0"/>
              <a:buChar char="•"/>
              <a:defRPr/>
            </a:pPr>
            <a:r>
              <a:rPr lang="en-US" dirty="0"/>
              <a:t>Upcoming Events</a:t>
            </a:r>
          </a:p>
          <a:p>
            <a:pPr lvl="1" eaLnBrk="1" hangingPunct="1">
              <a:lnSpc>
                <a:spcPct val="90000"/>
              </a:lnSpc>
              <a:buFont typeface="Arial" charset="0"/>
              <a:buChar char="•"/>
              <a:defRPr/>
            </a:pPr>
            <a:r>
              <a:rPr lang="en-US" dirty="0"/>
              <a:t>Pack and Den contacts</a:t>
            </a:r>
          </a:p>
          <a:p>
            <a:pPr lvl="1" eaLnBrk="1" hangingPunct="1">
              <a:lnSpc>
                <a:spcPct val="90000"/>
              </a:lnSpc>
              <a:buFont typeface="Arial" charset="0"/>
              <a:buChar char="•"/>
              <a:defRPr/>
            </a:pPr>
            <a:r>
              <a:rPr lang="en-US" dirty="0"/>
              <a:t>Link to Twin Rivers Council (</a:t>
            </a:r>
            <a:r>
              <a:rPr lang="en-US" dirty="0" err="1">
                <a:solidFill>
                  <a:srgbClr val="0070C0"/>
                </a:solidFill>
              </a:rPr>
              <a:t>trcscouting.org</a:t>
            </a:r>
            <a:r>
              <a:rPr lang="en-US" dirty="0"/>
              <a:t>)</a:t>
            </a:r>
          </a:p>
          <a:p>
            <a:pPr eaLnBrk="1" hangingPunct="1">
              <a:lnSpc>
                <a:spcPct val="90000"/>
              </a:lnSpc>
              <a:defRPr/>
            </a:pPr>
            <a:r>
              <a:rPr lang="en-US" dirty="0"/>
              <a:t>Weekly (Sunday AM) Email Blast</a:t>
            </a:r>
          </a:p>
          <a:p>
            <a:pPr eaLnBrk="1" hangingPunct="1">
              <a:lnSpc>
                <a:spcPct val="90000"/>
              </a:lnSpc>
              <a:defRPr/>
            </a:pPr>
            <a:r>
              <a:rPr lang="en-US" dirty="0"/>
              <a:t>We capture all of our events on our </a:t>
            </a:r>
            <a:r>
              <a:rPr lang="en-US" u="sng" dirty="0"/>
              <a:t>Closed Group</a:t>
            </a:r>
            <a:r>
              <a:rPr lang="en-US" dirty="0"/>
              <a:t> Facebook page: </a:t>
            </a:r>
            <a:r>
              <a:rPr lang="en-US" dirty="0">
                <a:solidFill>
                  <a:srgbClr val="0070C0"/>
                </a:solidFill>
              </a:rPr>
              <a:t>Cub Scout Pack 232 of Glenmont, NY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11"/>
          <p:cNvSpPr>
            <a:spLocks noGrp="1" noChangeArrowheads="1"/>
          </p:cNvSpPr>
          <p:nvPr>
            <p:ph type="title"/>
          </p:nvPr>
        </p:nvSpPr>
        <p:spPr/>
        <p:txBody>
          <a:bodyPr/>
          <a:lstStyle/>
          <a:p>
            <a:pPr eaLnBrk="1" hangingPunct="1"/>
            <a:r>
              <a:rPr lang="en-US" altLang="en-US" dirty="0"/>
              <a:t>BSA  Youth Application</a:t>
            </a:r>
          </a:p>
        </p:txBody>
      </p:sp>
      <p:sp>
        <p:nvSpPr>
          <p:cNvPr id="26636" name="Rectangle 12"/>
          <p:cNvSpPr>
            <a:spLocks noGrp="1" noChangeArrowheads="1"/>
          </p:cNvSpPr>
          <p:nvPr>
            <p:ph idx="1"/>
          </p:nvPr>
        </p:nvSpPr>
        <p:spPr/>
        <p:txBody>
          <a:bodyPr/>
          <a:lstStyle/>
          <a:p>
            <a:pPr eaLnBrk="1" hangingPunct="1"/>
            <a:r>
              <a:rPr lang="en-US" altLang="en-US" dirty="0"/>
              <a:t>Please open your child’s Cub Scout youth application and begin completing it</a:t>
            </a:r>
          </a:p>
          <a:p>
            <a:pPr eaLnBrk="1" hangingPunct="1"/>
            <a:r>
              <a:rPr lang="en-US" altLang="en-US" dirty="0"/>
              <a:t>Cub Scout fees to collect tonight include:</a:t>
            </a:r>
          </a:p>
          <a:p>
            <a:pPr lvl="1" eaLnBrk="1" hangingPunct="1"/>
            <a:r>
              <a:rPr lang="en-US" altLang="en-US" dirty="0"/>
              <a:t>Registration Fee</a:t>
            </a:r>
          </a:p>
          <a:p>
            <a:pPr lvl="1" eaLnBrk="1" hangingPunct="1"/>
            <a:r>
              <a:rPr lang="en-US" altLang="en-US" dirty="0"/>
              <a:t>Boy’s Life Magazine (optional)</a:t>
            </a:r>
          </a:p>
          <a:p>
            <a:pPr lvl="1" eaLnBrk="1" hangingPunct="1"/>
            <a:r>
              <a:rPr lang="en-US" altLang="en-US" dirty="0"/>
              <a:t>Write checks to “Pack 232”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1"/>
          <p:cNvSpPr>
            <a:spLocks noGrp="1" noChangeArrowheads="1"/>
          </p:cNvSpPr>
          <p:nvPr>
            <p:ph type="title"/>
          </p:nvPr>
        </p:nvSpPr>
        <p:spPr/>
        <p:txBody>
          <a:bodyPr/>
          <a:lstStyle/>
          <a:p>
            <a:pPr eaLnBrk="1" hangingPunct="1"/>
            <a:r>
              <a:rPr lang="en-US" altLang="en-US" dirty="0"/>
              <a:t>Questions</a:t>
            </a:r>
          </a:p>
        </p:txBody>
      </p:sp>
      <p:pic>
        <p:nvPicPr>
          <p:cNvPr id="6" name="Picture 2" descr="C:\Documents and Settings\D\Desktop\patriotic\Signs\shutterstock_210276_questionmarks.jpg">
            <a:extLst>
              <a:ext uri="{FF2B5EF4-FFF2-40B4-BE49-F238E27FC236}">
                <a16:creationId xmlns:a16="http://schemas.microsoft.com/office/drawing/2014/main" id="{BAFBC870-1524-A242-BC5F-908841A8B1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417638"/>
            <a:ext cx="51816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BSA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SATheme" id="{296E9E99-AD2D-47C0-8DF6-D57DEF7B6F43}" vid="{C30D6226-65AF-44BB-9C30-08B5D829B5A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BSATheme</Template>
  <TotalTime>6594</TotalTime>
  <Words>828</Words>
  <Application>Microsoft Macintosh PowerPoint</Application>
  <PresentationFormat>On-screen Show (4:3)</PresentationFormat>
  <Paragraphs>153</Paragraphs>
  <Slides>21</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Times New Roman</vt:lpstr>
      <vt:lpstr>Wingdings</vt:lpstr>
      <vt:lpstr>BSATheme</vt:lpstr>
      <vt:lpstr>PowerPoint Presentation</vt:lpstr>
      <vt:lpstr>Purpose of Tonight’s Meeting</vt:lpstr>
      <vt:lpstr>Scouting’s Mission</vt:lpstr>
      <vt:lpstr>The Scout Oath</vt:lpstr>
      <vt:lpstr>The Scout Law</vt:lpstr>
      <vt:lpstr>The Outdoor Code</vt:lpstr>
      <vt:lpstr>Famous Scouts</vt:lpstr>
      <vt:lpstr>Pack 232’s Program for 2019-20</vt:lpstr>
      <vt:lpstr>Pack 232 Outings</vt:lpstr>
      <vt:lpstr>Pack 232 Gatherings</vt:lpstr>
      <vt:lpstr>Pack 232 Community Involvement</vt:lpstr>
      <vt:lpstr>Cub Scout Advancement Plan</vt:lpstr>
      <vt:lpstr>Cub Scout Rank Advancement</vt:lpstr>
      <vt:lpstr>Monthly Adventures Advancement</vt:lpstr>
      <vt:lpstr>Cub Scout Membership</vt:lpstr>
      <vt:lpstr>Annual Registration Fees</vt:lpstr>
      <vt:lpstr>Fundraising Requirement - Popcorn!</vt:lpstr>
      <vt:lpstr>Cub Scout Uniform</vt:lpstr>
      <vt:lpstr>Where to Get More Info</vt:lpstr>
      <vt:lpstr>BSA  Youth Application</vt:lpstr>
      <vt:lpstr>Questions</vt:lpstr>
    </vt:vector>
  </TitlesOfParts>
  <Company>Boy Scouts of America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kent</dc:creator>
  <cp:lastModifiedBy>Microsoft Office User</cp:lastModifiedBy>
  <cp:revision>150</cp:revision>
  <cp:lastPrinted>2018-09-01T01:09:21Z</cp:lastPrinted>
  <dcterms:created xsi:type="dcterms:W3CDTF">2006-09-15T00:23:28Z</dcterms:created>
  <dcterms:modified xsi:type="dcterms:W3CDTF">2019-08-17T13:59:30Z</dcterms:modified>
</cp:coreProperties>
</file>