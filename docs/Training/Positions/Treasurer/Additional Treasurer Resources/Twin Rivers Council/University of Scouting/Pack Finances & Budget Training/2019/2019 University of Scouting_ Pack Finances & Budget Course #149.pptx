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MVqwycjjTNtbEy1j04tAMFpPI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6" name="Google Shape;16;p1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175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7" name="Google Shape;17;p17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18" name="Google Shape;18;p17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9" name="Google Shape;19;p17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ckwell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0" name="Google Shape;20;p17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" name="Google Shape;21;p17"/>
          <p:cNvSpPr txBox="1"/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  <a:defRPr sz="9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" type="subTitle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7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38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4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None/>
              <a:defRPr sz="2000"/>
            </a:lvl9pPr>
          </a:lstStyle>
          <a:p/>
        </p:txBody>
      </p:sp>
      <p:sp>
        <p:nvSpPr>
          <p:cNvPr id="23" name="Google Shape;23;p17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2" type="sldNum"/>
          </p:nvPr>
        </p:nvSpPr>
        <p:spPr>
          <a:xfrm>
            <a:off x="9592733" y="4289334"/>
            <a:ext cx="11938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" type="body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 sz="1800"/>
            </a:lvl9pPr>
          </a:lstStyle>
          <a:p/>
        </p:txBody>
      </p:sp>
      <p:sp>
        <p:nvSpPr>
          <p:cNvPr id="35" name="Google Shape;35;p19"/>
          <p:cNvSpPr txBox="1"/>
          <p:nvPr>
            <p:ph idx="2" type="body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1" name="Google Shape;41;p20"/>
          <p:cNvSpPr txBox="1"/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  <a:defRPr b="0"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20"/>
          <p:cNvSpPr txBox="1"/>
          <p:nvPr>
            <p:ph idx="10" type="dt"/>
          </p:nvPr>
        </p:nvSpPr>
        <p:spPr>
          <a:xfrm>
            <a:off x="8593667" y="6272784"/>
            <a:ext cx="2644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1" type="ftr"/>
          </p:nvPr>
        </p:nvSpPr>
        <p:spPr>
          <a:xfrm>
            <a:off x="2182708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5" name="Google Shape;45;p20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46" name="Google Shape;46;p2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ckwell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7" name="Google Shape;47;p20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843702" y="2506133"/>
            <a:ext cx="1188298" cy="72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idx="1" type="body"/>
          </p:nvPr>
        </p:nvSpPr>
        <p:spPr>
          <a:xfrm>
            <a:off x="1066800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51" name="Google Shape;51;p21"/>
          <p:cNvSpPr txBox="1"/>
          <p:nvPr>
            <p:ph idx="2" type="body"/>
          </p:nvPr>
        </p:nvSpPr>
        <p:spPr>
          <a:xfrm>
            <a:off x="1069848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2" name="Google Shape;52;p21"/>
          <p:cNvSpPr txBox="1"/>
          <p:nvPr>
            <p:ph idx="3" type="body"/>
          </p:nvPr>
        </p:nvSpPr>
        <p:spPr>
          <a:xfrm>
            <a:off x="6364224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53" name="Google Shape;53;p21"/>
          <p:cNvSpPr txBox="1"/>
          <p:nvPr>
            <p:ph idx="4" type="body"/>
          </p:nvPr>
        </p:nvSpPr>
        <p:spPr>
          <a:xfrm>
            <a:off x="6364224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4" name="Google Shape;54;p21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21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22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4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9" name="Google Shape;69;p24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365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  <a:defRPr sz="2000"/>
            </a:lvl6pPr>
            <a:lvl7pPr indent="-3365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  <a:defRPr sz="2000"/>
            </a:lvl7pPr>
            <a:lvl8pPr indent="-3365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  <a:defRPr sz="2000"/>
            </a:lvl8pPr>
            <a:lvl9pPr indent="-33655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Char char="▪"/>
              <a:defRPr sz="2000"/>
            </a:lvl9pPr>
          </a:lstStyle>
          <a:p/>
        </p:txBody>
      </p:sp>
      <p:sp>
        <p:nvSpPr>
          <p:cNvPr id="71" name="Google Shape;71;p24"/>
          <p:cNvSpPr txBox="1"/>
          <p:nvPr>
            <p:ph idx="2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72" name="Google Shape;72;p24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4" name="Google Shape;74;p24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5" name="Google Shape;75;p24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ckwell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6" name="Google Shape;76;p24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80" name="Google Shape;80;p25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/>
          <p:nvPr>
            <p:ph idx="2" type="pic"/>
          </p:nvPr>
        </p:nvSpPr>
        <p:spPr>
          <a:xfrm>
            <a:off x="0" y="0"/>
            <a:ext cx="8303740" cy="68580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82" name="Google Shape;82;p25"/>
          <p:cNvSpPr txBox="1"/>
          <p:nvPr>
            <p:ph idx="1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83" name="Google Shape;83;p25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" name="Google Shape;84;p25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5" name="Google Shape;85;p25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ckwell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6" name="Google Shape;86;p25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25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6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6"/>
          <p:cNvSpPr txBox="1"/>
          <p:nvPr>
            <p:ph idx="1" type="body"/>
          </p:nvPr>
        </p:nvSpPr>
        <p:spPr>
          <a:xfrm rot="5400000">
            <a:off x="4073652" y="-882396"/>
            <a:ext cx="4050792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91" name="Google Shape;91;p26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6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6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7"/>
          <p:cNvSpPr txBox="1"/>
          <p:nvPr>
            <p:ph type="title"/>
          </p:nvPr>
        </p:nvSpPr>
        <p:spPr>
          <a:xfrm rot="5400000">
            <a:off x="7181850" y="2076450"/>
            <a:ext cx="56388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7"/>
          <p:cNvSpPr txBox="1"/>
          <p:nvPr>
            <p:ph idx="1" type="body"/>
          </p:nvPr>
        </p:nvSpPr>
        <p:spPr>
          <a:xfrm rot="5400000">
            <a:off x="2000250" y="-400050"/>
            <a:ext cx="5638800" cy="75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97" name="Google Shape;97;p27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7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7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  <a:defRPr b="0" i="0" sz="5400" u="none" cap="none" strike="noStrike"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25755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1496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496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496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496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496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4959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4959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grpSp>
        <p:nvGrpSpPr>
          <p:cNvPr id="10" name="Google Shape;10;p16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1" name="Google Shape;11;p16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ckwell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2" name="Google Shape;12;p16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16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</a:pPr>
            <a:r>
              <a:rPr lang="en-US" sz="8000"/>
              <a:t>PACK FINANCES &amp; BUDGET</a:t>
            </a:r>
            <a:br>
              <a:rPr lang="en-US" sz="8000"/>
            </a:br>
            <a:r>
              <a:rPr lang="en-US" sz="8000"/>
              <a:t>COURSE #149</a:t>
            </a:r>
            <a:endParaRPr/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en-US"/>
              <a:t>Twin Rivers Council University of Scouting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/>
              <a:t>March 16, 2019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/>
              <a:t>Period 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DISCLAIMER</a:t>
            </a:r>
            <a:endParaRPr/>
          </a:p>
        </p:txBody>
      </p:sp>
      <p:sp>
        <p:nvSpPr>
          <p:cNvPr id="111" name="Google Shape;111;p2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As they have on the screen before you watch most movies on DVDs and Blu-Rays…“The views expressed in these slides are solely those of the individual (i.e. me) providing them and do not represent or reflect the opinions of TRC, BSA, affiliates or employees”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MY FINANCE AND SCOUTING BACKGROUND</a:t>
            </a:r>
            <a:endParaRPr/>
          </a:p>
        </p:txBody>
      </p:sp>
      <p:sp>
        <p:nvSpPr>
          <p:cNvPr id="117" name="Google Shape;117;p3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I am an Eagle Scout and a father of one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Wood Badge (actually been to Gilwell when I was a scout)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Committee Chair of Troop 1075 from Delmar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Cubmaster / Wolf Den Leader of Pack 1232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But never a treasurer…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…however, I do have a MBA and I am an Executive Director at Morgan Stanley and their head of Public Finance Northeast Infrastructure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FINRA registered with Series 7, 53, 63 and 79 licenses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Financed over $20 billion of municipal securities</a:t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WHY ARE PACK FINANCES AND BUDGETING SO IMPORTANT?</a:t>
            </a:r>
            <a:endParaRPr/>
          </a:p>
        </p:txBody>
      </p:sp>
      <p:sp>
        <p:nvSpPr>
          <p:cNvPr id="123" name="Google Shape;123;p4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&gt;$5k can easily flow through a Pack’s account in one year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Be cognizant that the Pack and its assets are owned by the Charter Organization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Allows the Committee Chair and the Cubmaster to properly manage and operate the Pack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“A scout is thrifty” does not mean “A scout is stingy”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Not everyone follows the first tenant of the Scout Law…</a:t>
            </a:r>
            <a:endParaRPr/>
          </a:p>
        </p:txBody>
      </p:sp>
      <p:pic>
        <p:nvPicPr>
          <p:cNvPr id="124" name="Google Shape;1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26" y="4527379"/>
            <a:ext cx="11188700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026" y="5534111"/>
            <a:ext cx="107061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SELECTING AND TRAINING A PACK TREASURER</a:t>
            </a:r>
            <a:endParaRPr/>
          </a:p>
        </p:txBody>
      </p:sp>
      <p:sp>
        <p:nvSpPr>
          <p:cNvPr id="131" name="Google Shape;131;p5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Finance education/career is important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Know them…can you trust them?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Recruit them…do not necessarily take the first person to volunteer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The ideal candidate may not be the best candidate on paper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Ensure that there is a period of time for the current treasurer to train their successor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Having a Pack Treasurer “How To” Manual speeds up onboarding and helps recruit successors</a:t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GOALS FOR A PACK TREASURER</a:t>
            </a:r>
            <a:endParaRPr/>
          </a:p>
        </p:txBody>
      </p:sp>
      <p:sp>
        <p:nvSpPr>
          <p:cNvPr id="137" name="Google Shape;137;p6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What is the Cubmaster/Den Leaders trying to achieve in the Scout Year?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Big trip(s)?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Big purchase?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Send scouts to summer camp?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Help families in need?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Train the leaders?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Cashflow positive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Rainy Day fund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Setting realistic revenue projections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Identifying </a:t>
            </a:r>
            <a:r>
              <a:rPr b="1" lang="en-US" u="sng"/>
              <a:t>necessary</a:t>
            </a:r>
            <a:r>
              <a:rPr lang="en-US"/>
              <a:t> recurring and nonrecurring expenses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PACK FUNDS – BEST PRACTICES</a:t>
            </a:r>
            <a:endParaRPr/>
          </a:p>
        </p:txBody>
      </p:sp>
      <p:sp>
        <p:nvSpPr>
          <p:cNvPr id="143" name="Google Shape;143;p7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Have a Pack bank account: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Checking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Online payments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Debit card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Rainy day fund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Special purchase account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Two unrelated people on the bank account (Committee Chair &amp; Treasurer)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Not the Cubmaster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Annually audit the account by an independent/financially savvy Pack parent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You are also recruiting a future Pack Treasurer at the same time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Two adult sign off on cash deposits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Do not sign checks reimbursing yourself or your spouse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Control on expense reimbursements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Adults send receipts to Pack Treasurer and Committee Chair to reimburse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Acknowledgement is sent by treasurer to adult with a cc to committee chair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Do not net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CHALLENGES YOU MAY FACE</a:t>
            </a:r>
            <a:endParaRPr/>
          </a:p>
        </p:txBody>
      </p:sp>
      <p:sp>
        <p:nvSpPr>
          <p:cNvPr id="149" name="Google Shape;149;p8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getting people to pay fees/dues in a reasonable amount of time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large cash flow variations due to erratic timing of income and expenses (especially popcorn sales and rechartering fees)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keeping complete and up to date records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dealing with unforeseen circumstances (e.g. who is responsible for a bounced check fee?, do you reimburse someone who paid for but couldn’t come to an event?, how do you handle a budget mistake?)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PACK REVENUES</a:t>
            </a:r>
            <a:endParaRPr/>
          </a:p>
        </p:txBody>
      </p:sp>
      <p:sp>
        <p:nvSpPr>
          <p:cNvPr id="155" name="Google Shape;155;p9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Dues: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Discount for new members?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Collection timing versus recharter (by 1/31)?</a:t>
            </a:r>
            <a:endParaRPr/>
          </a:p>
          <a:p>
            <a:pPr indent="-182879" lvl="2" marL="7315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Per scout = $12 for Boys Life, $33 for registration, and $27 for program/insurance</a:t>
            </a:r>
            <a:endParaRPr/>
          </a:p>
          <a:p>
            <a:pPr indent="-182879" lvl="2" marL="7315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Per unit = $40 for unit liability insurance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When setting dues keep in mind that other organized activities have high registration fees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Fundraising: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Popcorn and/or nuts: show&amp;sells, door-to-door, and online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Other (see unit money earning application)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Activity Fees (e.g. camping, camporee, trip, etc.):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Don’t give away anything for free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Enforce collection on last minute drop outs if no replacement can be found for them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Grants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Free money! You get dollar for dollar versus a % of popcorn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Donations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COLLECTION OPTIONS</a:t>
            </a:r>
            <a:endParaRPr/>
          </a:p>
        </p:txBody>
      </p:sp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Cash – 2 adult confirmation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Checks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Paypal – see if Pack website allows Paypal features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Consider passing on the ~3% usage charge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Square – helps with popcorn sales and other fundraising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For Pack items, consider passing on the 2.75% usage charge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PACK EXPENSES</a:t>
            </a:r>
            <a:endParaRPr/>
          </a:p>
        </p:txBody>
      </p:sp>
      <p:sp>
        <p:nvSpPr>
          <p:cNvPr id="167" name="Google Shape;167;p11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Recharter (by 1/31)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Badges, belt loops, and pins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Recurring versus nonrecurring (e.g. software license) expenses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Setasides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Future pinewood derby track purchase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Subsidy to send scouts to summer camp</a:t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Seek to minimize Pack Expenses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Sales tax exemption (ST-119.1)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Minimize gear purchases (borrow from a Scouts BSA troop)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Reuse uniforms, neckerchiefs, caps, belts, and leader materials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BUDGET COMPOSITION</a:t>
            </a:r>
            <a:endParaRPr/>
          </a:p>
        </p:txBody>
      </p:sp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Membership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Recharter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Class B Shirts?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Boys Life?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Name Tags?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Scout Manuals?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Uniforms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Recruitment event(s)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Fundraising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Samples?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Signs?</a:t>
            </a:r>
            <a:endParaRPr/>
          </a:p>
        </p:txBody>
      </p:sp>
      <p:sp>
        <p:nvSpPr>
          <p:cNvPr id="174" name="Google Shape;174;p12"/>
          <p:cNvSpPr txBox="1"/>
          <p:nvPr>
            <p:ph idx="2" type="body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Equipment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Pack meeting game items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Leader manuals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Treasurer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Stamps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Supplies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Activities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Each outing/activity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Pack meeting supplies/snacks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Meeting space rental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Support for den meetings/outings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BUDGET COMPOSITION, CONTINUED</a:t>
            </a:r>
            <a:endParaRPr/>
          </a:p>
        </p:txBody>
      </p:sp>
      <p:sp>
        <p:nvSpPr>
          <p:cNvPr id="180" name="Google Shape;180;p13"/>
          <p:cNvSpPr txBox="1"/>
          <p:nvPr>
            <p:ph idx="1" type="body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Advancement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Badges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Belt loops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Webelos / AOL pins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AOL crossover gift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Summer Camp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Subsidy?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Extra adult leader fees for resident camp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Internet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Pack website fee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Advancement software license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Facebook boosts</a:t>
            </a:r>
            <a:endParaRPr/>
          </a:p>
        </p:txBody>
      </p:sp>
      <p:sp>
        <p:nvSpPr>
          <p:cNvPr id="181" name="Google Shape;181;p13"/>
          <p:cNvSpPr txBox="1"/>
          <p:nvPr>
            <p:ph idx="2" type="body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Training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University of Scouting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Committee Training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Den Leader Training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Cubmaster Training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BALOO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Wood Badge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Miscellaneous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Committee Meeting expenses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BUDGET REPORTING – MONTHLY/BIMONTHLY</a:t>
            </a:r>
            <a:endParaRPr/>
          </a:p>
        </p:txBody>
      </p:sp>
      <p:sp>
        <p:nvSpPr>
          <p:cNvPr id="187" name="Google Shape;187;p14"/>
          <p:cNvSpPr txBox="1"/>
          <p:nvPr>
            <p:ph idx="1" type="body"/>
          </p:nvPr>
        </p:nvSpPr>
        <p:spPr>
          <a:xfrm>
            <a:off x="1069848" y="2963917"/>
            <a:ext cx="4754880" cy="3208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Budget Category (compare actual expenses versus budget)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Membership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Fundraising Expenses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Equipment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Treasurer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Activities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Advancement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Summer Camp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Internet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Training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Miscellaneous</a:t>
            </a:r>
            <a:endParaRPr/>
          </a:p>
          <a:p>
            <a:pPr indent="-93011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</p:txBody>
      </p:sp>
      <p:sp>
        <p:nvSpPr>
          <p:cNvPr id="188" name="Google Shape;188;p14"/>
          <p:cNvSpPr txBox="1"/>
          <p:nvPr>
            <p:ph idx="2" type="body"/>
          </p:nvPr>
        </p:nvSpPr>
        <p:spPr>
          <a:xfrm>
            <a:off x="6364224" y="2963916"/>
            <a:ext cx="4754880" cy="3208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Balance Sheet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Checking Account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Rainy Day Fund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Special Fund(s)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Revenues (compare actual revenues versus budget)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Dues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Boys Life subscription fees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Activity Fees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Fundraising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Grants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Donations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1069848" y="2249214"/>
            <a:ext cx="100584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Set and approve the Budget before the Scout Year starts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Total Expenses need to equal Total Revenues!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USEFUL FORMS AND REFERENCES</a:t>
            </a:r>
            <a:endParaRPr/>
          </a:p>
        </p:txBody>
      </p:sp>
      <p:sp>
        <p:nvSpPr>
          <p:cNvPr id="195" name="Google Shape;195;p15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Planning Your Annual Budget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Popcorn Show &amp; Sell Sheet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Unit Money Earning Application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NY ST-119.1 Form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Tax Donation Form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2019-03-10T18:52:41Z</dcterms:created>
  <dc:creator>Microsoft Office User</dc:creator>
</cp:coreProperties>
</file>